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Utama</c:v>
                </c:pt>
              </c:strCache>
            </c:strRef>
          </c:tx>
          <c:spPr>
            <a:solidFill>
              <a:srgbClr val="0B1F3A"/>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Jan</c:v>
                  </c:pt>
                  <c:pt idx="1">
                    <c:v>Feb</c:v>
                  </c:pt>
                  <c:pt idx="2">
                    <c:v>Mac</c:v>
                  </c:pt>
                  <c:pt idx="3">
                    <c:v>Apr</c:v>
                  </c:pt>
                  <c:pt idx="4">
                    <c:v>Mei</c:v>
                  </c:pt>
                  <c:pt idx="5">
                    <c:v>Jun</c:v>
                  </c:pt>
                  <c:pt idx="6">
                    <c:v>Jul</c:v>
                  </c:pt>
                  <c:pt idx="7">
                    <c:v>Ogo</c:v>
                  </c:pt>
                  <c:pt idx="8">
                    <c:v>Sep</c:v>
                  </c:pt>
                </c:lvl>
              </c:multiLvlStrCache>
            </c:multiLvlStrRef>
          </c:cat>
          <c:val>
            <c:numRef>
              <c:f>Sheet1!$B$2:$B$10</c:f>
              <c:numCache>
                <c:formatCode>General</c:formatCode>
                <c:ptCount val="9"/>
                <c:pt idx="0">
                  <c:v>135</c:v>
                </c:pt>
                <c:pt idx="1">
                  <c:v>0</c:v>
                </c:pt>
                <c:pt idx="2">
                  <c:v>0</c:v>
                </c:pt>
                <c:pt idx="3">
                  <c:v>0</c:v>
                </c:pt>
                <c:pt idx="4">
                  <c:v>0</c:v>
                </c:pt>
                <c:pt idx="5">
                  <c:v>0</c:v>
                </c:pt>
                <c:pt idx="6">
                  <c:v>0</c:v>
                </c:pt>
                <c:pt idx="7">
                  <c:v>0</c:v>
                </c:pt>
                <c:pt idx="8">
                  <c:v>71</c:v>
                </c:pt>
              </c:numCache>
            </c:numRef>
          </c:val>
        </c:ser>
        <c:ser>
          <c:idx val="1"/>
          <c:order val="1"/>
          <c:tx>
            <c:strRef>
              <c:f>Sheet1!$C$1</c:f>
              <c:strCache>
                <c:ptCount val="1"/>
                <c:pt idx="0">
                  <c:v>Terendah</c:v>
                </c:pt>
              </c:strCache>
            </c:strRef>
          </c:tx>
          <c:spPr>
            <a:solidFill>
              <a:srgbClr val="C8742B"/>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Jan</c:v>
                  </c:pt>
                  <c:pt idx="1">
                    <c:v>Feb</c:v>
                  </c:pt>
                  <c:pt idx="2">
                    <c:v>Mac</c:v>
                  </c:pt>
                  <c:pt idx="3">
                    <c:v>Apr</c:v>
                  </c:pt>
                  <c:pt idx="4">
                    <c:v>Mei</c:v>
                  </c:pt>
                  <c:pt idx="5">
                    <c:v>Jun</c:v>
                  </c:pt>
                  <c:pt idx="6">
                    <c:v>Jul</c:v>
                  </c:pt>
                  <c:pt idx="7">
                    <c:v>Ogo</c:v>
                  </c:pt>
                  <c:pt idx="8">
                    <c:v>Sep</c:v>
                  </c:pt>
                </c:lvl>
              </c:multiLvlStrCache>
            </c:multiLvlStrRef>
          </c:cat>
          <c:val>
            <c:numRef>
              <c:f>Sheet1!$C$2:$C$10</c:f>
              <c:numCache>
                <c:formatCode>General</c:formatCode>
                <c:ptCount val="9"/>
                <c:pt idx="0">
                  <c:v>0</c:v>
                </c:pt>
                <c:pt idx="1">
                  <c:v>0</c:v>
                </c:pt>
                <c:pt idx="2">
                  <c:v>0</c:v>
                </c:pt>
                <c:pt idx="3">
                  <c:v>0</c:v>
                </c:pt>
                <c:pt idx="4">
                  <c:v>0</c:v>
                </c:pt>
                <c:pt idx="5">
                  <c:v>0</c:v>
                </c:pt>
                <c:pt idx="6">
                  <c:v>0</c:v>
                </c:pt>
                <c:pt idx="7">
                  <c:v>54</c:v>
                </c:pt>
                <c:pt idx="8">
                  <c:v>0</c:v>
                </c:pt>
              </c:numCache>
            </c:numRef>
          </c:val>
        </c:ser>
        <c:ser>
          <c:idx val="2"/>
          <c:order val="2"/>
          <c:tx>
            <c:strRef>
              <c:f>Sheet1!$D$1</c:f>
              <c:strCache>
                <c:ptCount val="1"/>
                <c:pt idx="0">
                  <c:v>Lain</c:v>
                </c:pt>
              </c:strCache>
            </c:strRef>
          </c:tx>
          <c:spPr>
            <a:solidFill>
              <a:srgbClr val="C3CDD9"/>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Jan</c:v>
                  </c:pt>
                  <c:pt idx="1">
                    <c:v>Feb</c:v>
                  </c:pt>
                  <c:pt idx="2">
                    <c:v>Mac</c:v>
                  </c:pt>
                  <c:pt idx="3">
                    <c:v>Apr</c:v>
                  </c:pt>
                  <c:pt idx="4">
                    <c:v>Mei</c:v>
                  </c:pt>
                  <c:pt idx="5">
                    <c:v>Jun</c:v>
                  </c:pt>
                  <c:pt idx="6">
                    <c:v>Jul</c:v>
                  </c:pt>
                  <c:pt idx="7">
                    <c:v>Ogo</c:v>
                  </c:pt>
                  <c:pt idx="8">
                    <c:v>Sep</c:v>
                  </c:pt>
                </c:lvl>
              </c:multiLvlStrCache>
            </c:multiLvlStrRef>
          </c:cat>
          <c:val>
            <c:numRef>
              <c:f>Sheet1!$D$2:$D$10</c:f>
              <c:numCache>
                <c:formatCode>General</c:formatCode>
                <c:ptCount val="9"/>
                <c:pt idx="0">
                  <c:v>0</c:v>
                </c:pt>
                <c:pt idx="1">
                  <c:v>104</c:v>
                </c:pt>
                <c:pt idx="2">
                  <c:v>57</c:v>
                </c:pt>
                <c:pt idx="3">
                  <c:v>103</c:v>
                </c:pt>
                <c:pt idx="4">
                  <c:v>106</c:v>
                </c:pt>
                <c:pt idx="5">
                  <c:v>101</c:v>
                </c:pt>
                <c:pt idx="6">
                  <c:v>77</c:v>
                </c:pt>
                <c:pt idx="7">
                  <c:v>0</c:v>
                </c:pt>
                <c:pt idx="8">
                  <c:v>0</c:v>
                </c:pt>
              </c:numCache>
            </c:numRef>
          </c:val>
        </c:ser>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150"/>
          <c:min val="0"/>
        </c:scaling>
        <c:delete val="1"/>
        <c:axPos val="l"/>
        <c:majorGridlines>
          <c:spPr>
            <a:ln w="6350" cap="flat">
              <a:solidFill>
                <a:srgbClr val="E6EB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Hari ni kita tengok di mana kita sekarang, cara jualan yang kita semua akan guna mulai minggu ni, dan pelan TikTok untuk bawa lebih banyak lead. Mesyuarat ni bukan untuk salahkan sesiapa. Ia untuk kita semua guna cara yang sama dan yang terbukti berkesan.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jumlah jualan seluruh team setiap bulan. Januari kita capai 135. Lepas tu stabil sekitar 100 dari April ke Jun, kemudian jatuh ke 54 pada Ogos. September dah naik semula ke 71, jadi kita dah mula bergerak ke arah yang betul. Matlamat kita: kembali ke paras 100 ke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Isyarat pertama: pakej 500Mbps hampir tiada lagi. Bukan sebab customer tak perlukan, tapi cara kita cadang pakej mungkin buat ramai terus pilih 100Mbps. Isyarat kedua: Facebook dah tak bawa jualan. TikTok satu-satunya channel digital yang masih jalan, jadi kita akan fokus di situ. Poster pun jelas bawa lead, tapi kita belum pernah rekod berapa banyak.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perkara ni yang kita kejar. Lead datang dari TikTok, poster dan referral. Closing yang konsisten datang dari kita semua guna cara yang sama. Pakej yang tepat datang dari tanya cara customer guna internet, bukan kira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chat sebenar salah seorang dari kita. Customer nampak poster, WhatsApp pukul 9.52 malam, dan dalam masa kurang sejam pendaftaran dah diproses. Esoknya dah pasang. Perhatikan apa yang customer puji: reply laju. Itu kekuatan terbesar kita, dan semua orang boleh 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lupa semua yang lain, ingat lima ni. Nombor lima penting: bila customer cakap offer ni tak free sebenarnya, jangan setuju atau gelak sekali. Terangkan dengan tenang. Kalau kita sendiri rendahkan offer, customer pun hilang yakin.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aliran penuh dari customer mula WhatsApp sampai mereka jadi sumber referral. Langkah 1 hingga 7 kebanyakan kita dah buat. Yang baru atau sering terlepas: langkah 4, beritahu semua kos awal; langkah 8 dan 9, follow up selepas pasang; dan langkah 10, minta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sekarang, perkara pertama yang kita minta ialah alamat. Dalam satu chat yang kita kaji, customer tanya pasal coverage tiga kali sebelum ia disemak. Bila coverage disahkan, customer terus hantar dokumen. Semak dulu, jawapan lain datang kemudian.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perkara wajib disebut sebelum daftar: harga belum termasuk SST 6%, dan ada bayaran upfront RM100 selepas pemasangan yang akan ditolak dari bil. Tempoh bayaran RM100 akan disahkan. Customer yang tahu awal jarang rasa tertipu.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Mesej kiri dihantar sebelum customer daftar, supaya tiada kejutan. Mesej kanan ialah soalan closing: kita tanya bila, bukan nak tak. Isi [X] dengan tempoh bayaran RM100 yang disahkan.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 dulu: berapa orang dalam rumah, ada yang kerja dari rumah, berapa skrin streaming serentak, ada gaming atau CCTV. Kemudian cadang. Selalu tawarkan satu tingkat di atas sebagai pilihan, tapi jangan paksa. Rumah dua orang yang guna ringan, 100Mbps memang betul.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dua perkara: kita beri sebab yang berkait dengan cara customer guna internet, dan kita tukar beza harga kepada kos sehari supaya nampak kecil. Akhir sekali, biar customer pilih. Jangan paksa.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empat yang paling kerap. Jawapan penuh untuk lapan bantahan ada dalam Playbook. Untuk nak fikir dulu, tujuan kita bukan pujuk, tapi cari kerisauan sebenar. Untuk provider lain, jangan kutuk mereka. Simpan tarikh kontrak tamat dan WhatsApp semula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Kebanyakan customer yang senyap bukan tak berminat, cuma sibuk. Tiga mesej: hari 1, 3 dan 7. Lepas hari 7, berhenti dan rekod sebagai senyap. Untuk order tersangkut, customer dah setuju beli. Update setiap minggu supaya mereka tak rasa dilupakan dan tak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Mesej pertama dihantar hari yang sama pemasangan siap, tanpa tunggu customer tanya. Dalam contoh chat tadi, customer terpaksa tanya sendiri cara bayar RM100 tiga hari selepas pasang. Mesej kedua semak keadaan customer, dan biasanya inilah masa customer cakap mereka puas hati, iaitu masa terbaik untuk minta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dalam contoh tadi tinggal di pangsapuri, dengan ramai jiran yang mungkin internet slow juga. Dia puji servis kita, tapi kita tak minta referral. Mulai sekarang, setiap customer yang puas hati kita minta satu perkara: share nombor kita dengan jiran atau kawan. Skripnya ada dalam Playbook, langkah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Hantar bila customer tunjuk mereka gembira, contohnya selepas mereka puji servis. Jangan janji apa-apa ganjaran referral yang belum disahkan oleh pengurus.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TikTok ialah satu-satunya channel digital yang masih bawa jualan. Kita akan siarkan 5 video seminggu selama 4 minggu, setiap minggu satu tema. Semua video tutup dengan CTA yang sama. Selepas 4 minggu, kita teruskan jenis video yang bawa paling banyak WhatsApp, bukan yang paling banyak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TikTok bukan kerja seorang. Pertama, tanya setiap customer dari mana mereka jumpa kita, tapi tanya di hujung chat selepas daftar, bila customer dah selesa. Kalau tanya di awal, ia rasa macam borang. Rekod jawapan dalam kolum Sumber, supaya kita tahu platform mana yang betul-betul bawa jualan. Kedua, balas komen pada hari yang sama. Ketiga, sudi muncul dalam video, walaupun 3 saat untuk perkenalkan 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cuma rekod jualan yang dah close. Mulai minggu ni, kita rekod setiap lead yang masuk, termasuk yang tak jadi. Paling penting kolum sumber dan sebab tak jadi. Isi sebelum habis kerja setiap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September kita dapat 71. Oktober kita sasarkan 100, iaitu paras yang kita pernah capai April hingga Jun. Ini bukan nombor mustahil, kita pernah buat. Pecahkan: 25 seminggu untuk team, lebih kurang 17 setiap orang untuk sebulan. Kalau setiap orang tambah satu closing seminggu dari referral dan follow-up lead lama, kita dah hampir sampai.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minggu ada satu cabaran dengan pemenang sendiri. Ganjaran ditentukan oleh pengurus. Cabaran ni sengaja dipilih untuk tolak perkara yang paling terlepas: referral, upsell, dan lead lama yang senyap. Minggu terakhir semua orang kejar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Momentum datang dari rutin, bukan semangat sekali-sekala. Huddle pagi 10 minit, satu jam follow-up setiap malam, kongsi kemenangan dalam group, dan poster blitz hujung minggu di kawasan baru. Pastikan screenshot yang dikongsi dalam group ditutup maklumat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perkara ni bermula minggu ni. Kita akan semak semula nombor dalam 4 minggu: berapa enquiry masuk, berapa yang daftar, campuran pakej, dan sumber mana yang paling berkesan.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semangat: kita pernah capai 100, kita boleh buat lagi. Buka sesi soalan, kemudian kongsi Playbook Jualan dan Pelan TikTok dalam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463040"/>
            <a:ext cx="6949440" cy="6949440"/>
          </a:xfrm>
          <a:prstGeom prst="ellipse">
            <a:avLst/>
          </a:prstGeom>
          <a:solidFill>
            <a:srgbClr val="17325A"/>
          </a:solidFill>
          <a:ln w="12700">
            <a:solidFill>
              <a:srgbClr val="17325A"/>
            </a:solidFill>
            <a:prstDash val="solid"/>
          </a:ln>
        </p:spPr>
      </p:sp>
      <p:sp>
        <p:nvSpPr>
          <p:cNvPr id="3" name="Shape 1"/>
          <p:cNvSpPr/>
          <p:nvPr/>
        </p:nvSpPr>
        <p:spPr>
          <a:xfrm>
            <a:off x="8778240" y="-274320"/>
            <a:ext cx="4572000" cy="4572000"/>
          </a:xfrm>
          <a:prstGeom prst="ellipse">
            <a:avLst/>
          </a:prstGeom>
          <a:solidFill>
            <a:srgbClr val="0B1F3A"/>
          </a:solidFill>
          <a:ln w="12700">
            <a:solidFill>
              <a:srgbClr val="23436F"/>
            </a:solidFill>
            <a:prstDash val="solid"/>
          </a:ln>
        </p:spPr>
      </p:sp>
      <p:sp>
        <p:nvSpPr>
          <p:cNvPr id="4" name="Shape 2"/>
          <p:cNvSpPr/>
          <p:nvPr/>
        </p:nvSpPr>
        <p:spPr>
          <a:xfrm>
            <a:off x="5852160" y="4206240"/>
            <a:ext cx="3840480" cy="3840480"/>
          </a:xfrm>
          <a:prstGeom prst="ellipse">
            <a:avLst/>
          </a:prstGeom>
          <a:solidFill>
            <a:srgbClr val="0B1F3A">
              <a:alpha val="0"/>
            </a:srgbClr>
          </a:solidFill>
          <a:ln w="12700">
            <a:solidFill>
              <a:srgbClr val="23436F"/>
            </a:solidFill>
            <a:prstDash val="solid"/>
          </a:ln>
        </p:spPr>
      </p:sp>
      <p:sp>
        <p:nvSpPr>
          <p:cNvPr id="5" name="Shape 3"/>
          <p:cNvSpPr/>
          <p:nvPr/>
        </p:nvSpPr>
        <p:spPr>
          <a:xfrm>
            <a:off x="548640" y="548640"/>
            <a:ext cx="685800" cy="365760"/>
          </a:xfrm>
          <a:prstGeom prst="roundRect">
            <a:avLst>
              <a:gd name="adj" fmla="val 12500"/>
            </a:avLst>
          </a:prstGeom>
          <a:solidFill>
            <a:srgbClr val="C8742B"/>
          </a:solidFill>
          <a:ln w="12700">
            <a:solidFill>
              <a:srgbClr val="C8742B"/>
            </a:solidFill>
            <a:prstDash val="solid"/>
          </a:ln>
        </p:spPr>
      </p:sp>
      <p:sp>
        <p:nvSpPr>
          <p:cNvPr id="6" name="Text 4"/>
          <p:cNvSpPr txBox="1"/>
          <p:nvPr/>
        </p:nvSpPr>
        <p:spPr>
          <a:xfrm>
            <a:off x="548640" y="548640"/>
            <a:ext cx="6858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HFS</a:t>
            </a:r>
            <a:endParaRPr lang="en-US" sz="1400" dirty="0"/>
          </a:p>
        </p:txBody>
      </p:sp>
      <p:sp>
        <p:nvSpPr>
          <p:cNvPr id="7" name="Text 5"/>
          <p:cNvSpPr txBox="1"/>
          <p:nvPr/>
        </p:nvSpPr>
        <p:spPr>
          <a:xfrm>
            <a:off x="1417320" y="548640"/>
            <a:ext cx="4572000" cy="365760"/>
          </a:xfrm>
          <a:prstGeom prst="rect">
            <a:avLst/>
          </a:prstGeom>
          <a:noFill/>
          <a:ln/>
        </p:spPr>
        <p:txBody>
          <a:bodyPr wrap="square" lIns="0" tIns="0" rIns="0" bIns="0" rtlCol="0" anchor="ctr"/>
          <a:lstStyle/>
          <a:p>
            <a:pPr indent="0" marL="0">
              <a:buNone/>
            </a:pPr>
            <a:r>
              <a:rPr lang="en-US" sz="1200" dirty="0">
                <a:solidFill>
                  <a:srgbClr val="C3CEDD"/>
                </a:solidFill>
                <a:latin typeface="Calibri" pitchFamily="34" charset="0"/>
                <a:ea typeface="Calibri" pitchFamily="34" charset="-122"/>
                <a:cs typeface="Calibri" pitchFamily="34" charset="-120"/>
              </a:rPr>
              <a:t>Strategi Jualan Unifi  ·  Q4 2026</a:t>
            </a:r>
            <a:endParaRPr lang="en-US" sz="1200" dirty="0"/>
          </a:p>
        </p:txBody>
      </p:sp>
      <p:sp>
        <p:nvSpPr>
          <p:cNvPr id="8" name="Text 6"/>
          <p:cNvSpPr txBox="1"/>
          <p:nvPr/>
        </p:nvSpPr>
        <p:spPr>
          <a:xfrm>
            <a:off x="548640" y="1874520"/>
            <a:ext cx="7315200" cy="274320"/>
          </a:xfrm>
          <a:prstGeom prst="rect">
            <a:avLst/>
          </a:prstGeom>
          <a:noFill/>
          <a:ln/>
        </p:spPr>
        <p:txBody>
          <a:bodyPr wrap="square" lIns="0" tIns="0" rIns="0" bIns="0" rtlCol="0" anchor="t"/>
          <a:lstStyle/>
          <a:p>
            <a:pPr indent="0" marL="0">
              <a:buNone/>
            </a:pPr>
            <a:r>
              <a:rPr lang="en-US" sz="1200" b="1" spc="300" kern="0" dirty="0">
                <a:solidFill>
                  <a:srgbClr val="C8742B"/>
                </a:solidFill>
                <a:latin typeface="Calibri" pitchFamily="34" charset="0"/>
                <a:ea typeface="Calibri" pitchFamily="34" charset="-122"/>
                <a:cs typeface="Calibri" pitchFamily="34" charset="-120"/>
              </a:rPr>
              <a:t>MISI OKTOBER 2026  ·  SASARAN 100 PEMASANGAN</a:t>
            </a:r>
            <a:endParaRPr lang="en-US" sz="1200" dirty="0"/>
          </a:p>
        </p:txBody>
      </p:sp>
      <p:sp>
        <p:nvSpPr>
          <p:cNvPr id="9" name="Text 7"/>
          <p:cNvSpPr txBox="1"/>
          <p:nvPr/>
        </p:nvSpPr>
        <p:spPr>
          <a:xfrm>
            <a:off x="548640" y="2240280"/>
            <a:ext cx="7863840" cy="1737360"/>
          </a:xfrm>
          <a:prstGeom prst="rect">
            <a:avLst/>
          </a:prstGeom>
          <a:noFill/>
          <a:ln/>
        </p:spPr>
        <p:txBody>
          <a:bodyPr wrap="square" lIns="0" tIns="0" rIns="0" bIns="0" rtlCol="0" anchor="t"/>
          <a:lstStyle/>
          <a:p>
            <a:pPr indent="0" marL="0">
              <a:lnSpc>
                <a:spcPct val="95000"/>
              </a:lnSpc>
              <a:buNone/>
            </a:pPr>
            <a:r>
              <a:rPr lang="en-US" sz="5400" b="1" dirty="0">
                <a:solidFill>
                  <a:srgbClr val="FFFFFF"/>
                </a:solidFill>
                <a:latin typeface="Calibri" pitchFamily="34" charset="0"/>
                <a:ea typeface="Calibri" pitchFamily="34" charset="-122"/>
                <a:cs typeface="Calibri" pitchFamily="34" charset="-120"/>
              </a:rPr>
              <a:t>Jom naikkan semula</a:t>
            </a:r>
            <a:endParaRPr lang="en-US" sz="5400" dirty="0"/>
          </a:p>
          <a:p>
            <a:pPr indent="0" marL="0">
              <a:lnSpc>
                <a:spcPct val="95000"/>
              </a:lnSpc>
              <a:buNone/>
            </a:pPr>
            <a:r>
              <a:rPr lang="en-US" sz="5400" b="1" dirty="0">
                <a:solidFill>
                  <a:srgbClr val="FFFFFF"/>
                </a:solidFill>
                <a:latin typeface="Calibri" pitchFamily="34" charset="0"/>
                <a:ea typeface="Calibri" pitchFamily="34" charset="-122"/>
                <a:cs typeface="Calibri" pitchFamily="34" charset="-120"/>
              </a:rPr>
              <a:t>jualan Unifi</a:t>
            </a:r>
            <a:endParaRPr lang="en-US" sz="5400" dirty="0"/>
          </a:p>
        </p:txBody>
      </p:sp>
      <p:sp>
        <p:nvSpPr>
          <p:cNvPr id="10" name="Text 8"/>
          <p:cNvSpPr txBox="1"/>
          <p:nvPr/>
        </p:nvSpPr>
        <p:spPr>
          <a:xfrm>
            <a:off x="548640" y="4114800"/>
            <a:ext cx="6400800" cy="731520"/>
          </a:xfrm>
          <a:prstGeom prst="rect">
            <a:avLst/>
          </a:prstGeom>
          <a:noFill/>
          <a:ln/>
        </p:spPr>
        <p:txBody>
          <a:bodyPr wrap="square" lIns="0" tIns="0" rIns="0" bIns="0" rtlCol="0" anchor="t"/>
          <a:lstStyle/>
          <a:p>
            <a:pPr indent="0" marL="0">
              <a:buNone/>
            </a:pPr>
            <a:r>
              <a:rPr lang="en-US" sz="1800" dirty="0">
                <a:solidFill>
                  <a:srgbClr val="C3CEDD"/>
                </a:solidFill>
                <a:latin typeface="Calibri" pitchFamily="34" charset="0"/>
                <a:ea typeface="Calibri" pitchFamily="34" charset="-122"/>
                <a:cs typeface="Calibri" pitchFamily="34" charset="-120"/>
              </a:rPr>
              <a:t>Playbook jualan baru, pelan TikTok, dan apa yang kita semua buat mulai minggu ini.</a:t>
            </a:r>
            <a:endParaRPr lang="en-US" sz="1800" dirty="0"/>
          </a:p>
        </p:txBody>
      </p:sp>
      <p:sp>
        <p:nvSpPr>
          <p:cNvPr id="11" name="Shape 9"/>
          <p:cNvSpPr/>
          <p:nvPr/>
        </p:nvSpPr>
        <p:spPr>
          <a:xfrm>
            <a:off x="8732520" y="1600200"/>
            <a:ext cx="2926080" cy="2651760"/>
          </a:xfrm>
          <a:prstGeom prst="roundRect">
            <a:avLst>
              <a:gd name="adj" fmla="val 3448"/>
            </a:avLst>
          </a:prstGeom>
          <a:solidFill>
            <a:srgbClr val="0B1F3A"/>
          </a:solidFill>
          <a:ln w="12700">
            <a:solidFill>
              <a:srgbClr val="23436F"/>
            </a:solidFill>
            <a:prstDash val="solid"/>
          </a:ln>
        </p:spPr>
      </p:sp>
      <p:sp>
        <p:nvSpPr>
          <p:cNvPr id="12" name="Text 10"/>
          <p:cNvSpPr txBox="1"/>
          <p:nvPr/>
        </p:nvSpPr>
        <p:spPr>
          <a:xfrm>
            <a:off x="9006840" y="1828800"/>
            <a:ext cx="246888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SASARAN OKTOBER</a:t>
            </a:r>
            <a:endParaRPr lang="en-US" sz="1100" dirty="0"/>
          </a:p>
        </p:txBody>
      </p:sp>
      <p:sp>
        <p:nvSpPr>
          <p:cNvPr id="13" name="Text 11"/>
          <p:cNvSpPr txBox="1"/>
          <p:nvPr/>
        </p:nvSpPr>
        <p:spPr>
          <a:xfrm>
            <a:off x="9006840" y="2103120"/>
            <a:ext cx="2468880" cy="118872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100</a:t>
            </a:r>
            <a:endParaRPr lang="en-US" sz="8000" dirty="0"/>
          </a:p>
        </p:txBody>
      </p:sp>
      <p:sp>
        <p:nvSpPr>
          <p:cNvPr id="14" name="Text 12"/>
          <p:cNvSpPr txBox="1"/>
          <p:nvPr/>
        </p:nvSpPr>
        <p:spPr>
          <a:xfrm>
            <a:off x="9006840" y="3337560"/>
            <a:ext cx="2468880" cy="320040"/>
          </a:xfrm>
          <a:prstGeom prst="rect">
            <a:avLst/>
          </a:prstGeom>
          <a:noFill/>
          <a:ln/>
        </p:spPr>
        <p:txBody>
          <a:bodyPr wrap="square" lIns="0" tIns="0" rIns="0" bIns="0" rtlCol="0" anchor="t"/>
          <a:lstStyle/>
          <a:p>
            <a:pPr indent="0" marL="0">
              <a:buNone/>
            </a:pPr>
            <a:r>
              <a:rPr lang="en-US" sz="1500" dirty="0">
                <a:solidFill>
                  <a:srgbClr val="C3CEDD"/>
                </a:solidFill>
                <a:latin typeface="Calibri" pitchFamily="34" charset="0"/>
                <a:ea typeface="Calibri" pitchFamily="34" charset="-122"/>
                <a:cs typeface="Calibri" pitchFamily="34" charset="-120"/>
              </a:rPr>
              <a:t>pemasangan baru</a:t>
            </a:r>
            <a:endParaRPr lang="en-US" sz="1500" dirty="0"/>
          </a:p>
        </p:txBody>
      </p:sp>
      <p:sp>
        <p:nvSpPr>
          <p:cNvPr id="15" name="Text 13"/>
          <p:cNvSpPr txBox="1"/>
          <p:nvPr/>
        </p:nvSpPr>
        <p:spPr>
          <a:xfrm>
            <a:off x="9006840" y="3657600"/>
            <a:ext cx="2468880" cy="3200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71</a:t>
            </a:r>
            <a:pPr indent="0" marL="0">
              <a:buNone/>
            </a:pPr>
            <a:r>
              <a:rPr lang="en-US" sz="1200" dirty="0">
                <a:solidFill>
                  <a:srgbClr val="C3CEDD"/>
                </a:solidFill>
                <a:latin typeface="Calibri" pitchFamily="34" charset="0"/>
                <a:ea typeface="Calibri" pitchFamily="34" charset="-122"/>
                <a:cs typeface="Calibri" pitchFamily="34" charset="-120"/>
              </a:rPr>
              <a:t> pada September</a:t>
            </a:r>
            <a:endParaRPr lang="en-US" sz="1200" dirty="0"/>
          </a:p>
        </p:txBody>
      </p:sp>
      <p:sp>
        <p:nvSpPr>
          <p:cNvPr id="16" name="Text 14"/>
          <p:cNvSpPr txBox="1"/>
          <p:nvPr/>
        </p:nvSpPr>
        <p:spPr>
          <a:xfrm>
            <a:off x="548640" y="5349240"/>
            <a:ext cx="548640" cy="365760"/>
          </a:xfrm>
          <a:prstGeom prst="rect">
            <a:avLst/>
          </a:prstGeom>
          <a:noFill/>
          <a:ln/>
        </p:spPr>
        <p:txBody>
          <a:bodyPr wrap="square" lIns="0" tIns="0" rIns="0" bIns="0" rtlCol="0" anchor="ctr"/>
          <a:lstStyle/>
          <a:p>
            <a:pPr indent="0" marL="0">
              <a:buNone/>
            </a:pPr>
            <a:r>
              <a:rPr lang="en-US" sz="2000" b="1" dirty="0">
                <a:solidFill>
                  <a:srgbClr val="C8742B"/>
                </a:solidFill>
                <a:latin typeface="Calibri" pitchFamily="34" charset="0"/>
                <a:ea typeface="Calibri" pitchFamily="34" charset="-122"/>
                <a:cs typeface="Calibri" pitchFamily="34" charset="-120"/>
              </a:rPr>
              <a:t>01</a:t>
            </a:r>
            <a:endParaRPr lang="en-US" sz="2000" dirty="0"/>
          </a:p>
        </p:txBody>
      </p:sp>
      <p:sp>
        <p:nvSpPr>
          <p:cNvPr id="17" name="Text 15"/>
          <p:cNvSpPr txBox="1"/>
          <p:nvPr/>
        </p:nvSpPr>
        <p:spPr>
          <a:xfrm>
            <a:off x="1115568" y="5349240"/>
            <a:ext cx="21031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Prestasi semasa</a:t>
            </a:r>
            <a:endParaRPr lang="en-US" sz="1400" dirty="0"/>
          </a:p>
        </p:txBody>
      </p:sp>
      <p:sp>
        <p:nvSpPr>
          <p:cNvPr id="18" name="Text 16"/>
          <p:cNvSpPr txBox="1"/>
          <p:nvPr/>
        </p:nvSpPr>
        <p:spPr>
          <a:xfrm>
            <a:off x="3337560" y="5349240"/>
            <a:ext cx="548640" cy="365760"/>
          </a:xfrm>
          <a:prstGeom prst="rect">
            <a:avLst/>
          </a:prstGeom>
          <a:noFill/>
          <a:ln/>
        </p:spPr>
        <p:txBody>
          <a:bodyPr wrap="square" lIns="0" tIns="0" rIns="0" bIns="0" rtlCol="0" anchor="ctr"/>
          <a:lstStyle/>
          <a:p>
            <a:pPr indent="0" marL="0">
              <a:buNone/>
            </a:pPr>
            <a:r>
              <a:rPr lang="en-US" sz="2000" b="1" dirty="0">
                <a:solidFill>
                  <a:srgbClr val="C8742B"/>
                </a:solidFill>
                <a:latin typeface="Calibri" pitchFamily="34" charset="0"/>
                <a:ea typeface="Calibri" pitchFamily="34" charset="-122"/>
                <a:cs typeface="Calibri" pitchFamily="34" charset="-120"/>
              </a:rPr>
              <a:t>02</a:t>
            </a:r>
            <a:endParaRPr lang="en-US" sz="2000" dirty="0"/>
          </a:p>
        </p:txBody>
      </p:sp>
      <p:sp>
        <p:nvSpPr>
          <p:cNvPr id="19" name="Text 17"/>
          <p:cNvSpPr txBox="1"/>
          <p:nvPr/>
        </p:nvSpPr>
        <p:spPr>
          <a:xfrm>
            <a:off x="3904488" y="5349240"/>
            <a:ext cx="21031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Cara kita jual</a:t>
            </a:r>
            <a:endParaRPr lang="en-US" sz="1400" dirty="0"/>
          </a:p>
        </p:txBody>
      </p:sp>
      <p:sp>
        <p:nvSpPr>
          <p:cNvPr id="20" name="Text 18"/>
          <p:cNvSpPr txBox="1"/>
          <p:nvPr/>
        </p:nvSpPr>
        <p:spPr>
          <a:xfrm>
            <a:off x="6126480" y="5349240"/>
            <a:ext cx="548640" cy="365760"/>
          </a:xfrm>
          <a:prstGeom prst="rect">
            <a:avLst/>
          </a:prstGeom>
          <a:noFill/>
          <a:ln/>
        </p:spPr>
        <p:txBody>
          <a:bodyPr wrap="square" lIns="0" tIns="0" rIns="0" bIns="0" rtlCol="0" anchor="ctr"/>
          <a:lstStyle/>
          <a:p>
            <a:pPr indent="0" marL="0">
              <a:buNone/>
            </a:pPr>
            <a:r>
              <a:rPr lang="en-US" sz="2000" b="1" dirty="0">
                <a:solidFill>
                  <a:srgbClr val="C8742B"/>
                </a:solidFill>
                <a:latin typeface="Calibri" pitchFamily="34" charset="0"/>
                <a:ea typeface="Calibri" pitchFamily="34" charset="-122"/>
                <a:cs typeface="Calibri" pitchFamily="34" charset="-120"/>
              </a:rPr>
              <a:t>03</a:t>
            </a:r>
            <a:endParaRPr lang="en-US" sz="2000" dirty="0"/>
          </a:p>
        </p:txBody>
      </p:sp>
      <p:sp>
        <p:nvSpPr>
          <p:cNvPr id="21" name="Text 19"/>
          <p:cNvSpPr txBox="1"/>
          <p:nvPr/>
        </p:nvSpPr>
        <p:spPr>
          <a:xfrm>
            <a:off x="6693408" y="5349240"/>
            <a:ext cx="21031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TikTok dan data</a:t>
            </a:r>
            <a:endParaRPr lang="en-US" sz="1400" dirty="0"/>
          </a:p>
        </p:txBody>
      </p:sp>
      <p:sp>
        <p:nvSpPr>
          <p:cNvPr id="22" name="Text 20"/>
          <p:cNvSpPr txBox="1"/>
          <p:nvPr/>
        </p:nvSpPr>
        <p:spPr>
          <a:xfrm>
            <a:off x="8915400" y="5349240"/>
            <a:ext cx="548640" cy="365760"/>
          </a:xfrm>
          <a:prstGeom prst="rect">
            <a:avLst/>
          </a:prstGeom>
          <a:noFill/>
          <a:ln/>
        </p:spPr>
        <p:txBody>
          <a:bodyPr wrap="square" lIns="0" tIns="0" rIns="0" bIns="0" rtlCol="0" anchor="ctr"/>
          <a:lstStyle/>
          <a:p>
            <a:pPr indent="0" marL="0">
              <a:buNone/>
            </a:pPr>
            <a:r>
              <a:rPr lang="en-US" sz="2000" b="1" dirty="0">
                <a:solidFill>
                  <a:srgbClr val="C8742B"/>
                </a:solidFill>
                <a:latin typeface="Calibri" pitchFamily="34" charset="0"/>
                <a:ea typeface="Calibri" pitchFamily="34" charset="-122"/>
                <a:cs typeface="Calibri" pitchFamily="34" charset="-120"/>
              </a:rPr>
              <a:t>04</a:t>
            </a:r>
            <a:endParaRPr lang="en-US" sz="2000" dirty="0"/>
          </a:p>
        </p:txBody>
      </p:sp>
      <p:sp>
        <p:nvSpPr>
          <p:cNvPr id="23" name="Text 21"/>
          <p:cNvSpPr txBox="1"/>
          <p:nvPr/>
        </p:nvSpPr>
        <p:spPr>
          <a:xfrm>
            <a:off x="9482328" y="5349240"/>
            <a:ext cx="21031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Misi Oktober</a:t>
            </a:r>
            <a:endParaRPr lang="en-US" sz="1400" dirty="0"/>
          </a:p>
        </p:txBody>
      </p:sp>
      <p:sp>
        <p:nvSpPr>
          <p:cNvPr id="24" name="Shape 22"/>
          <p:cNvSpPr/>
          <p:nvPr/>
        </p:nvSpPr>
        <p:spPr>
          <a:xfrm>
            <a:off x="548640" y="5120640"/>
            <a:ext cx="11094415" cy="0"/>
          </a:xfrm>
          <a:prstGeom prst="line">
            <a:avLst/>
          </a:prstGeom>
          <a:noFill/>
          <a:ln w="12700">
            <a:solidFill>
              <a:srgbClr val="2343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PRESTASI SEMASA</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Jualan jatuh 60% sejak Januari, tetapi September mula pulih</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02</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7635240" cy="4526280"/>
          </a:xfrm>
          <a:prstGeom prst="roundRect">
            <a:avLst>
              <a:gd name="adj" fmla="val 161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Text 7"/>
          <p:cNvSpPr txBox="1"/>
          <p:nvPr/>
        </p:nvSpPr>
        <p:spPr>
          <a:xfrm>
            <a:off x="868680" y="1810512"/>
            <a:ext cx="5486400" cy="274320"/>
          </a:xfrm>
          <a:prstGeom prst="rect">
            <a:avLst/>
          </a:prstGeom>
          <a:noFill/>
          <a:ln/>
        </p:spPr>
        <p:txBody>
          <a:bodyPr wrap="square" lIns="0" tIns="0" rIns="0" bIns="0" rtlCol="0" anchor="t"/>
          <a:lstStyle/>
          <a:p>
            <a:pPr indent="0" marL="0">
              <a:buNone/>
            </a:pPr>
            <a:r>
              <a:rPr lang="en-US" sz="1100" b="1" spc="200" kern="0" dirty="0">
                <a:solidFill>
                  <a:srgbClr val="5B6B80"/>
                </a:solidFill>
                <a:latin typeface="Calibri" pitchFamily="34" charset="0"/>
                <a:ea typeface="Calibri" pitchFamily="34" charset="-122"/>
                <a:cs typeface="Calibri" pitchFamily="34" charset="-120"/>
              </a:rPr>
              <a:t>JUMLAH PEMASANGAN SEBULAN · 2026</a:t>
            </a:r>
            <a:endParaRPr lang="en-US" sz="1100" dirty="0"/>
          </a:p>
        </p:txBody>
      </p:sp>
      <p:graphicFrame>
        <p:nvGraphicFramePr>
          <p:cNvPr id="10" name="Chart 0" descr=""/>
          <p:cNvGraphicFramePr/>
          <p:nvPr/>
        </p:nvGraphicFramePr>
        <p:xfrm>
          <a:off x="731520" y="2148840"/>
          <a:ext cx="7269480" cy="38404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503920" y="1600200"/>
            <a:ext cx="3136392" cy="1325880"/>
          </a:xfrm>
          <a:prstGeom prst="roundRect">
            <a:avLst>
              <a:gd name="adj" fmla="val 5517"/>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2" name="Shape 9"/>
          <p:cNvSpPr/>
          <p:nvPr/>
        </p:nvSpPr>
        <p:spPr>
          <a:xfrm>
            <a:off x="8732520" y="1856232"/>
            <a:ext cx="457200" cy="457200"/>
          </a:xfrm>
          <a:prstGeom prst="roundRect">
            <a:avLst>
              <a:gd name="adj" fmla="val 22000"/>
            </a:avLst>
          </a:prstGeom>
          <a:solidFill>
            <a:srgbClr val="EBF0F6"/>
          </a:solidFill>
          <a:ln w="12700">
            <a:solidFill>
              <a:srgbClr val="EBF0F6"/>
            </a:solidFill>
            <a:prstDash val="solid"/>
          </a:ln>
        </p:spPr>
      </p:sp>
      <p:pic>
        <p:nvPicPr>
          <p:cNvPr id="13" name="Image 0" descr="preencoded.png">    </p:cNvPr>
          <p:cNvPicPr>
            <a:picLocks noChangeAspect="1"/>
          </p:cNvPicPr>
          <p:nvPr/>
        </p:nvPicPr>
        <p:blipFill>
          <a:blip r:embed="rId2"/>
          <a:stretch>
            <a:fillRect/>
          </a:stretch>
        </p:blipFill>
        <p:spPr>
          <a:xfrm>
            <a:off x="8842248" y="1965960"/>
            <a:ext cx="237744" cy="237744"/>
          </a:xfrm>
          <a:prstGeom prst="rect">
            <a:avLst/>
          </a:prstGeom>
        </p:spPr>
      </p:pic>
      <p:sp>
        <p:nvSpPr>
          <p:cNvPr id="14" name="Text 10"/>
          <p:cNvSpPr txBox="1"/>
          <p:nvPr/>
        </p:nvSpPr>
        <p:spPr>
          <a:xfrm>
            <a:off x="9372600" y="1764792"/>
            <a:ext cx="2103120" cy="640080"/>
          </a:xfrm>
          <a:prstGeom prst="rect">
            <a:avLst/>
          </a:prstGeom>
          <a:noFill/>
          <a:ln/>
        </p:spPr>
        <p:txBody>
          <a:bodyPr wrap="square" lIns="0" tIns="0" rIns="0" bIns="0" rtlCol="0" anchor="ctr"/>
          <a:lstStyle/>
          <a:p>
            <a:pPr indent="0" marL="0">
              <a:buNone/>
            </a:pPr>
            <a:r>
              <a:rPr lang="en-US" sz="3600" b="1" dirty="0">
                <a:solidFill>
                  <a:srgbClr val="0B1F3A"/>
                </a:solidFill>
                <a:latin typeface="Calibri" pitchFamily="34" charset="0"/>
                <a:ea typeface="Calibri" pitchFamily="34" charset="-122"/>
                <a:cs typeface="Calibri" pitchFamily="34" charset="-120"/>
              </a:rPr>
              <a:t>135</a:t>
            </a:r>
            <a:endParaRPr lang="en-US" sz="3600" dirty="0"/>
          </a:p>
        </p:txBody>
      </p:sp>
      <p:sp>
        <p:nvSpPr>
          <p:cNvPr id="15" name="Text 11"/>
          <p:cNvSpPr txBox="1"/>
          <p:nvPr/>
        </p:nvSpPr>
        <p:spPr>
          <a:xfrm>
            <a:off x="9372600" y="2404872"/>
            <a:ext cx="2194560" cy="32004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Januari, paras tertinggi</a:t>
            </a:r>
            <a:endParaRPr lang="en-US" sz="1300" dirty="0"/>
          </a:p>
        </p:txBody>
      </p:sp>
      <p:sp>
        <p:nvSpPr>
          <p:cNvPr id="16" name="Shape 12"/>
          <p:cNvSpPr/>
          <p:nvPr/>
        </p:nvSpPr>
        <p:spPr>
          <a:xfrm>
            <a:off x="8503920" y="3200400"/>
            <a:ext cx="3136392" cy="1325880"/>
          </a:xfrm>
          <a:prstGeom prst="roundRect">
            <a:avLst>
              <a:gd name="adj" fmla="val 5517"/>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7" name="Shape 13"/>
          <p:cNvSpPr/>
          <p:nvPr/>
        </p:nvSpPr>
        <p:spPr>
          <a:xfrm>
            <a:off x="8732520" y="3456432"/>
            <a:ext cx="457200" cy="457200"/>
          </a:xfrm>
          <a:prstGeom prst="roundRect">
            <a:avLst>
              <a:gd name="adj" fmla="val 22000"/>
            </a:avLst>
          </a:prstGeom>
          <a:solidFill>
            <a:srgbClr val="F7EADC"/>
          </a:solidFill>
          <a:ln w="12700">
            <a:solidFill>
              <a:srgbClr val="F7EADC"/>
            </a:solidFill>
            <a:prstDash val="solid"/>
          </a:ln>
        </p:spPr>
      </p:sp>
      <p:pic>
        <p:nvPicPr>
          <p:cNvPr id="18" name="Image 1" descr="preencoded.png">    </p:cNvPr>
          <p:cNvPicPr>
            <a:picLocks noChangeAspect="1"/>
          </p:cNvPicPr>
          <p:nvPr/>
        </p:nvPicPr>
        <p:blipFill>
          <a:blip r:embed="rId3"/>
          <a:stretch>
            <a:fillRect/>
          </a:stretch>
        </p:blipFill>
        <p:spPr>
          <a:xfrm>
            <a:off x="8842248" y="3566160"/>
            <a:ext cx="237744" cy="237744"/>
          </a:xfrm>
          <a:prstGeom prst="rect">
            <a:avLst/>
          </a:prstGeom>
        </p:spPr>
      </p:pic>
      <p:sp>
        <p:nvSpPr>
          <p:cNvPr id="19" name="Text 14"/>
          <p:cNvSpPr txBox="1"/>
          <p:nvPr/>
        </p:nvSpPr>
        <p:spPr>
          <a:xfrm>
            <a:off x="9372600" y="3364992"/>
            <a:ext cx="2103120" cy="640080"/>
          </a:xfrm>
          <a:prstGeom prst="rect">
            <a:avLst/>
          </a:prstGeom>
          <a:noFill/>
          <a:ln/>
        </p:spPr>
        <p:txBody>
          <a:bodyPr wrap="square" lIns="0" tIns="0" rIns="0" bIns="0" rtlCol="0" anchor="ctr"/>
          <a:lstStyle/>
          <a:p>
            <a:pPr indent="0" marL="0">
              <a:buNone/>
            </a:pPr>
            <a:r>
              <a:rPr lang="en-US" sz="3600" b="1" dirty="0">
                <a:solidFill>
                  <a:srgbClr val="C8742B"/>
                </a:solidFill>
                <a:latin typeface="Calibri" pitchFamily="34" charset="0"/>
                <a:ea typeface="Calibri" pitchFamily="34" charset="-122"/>
                <a:cs typeface="Calibri" pitchFamily="34" charset="-120"/>
              </a:rPr>
              <a:t>−60%</a:t>
            </a:r>
            <a:endParaRPr lang="en-US" sz="3600" dirty="0"/>
          </a:p>
        </p:txBody>
      </p:sp>
      <p:sp>
        <p:nvSpPr>
          <p:cNvPr id="20" name="Text 15"/>
          <p:cNvSpPr txBox="1"/>
          <p:nvPr/>
        </p:nvSpPr>
        <p:spPr>
          <a:xfrm>
            <a:off x="9372600" y="4005072"/>
            <a:ext cx="2194560" cy="32004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Januari ke Ogos</a:t>
            </a:r>
            <a:endParaRPr lang="en-US" sz="1300" dirty="0"/>
          </a:p>
        </p:txBody>
      </p:sp>
      <p:sp>
        <p:nvSpPr>
          <p:cNvPr id="21" name="Shape 16"/>
          <p:cNvSpPr/>
          <p:nvPr/>
        </p:nvSpPr>
        <p:spPr>
          <a:xfrm>
            <a:off x="8503920" y="4800600"/>
            <a:ext cx="3136392" cy="1325880"/>
          </a:xfrm>
          <a:prstGeom prst="roundRect">
            <a:avLst>
              <a:gd name="adj" fmla="val 5517"/>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2" name="Shape 17"/>
          <p:cNvSpPr/>
          <p:nvPr/>
        </p:nvSpPr>
        <p:spPr>
          <a:xfrm>
            <a:off x="8732520" y="5056632"/>
            <a:ext cx="457200" cy="457200"/>
          </a:xfrm>
          <a:prstGeom prst="roundRect">
            <a:avLst>
              <a:gd name="adj" fmla="val 22000"/>
            </a:avLst>
          </a:prstGeom>
          <a:solidFill>
            <a:srgbClr val="EBF0F6"/>
          </a:solidFill>
          <a:ln w="12700">
            <a:solidFill>
              <a:srgbClr val="EBF0F6"/>
            </a:solidFill>
            <a:prstDash val="solid"/>
          </a:ln>
        </p:spPr>
      </p:sp>
      <p:pic>
        <p:nvPicPr>
          <p:cNvPr id="23" name="Image 2" descr="preencoded.png">    </p:cNvPr>
          <p:cNvPicPr>
            <a:picLocks noChangeAspect="1"/>
          </p:cNvPicPr>
          <p:nvPr/>
        </p:nvPicPr>
        <p:blipFill>
          <a:blip r:embed="rId4"/>
          <a:stretch>
            <a:fillRect/>
          </a:stretch>
        </p:blipFill>
        <p:spPr>
          <a:xfrm>
            <a:off x="8842248" y="5166360"/>
            <a:ext cx="237744" cy="237744"/>
          </a:xfrm>
          <a:prstGeom prst="rect">
            <a:avLst/>
          </a:prstGeom>
        </p:spPr>
      </p:pic>
      <p:sp>
        <p:nvSpPr>
          <p:cNvPr id="24" name="Text 18"/>
          <p:cNvSpPr txBox="1"/>
          <p:nvPr/>
        </p:nvSpPr>
        <p:spPr>
          <a:xfrm>
            <a:off x="9372600" y="4965192"/>
            <a:ext cx="2103120" cy="640080"/>
          </a:xfrm>
          <a:prstGeom prst="rect">
            <a:avLst/>
          </a:prstGeom>
          <a:noFill/>
          <a:ln/>
        </p:spPr>
        <p:txBody>
          <a:bodyPr wrap="square" lIns="0" tIns="0" rIns="0" bIns="0" rtlCol="0" anchor="ctr"/>
          <a:lstStyle/>
          <a:p>
            <a:pPr indent="0" marL="0">
              <a:buNone/>
            </a:pPr>
            <a:r>
              <a:rPr lang="en-US" sz="3600" b="1" dirty="0">
                <a:solidFill>
                  <a:srgbClr val="0B1F3A"/>
                </a:solidFill>
                <a:latin typeface="Calibri" pitchFamily="34" charset="0"/>
                <a:ea typeface="Calibri" pitchFamily="34" charset="-122"/>
                <a:cs typeface="Calibri" pitchFamily="34" charset="-120"/>
              </a:rPr>
              <a:t>71</a:t>
            </a:r>
            <a:endParaRPr lang="en-US" sz="3600" dirty="0"/>
          </a:p>
        </p:txBody>
      </p:sp>
      <p:sp>
        <p:nvSpPr>
          <p:cNvPr id="25" name="Text 19"/>
          <p:cNvSpPr txBox="1"/>
          <p:nvPr/>
        </p:nvSpPr>
        <p:spPr>
          <a:xfrm>
            <a:off x="9372600" y="5605272"/>
            <a:ext cx="2194560" cy="32004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September, mula pulih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PRESTASI SEMASA</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Kita makin bergantung pada pakej termurah dan satu channel digital</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03</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08676" cy="4526280"/>
          </a:xfrm>
          <a:prstGeom prst="roundRect">
            <a:avLst>
              <a:gd name="adj" fmla="val 161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914400" y="1965960"/>
            <a:ext cx="548640" cy="54864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1046074" y="2097634"/>
            <a:ext cx="285293" cy="285293"/>
          </a:xfrm>
          <a:prstGeom prst="rect">
            <a:avLst/>
          </a:prstGeom>
        </p:spPr>
      </p:pic>
      <p:sp>
        <p:nvSpPr>
          <p:cNvPr id="11" name="Text 8"/>
          <p:cNvSpPr txBox="1"/>
          <p:nvPr/>
        </p:nvSpPr>
        <p:spPr>
          <a:xfrm>
            <a:off x="1645920" y="1965960"/>
            <a:ext cx="4037076" cy="548640"/>
          </a:xfrm>
          <a:prstGeom prst="rect">
            <a:avLst/>
          </a:prstGeom>
          <a:noFill/>
          <a:ln/>
        </p:spPr>
        <p:txBody>
          <a:bodyPr wrap="square" lIns="0" tIns="0" rIns="0" bIns="0" rtlCol="0" anchor="ctr"/>
          <a:lstStyle/>
          <a:p>
            <a:pPr indent="0" marL="0">
              <a:buNone/>
            </a:pPr>
            <a:r>
              <a:rPr lang="en-US" sz="1100" b="1" spc="200" kern="0" dirty="0">
                <a:solidFill>
                  <a:srgbClr val="5B6B80"/>
                </a:solidFill>
                <a:latin typeface="Calibri" pitchFamily="34" charset="0"/>
                <a:ea typeface="Calibri" pitchFamily="34" charset="-122"/>
                <a:cs typeface="Calibri" pitchFamily="34" charset="-120"/>
              </a:rPr>
              <a:t>PEMASANGAN 500MBPS · JAN VS OGOS</a:t>
            </a:r>
            <a:endParaRPr lang="en-US" sz="1100" dirty="0"/>
          </a:p>
        </p:txBody>
      </p:sp>
      <p:sp>
        <p:nvSpPr>
          <p:cNvPr id="12" name="Text 9"/>
          <p:cNvSpPr txBox="1"/>
          <p:nvPr/>
        </p:nvSpPr>
        <p:spPr>
          <a:xfrm>
            <a:off x="914400" y="2697480"/>
            <a:ext cx="4677156" cy="1097280"/>
          </a:xfrm>
          <a:prstGeom prst="rect">
            <a:avLst/>
          </a:prstGeom>
          <a:noFill/>
          <a:ln/>
        </p:spPr>
        <p:txBody>
          <a:bodyPr wrap="square" lIns="0" tIns="0" rIns="0" bIns="0" rtlCol="0" anchor="ctr"/>
          <a:lstStyle/>
          <a:p>
            <a:pPr indent="0" marL="0">
              <a:buNone/>
            </a:pPr>
            <a:r>
              <a:rPr lang="en-US" sz="6600" b="1" dirty="0">
                <a:solidFill>
                  <a:srgbClr val="0B1F3A"/>
                </a:solidFill>
                <a:latin typeface="Calibri" pitchFamily="34" charset="0"/>
                <a:ea typeface="Calibri" pitchFamily="34" charset="-122"/>
                <a:cs typeface="Calibri" pitchFamily="34" charset="-120"/>
              </a:rPr>
              <a:t>34</a:t>
            </a:r>
            <a:pPr indent="0" marL="0">
              <a:buNone/>
            </a:pPr>
            <a:r>
              <a:rPr lang="en-US" sz="6600" b="1" dirty="0">
                <a:solidFill>
                  <a:srgbClr val="C3CDD9"/>
                </a:solidFill>
                <a:latin typeface="Calibri" pitchFamily="34" charset="0"/>
                <a:ea typeface="Calibri" pitchFamily="34" charset="-122"/>
                <a:cs typeface="Calibri" pitchFamily="34" charset="-120"/>
              </a:rPr>
              <a:t>  →  </a:t>
            </a:r>
            <a:pPr indent="0" marL="0">
              <a:buNone/>
            </a:pPr>
            <a:r>
              <a:rPr lang="en-US" sz="6600" b="1" dirty="0">
                <a:solidFill>
                  <a:srgbClr val="C8742B"/>
                </a:solidFill>
                <a:latin typeface="Calibri" pitchFamily="34" charset="0"/>
                <a:ea typeface="Calibri" pitchFamily="34" charset="-122"/>
                <a:cs typeface="Calibri" pitchFamily="34" charset="-120"/>
              </a:rPr>
              <a:t>3</a:t>
            </a:r>
            <a:endParaRPr lang="en-US" sz="6600" dirty="0"/>
          </a:p>
        </p:txBody>
      </p:sp>
      <p:sp>
        <p:nvSpPr>
          <p:cNvPr id="13" name="Text 10"/>
          <p:cNvSpPr txBox="1"/>
          <p:nvPr/>
        </p:nvSpPr>
        <p:spPr>
          <a:xfrm>
            <a:off x="914400" y="4023360"/>
            <a:ext cx="914400" cy="292608"/>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Januari</a:t>
            </a:r>
            <a:endParaRPr lang="en-US" sz="1200" dirty="0"/>
          </a:p>
        </p:txBody>
      </p:sp>
      <p:sp>
        <p:nvSpPr>
          <p:cNvPr id="14" name="Shape 11"/>
          <p:cNvSpPr/>
          <p:nvPr/>
        </p:nvSpPr>
        <p:spPr>
          <a:xfrm>
            <a:off x="1828800" y="4078224"/>
            <a:ext cx="3031236" cy="182880"/>
          </a:xfrm>
          <a:prstGeom prst="roundRect">
            <a:avLst>
              <a:gd name="adj" fmla="val 50000"/>
            </a:avLst>
          </a:prstGeom>
          <a:solidFill>
            <a:srgbClr val="EBF0F6"/>
          </a:solidFill>
          <a:ln w="12700">
            <a:solidFill>
              <a:srgbClr val="EBF0F6"/>
            </a:solidFill>
            <a:prstDash val="solid"/>
          </a:ln>
        </p:spPr>
      </p:sp>
      <p:sp>
        <p:nvSpPr>
          <p:cNvPr id="15" name="Shape 12"/>
          <p:cNvSpPr/>
          <p:nvPr/>
        </p:nvSpPr>
        <p:spPr>
          <a:xfrm>
            <a:off x="1828800" y="4078224"/>
            <a:ext cx="3031236" cy="182880"/>
          </a:xfrm>
          <a:prstGeom prst="roundRect">
            <a:avLst>
              <a:gd name="adj" fmla="val 50000"/>
            </a:avLst>
          </a:prstGeom>
          <a:solidFill>
            <a:srgbClr val="0B1F3A"/>
          </a:solidFill>
          <a:ln w="12700">
            <a:solidFill>
              <a:srgbClr val="0B1F3A"/>
            </a:solidFill>
            <a:prstDash val="solid"/>
          </a:ln>
        </p:spPr>
      </p:sp>
      <p:sp>
        <p:nvSpPr>
          <p:cNvPr id="16" name="Text 13"/>
          <p:cNvSpPr txBox="1"/>
          <p:nvPr/>
        </p:nvSpPr>
        <p:spPr>
          <a:xfrm>
            <a:off x="4951476" y="4023360"/>
            <a:ext cx="548640" cy="29260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34</a:t>
            </a:r>
            <a:endParaRPr lang="en-US" sz="1300" dirty="0"/>
          </a:p>
        </p:txBody>
      </p:sp>
      <p:sp>
        <p:nvSpPr>
          <p:cNvPr id="17" name="Text 14"/>
          <p:cNvSpPr txBox="1"/>
          <p:nvPr/>
        </p:nvSpPr>
        <p:spPr>
          <a:xfrm>
            <a:off x="914400" y="4480560"/>
            <a:ext cx="914400" cy="292608"/>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Ogos</a:t>
            </a:r>
            <a:endParaRPr lang="en-US" sz="1200" dirty="0"/>
          </a:p>
        </p:txBody>
      </p:sp>
      <p:sp>
        <p:nvSpPr>
          <p:cNvPr id="18" name="Shape 15"/>
          <p:cNvSpPr/>
          <p:nvPr/>
        </p:nvSpPr>
        <p:spPr>
          <a:xfrm>
            <a:off x="1828800" y="4535424"/>
            <a:ext cx="3031236" cy="182880"/>
          </a:xfrm>
          <a:prstGeom prst="roundRect">
            <a:avLst>
              <a:gd name="adj" fmla="val 50000"/>
            </a:avLst>
          </a:prstGeom>
          <a:solidFill>
            <a:srgbClr val="EBF0F6"/>
          </a:solidFill>
          <a:ln w="12700">
            <a:solidFill>
              <a:srgbClr val="EBF0F6"/>
            </a:solidFill>
            <a:prstDash val="solid"/>
          </a:ln>
        </p:spPr>
      </p:sp>
      <p:sp>
        <p:nvSpPr>
          <p:cNvPr id="19" name="Shape 16"/>
          <p:cNvSpPr/>
          <p:nvPr/>
        </p:nvSpPr>
        <p:spPr>
          <a:xfrm>
            <a:off x="1828800" y="4535424"/>
            <a:ext cx="267462" cy="182880"/>
          </a:xfrm>
          <a:prstGeom prst="roundRect">
            <a:avLst>
              <a:gd name="adj" fmla="val 50000"/>
            </a:avLst>
          </a:prstGeom>
          <a:solidFill>
            <a:srgbClr val="C8742B"/>
          </a:solidFill>
          <a:ln w="12700">
            <a:solidFill>
              <a:srgbClr val="C8742B"/>
            </a:solidFill>
            <a:prstDash val="solid"/>
          </a:ln>
        </p:spPr>
      </p:sp>
      <p:sp>
        <p:nvSpPr>
          <p:cNvPr id="20" name="Text 17"/>
          <p:cNvSpPr txBox="1"/>
          <p:nvPr/>
        </p:nvSpPr>
        <p:spPr>
          <a:xfrm>
            <a:off x="4951476" y="4480560"/>
            <a:ext cx="548640" cy="292608"/>
          </a:xfrm>
          <a:prstGeom prst="rect">
            <a:avLst/>
          </a:prstGeom>
          <a:noFill/>
          <a:ln/>
        </p:spPr>
        <p:txBody>
          <a:bodyPr wrap="square" lIns="0" tIns="0" rIns="0" bIns="0" rtlCol="0" anchor="ctr"/>
          <a:lstStyle/>
          <a:p>
            <a:pPr indent="0" marL="0">
              <a:buNone/>
            </a:pPr>
            <a:r>
              <a:rPr lang="en-US" sz="1300" b="1" dirty="0">
                <a:solidFill>
                  <a:srgbClr val="C8742B"/>
                </a:solidFill>
                <a:latin typeface="Calibri" pitchFamily="34" charset="0"/>
                <a:ea typeface="Calibri" pitchFamily="34" charset="-122"/>
                <a:cs typeface="Calibri" pitchFamily="34" charset="-120"/>
              </a:rPr>
              <a:t>3</a:t>
            </a:r>
            <a:endParaRPr lang="en-US" sz="1300" dirty="0"/>
          </a:p>
        </p:txBody>
      </p:sp>
      <p:sp>
        <p:nvSpPr>
          <p:cNvPr id="21" name="Shape 18"/>
          <p:cNvSpPr/>
          <p:nvPr/>
        </p:nvSpPr>
        <p:spPr>
          <a:xfrm>
            <a:off x="914400" y="5120640"/>
            <a:ext cx="4677156" cy="0"/>
          </a:xfrm>
          <a:prstGeom prst="line">
            <a:avLst/>
          </a:prstGeom>
          <a:noFill/>
          <a:ln w="9525">
            <a:solidFill>
              <a:srgbClr val="D8E0EA"/>
            </a:solidFill>
            <a:prstDash val="solid"/>
          </a:ln>
        </p:spPr>
      </p:sp>
      <p:pic>
        <p:nvPicPr>
          <p:cNvPr id="22" name="Image 1" descr="preencoded.png">    </p:cNvPr>
          <p:cNvPicPr>
            <a:picLocks noChangeAspect="1"/>
          </p:cNvPicPr>
          <p:nvPr/>
        </p:nvPicPr>
        <p:blipFill>
          <a:blip r:embed="rId2"/>
          <a:stretch>
            <a:fillRect/>
          </a:stretch>
        </p:blipFill>
        <p:spPr>
          <a:xfrm>
            <a:off x="914400" y="5367528"/>
            <a:ext cx="292608" cy="292608"/>
          </a:xfrm>
          <a:prstGeom prst="rect">
            <a:avLst/>
          </a:prstGeom>
        </p:spPr>
      </p:pic>
      <p:sp>
        <p:nvSpPr>
          <p:cNvPr id="23" name="Text 19"/>
          <p:cNvSpPr txBox="1"/>
          <p:nvPr/>
        </p:nvSpPr>
        <p:spPr>
          <a:xfrm>
            <a:off x="1353312" y="5276088"/>
            <a:ext cx="4219956" cy="6400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Kita makin banyak jual pakej paling murah.</a:t>
            </a:r>
            <a:endParaRPr lang="en-US" sz="1600" dirty="0"/>
          </a:p>
        </p:txBody>
      </p:sp>
      <p:sp>
        <p:nvSpPr>
          <p:cNvPr id="24" name="Shape 20"/>
          <p:cNvSpPr/>
          <p:nvPr/>
        </p:nvSpPr>
        <p:spPr>
          <a:xfrm>
            <a:off x="6231636" y="1600200"/>
            <a:ext cx="5408676" cy="4526280"/>
          </a:xfrm>
          <a:prstGeom prst="roundRect">
            <a:avLst>
              <a:gd name="adj" fmla="val 161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5" name="Shape 21"/>
          <p:cNvSpPr/>
          <p:nvPr/>
        </p:nvSpPr>
        <p:spPr>
          <a:xfrm>
            <a:off x="6597396" y="1965960"/>
            <a:ext cx="548640" cy="548640"/>
          </a:xfrm>
          <a:prstGeom prst="roundRect">
            <a:avLst>
              <a:gd name="adj" fmla="val 22000"/>
            </a:avLst>
          </a:prstGeom>
          <a:solidFill>
            <a:srgbClr val="0B1F3A"/>
          </a:solidFill>
          <a:ln w="12700">
            <a:solidFill>
              <a:srgbClr val="0B1F3A"/>
            </a:solidFill>
            <a:prstDash val="solid"/>
          </a:ln>
        </p:spPr>
      </p:sp>
      <p:pic>
        <p:nvPicPr>
          <p:cNvPr id="26" name="Image 2" descr="preencoded.png">    </p:cNvPr>
          <p:cNvPicPr>
            <a:picLocks noChangeAspect="1"/>
          </p:cNvPicPr>
          <p:nvPr/>
        </p:nvPicPr>
        <p:blipFill>
          <a:blip r:embed="rId3"/>
          <a:stretch>
            <a:fillRect/>
          </a:stretch>
        </p:blipFill>
        <p:spPr>
          <a:xfrm>
            <a:off x="6729070" y="2097634"/>
            <a:ext cx="285293" cy="285293"/>
          </a:xfrm>
          <a:prstGeom prst="rect">
            <a:avLst/>
          </a:prstGeom>
        </p:spPr>
      </p:pic>
      <p:sp>
        <p:nvSpPr>
          <p:cNvPr id="27" name="Text 22"/>
          <p:cNvSpPr txBox="1"/>
          <p:nvPr/>
        </p:nvSpPr>
        <p:spPr>
          <a:xfrm>
            <a:off x="7328916" y="1965960"/>
            <a:ext cx="4037076" cy="548640"/>
          </a:xfrm>
          <a:prstGeom prst="rect">
            <a:avLst/>
          </a:prstGeom>
          <a:noFill/>
          <a:ln/>
        </p:spPr>
        <p:txBody>
          <a:bodyPr wrap="square" lIns="0" tIns="0" rIns="0" bIns="0" rtlCol="0" anchor="ctr"/>
          <a:lstStyle/>
          <a:p>
            <a:pPr indent="0" marL="0">
              <a:buNone/>
            </a:pPr>
            <a:r>
              <a:rPr lang="en-US" sz="1100" b="1" spc="200" kern="0" dirty="0">
                <a:solidFill>
                  <a:srgbClr val="5B6B80"/>
                </a:solidFill>
                <a:latin typeface="Calibri" pitchFamily="34" charset="0"/>
                <a:ea typeface="Calibri" pitchFamily="34" charset="-122"/>
                <a:cs typeface="Calibri" pitchFamily="34" charset="-120"/>
              </a:rPr>
              <a:t>JUALAN DARI FACEBOOK · JAN VS OGOS</a:t>
            </a:r>
            <a:endParaRPr lang="en-US" sz="1100" dirty="0"/>
          </a:p>
        </p:txBody>
      </p:sp>
      <p:sp>
        <p:nvSpPr>
          <p:cNvPr id="28" name="Text 23"/>
          <p:cNvSpPr txBox="1"/>
          <p:nvPr/>
        </p:nvSpPr>
        <p:spPr>
          <a:xfrm>
            <a:off x="6597396" y="2697480"/>
            <a:ext cx="4677156" cy="1097280"/>
          </a:xfrm>
          <a:prstGeom prst="rect">
            <a:avLst/>
          </a:prstGeom>
          <a:noFill/>
          <a:ln/>
        </p:spPr>
        <p:txBody>
          <a:bodyPr wrap="square" lIns="0" tIns="0" rIns="0" bIns="0" rtlCol="0" anchor="ctr"/>
          <a:lstStyle/>
          <a:p>
            <a:pPr indent="0" marL="0">
              <a:buNone/>
            </a:pPr>
            <a:r>
              <a:rPr lang="en-US" sz="6600" b="1" dirty="0">
                <a:solidFill>
                  <a:srgbClr val="0B1F3A"/>
                </a:solidFill>
                <a:latin typeface="Calibri" pitchFamily="34" charset="0"/>
                <a:ea typeface="Calibri" pitchFamily="34" charset="-122"/>
                <a:cs typeface="Calibri" pitchFamily="34" charset="-120"/>
              </a:rPr>
              <a:t>9</a:t>
            </a:r>
            <a:pPr indent="0" marL="0">
              <a:buNone/>
            </a:pPr>
            <a:r>
              <a:rPr lang="en-US" sz="6600" b="1" dirty="0">
                <a:solidFill>
                  <a:srgbClr val="C3CDD9"/>
                </a:solidFill>
                <a:latin typeface="Calibri" pitchFamily="34" charset="0"/>
                <a:ea typeface="Calibri" pitchFamily="34" charset="-122"/>
                <a:cs typeface="Calibri" pitchFamily="34" charset="-120"/>
              </a:rPr>
              <a:t>  →  </a:t>
            </a:r>
            <a:pPr indent="0" marL="0">
              <a:buNone/>
            </a:pPr>
            <a:r>
              <a:rPr lang="en-US" sz="6600" b="1" dirty="0">
                <a:solidFill>
                  <a:srgbClr val="C8742B"/>
                </a:solidFill>
                <a:latin typeface="Calibri" pitchFamily="34" charset="0"/>
                <a:ea typeface="Calibri" pitchFamily="34" charset="-122"/>
                <a:cs typeface="Calibri" pitchFamily="34" charset="-120"/>
              </a:rPr>
              <a:t>0</a:t>
            </a:r>
            <a:endParaRPr lang="en-US" sz="6600" dirty="0"/>
          </a:p>
        </p:txBody>
      </p:sp>
      <p:sp>
        <p:nvSpPr>
          <p:cNvPr id="29" name="Text 24"/>
          <p:cNvSpPr txBox="1"/>
          <p:nvPr/>
        </p:nvSpPr>
        <p:spPr>
          <a:xfrm>
            <a:off x="6597396" y="4023360"/>
            <a:ext cx="914400" cy="292608"/>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Januari</a:t>
            </a:r>
            <a:endParaRPr lang="en-US" sz="1200" dirty="0"/>
          </a:p>
        </p:txBody>
      </p:sp>
      <p:sp>
        <p:nvSpPr>
          <p:cNvPr id="30" name="Shape 25"/>
          <p:cNvSpPr/>
          <p:nvPr/>
        </p:nvSpPr>
        <p:spPr>
          <a:xfrm>
            <a:off x="7511796" y="4078224"/>
            <a:ext cx="3031236" cy="182880"/>
          </a:xfrm>
          <a:prstGeom prst="roundRect">
            <a:avLst>
              <a:gd name="adj" fmla="val 50000"/>
            </a:avLst>
          </a:prstGeom>
          <a:solidFill>
            <a:srgbClr val="EBF0F6"/>
          </a:solidFill>
          <a:ln w="12700">
            <a:solidFill>
              <a:srgbClr val="EBF0F6"/>
            </a:solidFill>
            <a:prstDash val="solid"/>
          </a:ln>
        </p:spPr>
      </p:sp>
      <p:sp>
        <p:nvSpPr>
          <p:cNvPr id="31" name="Shape 26"/>
          <p:cNvSpPr/>
          <p:nvPr/>
        </p:nvSpPr>
        <p:spPr>
          <a:xfrm>
            <a:off x="7511796" y="4078224"/>
            <a:ext cx="3031236" cy="182880"/>
          </a:xfrm>
          <a:prstGeom prst="roundRect">
            <a:avLst>
              <a:gd name="adj" fmla="val 50000"/>
            </a:avLst>
          </a:prstGeom>
          <a:solidFill>
            <a:srgbClr val="0B1F3A"/>
          </a:solidFill>
          <a:ln w="12700">
            <a:solidFill>
              <a:srgbClr val="0B1F3A"/>
            </a:solidFill>
            <a:prstDash val="solid"/>
          </a:ln>
        </p:spPr>
      </p:sp>
      <p:sp>
        <p:nvSpPr>
          <p:cNvPr id="32" name="Text 27"/>
          <p:cNvSpPr txBox="1"/>
          <p:nvPr/>
        </p:nvSpPr>
        <p:spPr>
          <a:xfrm>
            <a:off x="10634472" y="4023360"/>
            <a:ext cx="548640" cy="29260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9</a:t>
            </a:r>
            <a:endParaRPr lang="en-US" sz="1300" dirty="0"/>
          </a:p>
        </p:txBody>
      </p:sp>
      <p:sp>
        <p:nvSpPr>
          <p:cNvPr id="33" name="Text 28"/>
          <p:cNvSpPr txBox="1"/>
          <p:nvPr/>
        </p:nvSpPr>
        <p:spPr>
          <a:xfrm>
            <a:off x="6597396" y="4480560"/>
            <a:ext cx="914400" cy="292608"/>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Ogos</a:t>
            </a:r>
            <a:endParaRPr lang="en-US" sz="1200" dirty="0"/>
          </a:p>
        </p:txBody>
      </p:sp>
      <p:sp>
        <p:nvSpPr>
          <p:cNvPr id="34" name="Shape 29"/>
          <p:cNvSpPr/>
          <p:nvPr/>
        </p:nvSpPr>
        <p:spPr>
          <a:xfrm>
            <a:off x="7511796" y="4535424"/>
            <a:ext cx="3031236" cy="182880"/>
          </a:xfrm>
          <a:prstGeom prst="roundRect">
            <a:avLst>
              <a:gd name="adj" fmla="val 50000"/>
            </a:avLst>
          </a:prstGeom>
          <a:solidFill>
            <a:srgbClr val="EBF0F6"/>
          </a:solidFill>
          <a:ln w="12700">
            <a:solidFill>
              <a:srgbClr val="EBF0F6"/>
            </a:solidFill>
            <a:prstDash val="solid"/>
          </a:ln>
        </p:spPr>
      </p:sp>
      <p:sp>
        <p:nvSpPr>
          <p:cNvPr id="35" name="Text 30"/>
          <p:cNvSpPr txBox="1"/>
          <p:nvPr/>
        </p:nvSpPr>
        <p:spPr>
          <a:xfrm>
            <a:off x="10634472" y="4480560"/>
            <a:ext cx="548640" cy="292608"/>
          </a:xfrm>
          <a:prstGeom prst="rect">
            <a:avLst/>
          </a:prstGeom>
          <a:noFill/>
          <a:ln/>
        </p:spPr>
        <p:txBody>
          <a:bodyPr wrap="square" lIns="0" tIns="0" rIns="0" bIns="0" rtlCol="0" anchor="ctr"/>
          <a:lstStyle/>
          <a:p>
            <a:pPr indent="0" marL="0">
              <a:buNone/>
            </a:pPr>
            <a:r>
              <a:rPr lang="en-US" sz="1300" b="1" dirty="0">
                <a:solidFill>
                  <a:srgbClr val="C8742B"/>
                </a:solidFill>
                <a:latin typeface="Calibri" pitchFamily="34" charset="0"/>
                <a:ea typeface="Calibri" pitchFamily="34" charset="-122"/>
                <a:cs typeface="Calibri" pitchFamily="34" charset="-120"/>
              </a:rPr>
              <a:t>0</a:t>
            </a:r>
            <a:endParaRPr lang="en-US" sz="1300" dirty="0"/>
          </a:p>
        </p:txBody>
      </p:sp>
      <p:sp>
        <p:nvSpPr>
          <p:cNvPr id="36" name="Shape 31"/>
          <p:cNvSpPr/>
          <p:nvPr/>
        </p:nvSpPr>
        <p:spPr>
          <a:xfrm>
            <a:off x="6597396" y="5120640"/>
            <a:ext cx="4677156" cy="0"/>
          </a:xfrm>
          <a:prstGeom prst="line">
            <a:avLst/>
          </a:prstGeom>
          <a:noFill/>
          <a:ln w="9525">
            <a:solidFill>
              <a:srgbClr val="D8E0EA"/>
            </a:solidFill>
            <a:prstDash val="solid"/>
          </a:ln>
        </p:spPr>
      </p:sp>
      <p:pic>
        <p:nvPicPr>
          <p:cNvPr id="37" name="Image 3" descr="preencoded.png">    </p:cNvPr>
          <p:cNvPicPr>
            <a:picLocks noChangeAspect="1"/>
          </p:cNvPicPr>
          <p:nvPr/>
        </p:nvPicPr>
        <p:blipFill>
          <a:blip r:embed="rId4"/>
          <a:stretch>
            <a:fillRect/>
          </a:stretch>
        </p:blipFill>
        <p:spPr>
          <a:xfrm>
            <a:off x="6597396" y="5367528"/>
            <a:ext cx="292608" cy="292608"/>
          </a:xfrm>
          <a:prstGeom prst="rect">
            <a:avLst/>
          </a:prstGeom>
        </p:spPr>
      </p:pic>
      <p:sp>
        <p:nvSpPr>
          <p:cNvPr id="38" name="Text 32"/>
          <p:cNvSpPr txBox="1"/>
          <p:nvPr/>
        </p:nvSpPr>
        <p:spPr>
          <a:xfrm>
            <a:off x="7036308" y="5276088"/>
            <a:ext cx="4219956" cy="6400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TikTok kini satu-satunya channel digital yang masih bawa jualan.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0B1F3A"/>
          </a:solidFill>
          <a:ln w="12700">
            <a:solidFill>
              <a:srgbClr val="0B1F3A"/>
            </a:solidFill>
            <a:prstDash val="solid"/>
          </a:ln>
        </p:spPr>
      </p:sp>
      <p:sp>
        <p:nvSpPr>
          <p:cNvPr id="3" name="Shape 1"/>
          <p:cNvSpPr/>
          <p:nvPr/>
        </p:nvSpPr>
        <p:spPr>
          <a:xfrm>
            <a:off x="-1645920" y="4206240"/>
            <a:ext cx="4572000" cy="4572000"/>
          </a:xfrm>
          <a:prstGeom prst="ellipse">
            <a:avLst/>
          </a:prstGeom>
          <a:solidFill>
            <a:srgbClr val="17325A"/>
          </a:solidFill>
          <a:ln w="12700">
            <a:solidFill>
              <a:srgbClr val="17325A"/>
            </a:solidFill>
            <a:prstDash val="solid"/>
          </a:ln>
        </p:spPr>
      </p:sp>
      <p:sp>
        <p:nvSpPr>
          <p:cNvPr id="4" name="Text 2"/>
          <p:cNvSpPr txBox="1"/>
          <p:nvPr/>
        </p:nvSpPr>
        <p:spPr>
          <a:xfrm>
            <a:off x="548640" y="548640"/>
            <a:ext cx="3200400" cy="274320"/>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MATLAMAT</a:t>
            </a:r>
            <a:endParaRPr lang="en-US" sz="1100" dirty="0"/>
          </a:p>
        </p:txBody>
      </p:sp>
      <p:sp>
        <p:nvSpPr>
          <p:cNvPr id="5" name="Text 3"/>
          <p:cNvSpPr txBox="1"/>
          <p:nvPr/>
        </p:nvSpPr>
        <p:spPr>
          <a:xfrm>
            <a:off x="548640" y="960120"/>
            <a:ext cx="3383280" cy="16459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Matlamat kita untuk Q4</a:t>
            </a:r>
            <a:endParaRPr lang="en-US" sz="3800" dirty="0"/>
          </a:p>
        </p:txBody>
      </p:sp>
      <p:sp>
        <p:nvSpPr>
          <p:cNvPr id="6" name="Text 4"/>
          <p:cNvSpPr txBox="1"/>
          <p:nvPr/>
        </p:nvSpPr>
        <p:spPr>
          <a:xfrm>
            <a:off x="548640" y="2697480"/>
            <a:ext cx="3200400" cy="731520"/>
          </a:xfrm>
          <a:prstGeom prst="rect">
            <a:avLst/>
          </a:prstGeom>
          <a:noFill/>
          <a:ln/>
        </p:spPr>
        <p:txBody>
          <a:bodyPr wrap="square" lIns="0" tIns="0" rIns="0" bIns="0" rtlCol="0" anchor="t"/>
          <a:lstStyle/>
          <a:p>
            <a:pPr indent="0" marL="0">
              <a:buNone/>
            </a:pPr>
            <a:r>
              <a:rPr lang="en-US" sz="1600" dirty="0">
                <a:solidFill>
                  <a:srgbClr val="C3CEDD"/>
                </a:solidFill>
                <a:latin typeface="Calibri" pitchFamily="34" charset="0"/>
                <a:ea typeface="Calibri" pitchFamily="34" charset="-122"/>
                <a:cs typeface="Calibri" pitchFamily="34" charset="-120"/>
              </a:rPr>
              <a:t>Tiga hasil yang kita kejar sepanjang suku ini.</a:t>
            </a:r>
            <a:endParaRPr lang="en-US" sz="1600" dirty="0"/>
          </a:p>
        </p:txBody>
      </p:sp>
      <p:sp>
        <p:nvSpPr>
          <p:cNvPr id="7" name="Shape 5"/>
          <p:cNvSpPr/>
          <p:nvPr/>
        </p:nvSpPr>
        <p:spPr>
          <a:xfrm>
            <a:off x="4846320" y="868680"/>
            <a:ext cx="6793992"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8" name="Text 6"/>
          <p:cNvSpPr txBox="1"/>
          <p:nvPr/>
        </p:nvSpPr>
        <p:spPr>
          <a:xfrm>
            <a:off x="5166360" y="868680"/>
            <a:ext cx="822960" cy="1417320"/>
          </a:xfrm>
          <a:prstGeom prst="rect">
            <a:avLst/>
          </a:prstGeom>
          <a:noFill/>
          <a:ln/>
        </p:spPr>
        <p:txBody>
          <a:bodyPr wrap="square" lIns="0" tIns="0" rIns="0" bIns="0" rtlCol="0" anchor="ctr"/>
          <a:lstStyle/>
          <a:p>
            <a:pPr indent="0" marL="0">
              <a:buNone/>
            </a:pPr>
            <a:r>
              <a:rPr lang="en-US" sz="3400" b="1" dirty="0">
                <a:solidFill>
                  <a:srgbClr val="C8742B"/>
                </a:solidFill>
                <a:latin typeface="Calibri" pitchFamily="34" charset="0"/>
                <a:ea typeface="Calibri" pitchFamily="34" charset="-122"/>
                <a:cs typeface="Calibri" pitchFamily="34" charset="-120"/>
              </a:rPr>
              <a:t>01</a:t>
            </a:r>
            <a:endParaRPr lang="en-US" sz="3400" dirty="0"/>
          </a:p>
        </p:txBody>
      </p:sp>
      <p:sp>
        <p:nvSpPr>
          <p:cNvPr id="9" name="Shape 7"/>
          <p:cNvSpPr/>
          <p:nvPr/>
        </p:nvSpPr>
        <p:spPr>
          <a:xfrm>
            <a:off x="6035040" y="1252728"/>
            <a:ext cx="640080" cy="64008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6188659" y="1406347"/>
            <a:ext cx="332842" cy="332842"/>
          </a:xfrm>
          <a:prstGeom prst="rect">
            <a:avLst/>
          </a:prstGeom>
        </p:spPr>
      </p:pic>
      <p:sp>
        <p:nvSpPr>
          <p:cNvPr id="11" name="Text 8"/>
          <p:cNvSpPr txBox="1"/>
          <p:nvPr/>
        </p:nvSpPr>
        <p:spPr>
          <a:xfrm>
            <a:off x="6949440" y="1143000"/>
            <a:ext cx="4416552" cy="457200"/>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Lebih banyak lead</a:t>
            </a:r>
            <a:endParaRPr lang="en-US" sz="2100" dirty="0"/>
          </a:p>
        </p:txBody>
      </p:sp>
      <p:sp>
        <p:nvSpPr>
          <p:cNvPr id="12" name="Text 9"/>
          <p:cNvSpPr txBox="1"/>
          <p:nvPr/>
        </p:nvSpPr>
        <p:spPr>
          <a:xfrm>
            <a:off x="6949440" y="1600200"/>
            <a:ext cx="4416552" cy="411480"/>
          </a:xfrm>
          <a:prstGeom prst="rect">
            <a:avLst/>
          </a:prstGeom>
          <a:noFill/>
          <a:ln/>
        </p:spPr>
        <p:txBody>
          <a:bodyPr wrap="square" lIns="0" tIns="0" rIns="0" bIns="0" rtlCol="0" anchor="ctr"/>
          <a:lstStyle/>
          <a:p>
            <a:pPr indent="0" marL="0">
              <a:buNone/>
            </a:pPr>
            <a:r>
              <a:rPr lang="en-US" sz="1500" dirty="0">
                <a:solidFill>
                  <a:srgbClr val="5B6B80"/>
                </a:solidFill>
                <a:latin typeface="Calibri" pitchFamily="34" charset="0"/>
                <a:ea typeface="Calibri" pitchFamily="34" charset="-122"/>
                <a:cs typeface="Calibri" pitchFamily="34" charset="-120"/>
              </a:rPr>
              <a:t>Dari TikTok, poster dan referral.</a:t>
            </a:r>
            <a:endParaRPr lang="en-US" sz="1500" dirty="0"/>
          </a:p>
        </p:txBody>
      </p:sp>
      <p:sp>
        <p:nvSpPr>
          <p:cNvPr id="13" name="Shape 10"/>
          <p:cNvSpPr/>
          <p:nvPr/>
        </p:nvSpPr>
        <p:spPr>
          <a:xfrm>
            <a:off x="4846320" y="2560320"/>
            <a:ext cx="6793992"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4" name="Text 11"/>
          <p:cNvSpPr txBox="1"/>
          <p:nvPr/>
        </p:nvSpPr>
        <p:spPr>
          <a:xfrm>
            <a:off x="5166360" y="2560320"/>
            <a:ext cx="822960" cy="1417320"/>
          </a:xfrm>
          <a:prstGeom prst="rect">
            <a:avLst/>
          </a:prstGeom>
          <a:noFill/>
          <a:ln/>
        </p:spPr>
        <p:txBody>
          <a:bodyPr wrap="square" lIns="0" tIns="0" rIns="0" bIns="0" rtlCol="0" anchor="ctr"/>
          <a:lstStyle/>
          <a:p>
            <a:pPr indent="0" marL="0">
              <a:buNone/>
            </a:pPr>
            <a:r>
              <a:rPr lang="en-US" sz="3400" b="1" dirty="0">
                <a:solidFill>
                  <a:srgbClr val="C8742B"/>
                </a:solidFill>
                <a:latin typeface="Calibri" pitchFamily="34" charset="0"/>
                <a:ea typeface="Calibri" pitchFamily="34" charset="-122"/>
                <a:cs typeface="Calibri" pitchFamily="34" charset="-120"/>
              </a:rPr>
              <a:t>02</a:t>
            </a:r>
            <a:endParaRPr lang="en-US" sz="3400" dirty="0"/>
          </a:p>
        </p:txBody>
      </p:sp>
      <p:sp>
        <p:nvSpPr>
          <p:cNvPr id="15" name="Shape 12"/>
          <p:cNvSpPr/>
          <p:nvPr/>
        </p:nvSpPr>
        <p:spPr>
          <a:xfrm>
            <a:off x="6035040" y="2944368"/>
            <a:ext cx="640080" cy="640080"/>
          </a:xfrm>
          <a:prstGeom prst="roundRect">
            <a:avLst>
              <a:gd name="adj" fmla="val 22000"/>
            </a:avLst>
          </a:prstGeom>
          <a:solidFill>
            <a:srgbClr val="0B1F3A"/>
          </a:solidFill>
          <a:ln w="12700">
            <a:solidFill>
              <a:srgbClr val="0B1F3A"/>
            </a:solidFill>
            <a:prstDash val="solid"/>
          </a:ln>
        </p:spPr>
      </p:sp>
      <p:pic>
        <p:nvPicPr>
          <p:cNvPr id="16" name="Image 1" descr="preencoded.png">    </p:cNvPr>
          <p:cNvPicPr>
            <a:picLocks noChangeAspect="1"/>
          </p:cNvPicPr>
          <p:nvPr/>
        </p:nvPicPr>
        <p:blipFill>
          <a:blip r:embed="rId2"/>
          <a:stretch>
            <a:fillRect/>
          </a:stretch>
        </p:blipFill>
        <p:spPr>
          <a:xfrm>
            <a:off x="6188659" y="3097987"/>
            <a:ext cx="332842" cy="332842"/>
          </a:xfrm>
          <a:prstGeom prst="rect">
            <a:avLst/>
          </a:prstGeom>
        </p:spPr>
      </p:pic>
      <p:sp>
        <p:nvSpPr>
          <p:cNvPr id="17" name="Text 13"/>
          <p:cNvSpPr txBox="1"/>
          <p:nvPr/>
        </p:nvSpPr>
        <p:spPr>
          <a:xfrm>
            <a:off x="6949440" y="2834640"/>
            <a:ext cx="4416552" cy="457200"/>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Closing yang konsisten</a:t>
            </a:r>
            <a:endParaRPr lang="en-US" sz="2100" dirty="0"/>
          </a:p>
        </p:txBody>
      </p:sp>
      <p:sp>
        <p:nvSpPr>
          <p:cNvPr id="18" name="Text 14"/>
          <p:cNvSpPr txBox="1"/>
          <p:nvPr/>
        </p:nvSpPr>
        <p:spPr>
          <a:xfrm>
            <a:off x="6949440" y="3291840"/>
            <a:ext cx="4416552" cy="411480"/>
          </a:xfrm>
          <a:prstGeom prst="rect">
            <a:avLst/>
          </a:prstGeom>
          <a:noFill/>
          <a:ln/>
        </p:spPr>
        <p:txBody>
          <a:bodyPr wrap="square" lIns="0" tIns="0" rIns="0" bIns="0" rtlCol="0" anchor="ctr"/>
          <a:lstStyle/>
          <a:p>
            <a:pPr indent="0" marL="0">
              <a:buNone/>
            </a:pPr>
            <a:r>
              <a:rPr lang="en-US" sz="1500" dirty="0">
                <a:solidFill>
                  <a:srgbClr val="5B6B80"/>
                </a:solidFill>
                <a:latin typeface="Calibri" pitchFamily="34" charset="0"/>
                <a:ea typeface="Calibri" pitchFamily="34" charset="-122"/>
                <a:cs typeface="Calibri" pitchFamily="34" charset="-120"/>
              </a:rPr>
              <a:t>Semua staff guna cara yang sama.</a:t>
            </a:r>
            <a:endParaRPr lang="en-US" sz="1500" dirty="0"/>
          </a:p>
        </p:txBody>
      </p:sp>
      <p:sp>
        <p:nvSpPr>
          <p:cNvPr id="19" name="Shape 15"/>
          <p:cNvSpPr/>
          <p:nvPr/>
        </p:nvSpPr>
        <p:spPr>
          <a:xfrm>
            <a:off x="4846320" y="4251960"/>
            <a:ext cx="6793992"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0" name="Text 16"/>
          <p:cNvSpPr txBox="1"/>
          <p:nvPr/>
        </p:nvSpPr>
        <p:spPr>
          <a:xfrm>
            <a:off x="5166360" y="4251960"/>
            <a:ext cx="822960" cy="1417320"/>
          </a:xfrm>
          <a:prstGeom prst="rect">
            <a:avLst/>
          </a:prstGeom>
          <a:noFill/>
          <a:ln/>
        </p:spPr>
        <p:txBody>
          <a:bodyPr wrap="square" lIns="0" tIns="0" rIns="0" bIns="0" rtlCol="0" anchor="ctr"/>
          <a:lstStyle/>
          <a:p>
            <a:pPr indent="0" marL="0">
              <a:buNone/>
            </a:pPr>
            <a:r>
              <a:rPr lang="en-US" sz="3400" b="1" dirty="0">
                <a:solidFill>
                  <a:srgbClr val="C8742B"/>
                </a:solidFill>
                <a:latin typeface="Calibri" pitchFamily="34" charset="0"/>
                <a:ea typeface="Calibri" pitchFamily="34" charset="-122"/>
                <a:cs typeface="Calibri" pitchFamily="34" charset="-120"/>
              </a:rPr>
              <a:t>03</a:t>
            </a:r>
            <a:endParaRPr lang="en-US" sz="3400" dirty="0"/>
          </a:p>
        </p:txBody>
      </p:sp>
      <p:sp>
        <p:nvSpPr>
          <p:cNvPr id="21" name="Shape 17"/>
          <p:cNvSpPr/>
          <p:nvPr/>
        </p:nvSpPr>
        <p:spPr>
          <a:xfrm>
            <a:off x="6035040" y="4636008"/>
            <a:ext cx="640080" cy="640080"/>
          </a:xfrm>
          <a:prstGeom prst="roundRect">
            <a:avLst>
              <a:gd name="adj" fmla="val 22000"/>
            </a:avLst>
          </a:prstGeom>
          <a:solidFill>
            <a:srgbClr val="0B1F3A"/>
          </a:solidFill>
          <a:ln w="12700">
            <a:solidFill>
              <a:srgbClr val="0B1F3A"/>
            </a:solidFill>
            <a:prstDash val="solid"/>
          </a:ln>
        </p:spPr>
      </p:sp>
      <p:pic>
        <p:nvPicPr>
          <p:cNvPr id="22" name="Image 2" descr="preencoded.png">    </p:cNvPr>
          <p:cNvPicPr>
            <a:picLocks noChangeAspect="1"/>
          </p:cNvPicPr>
          <p:nvPr/>
        </p:nvPicPr>
        <p:blipFill>
          <a:blip r:embed="rId3"/>
          <a:stretch>
            <a:fillRect/>
          </a:stretch>
        </p:blipFill>
        <p:spPr>
          <a:xfrm>
            <a:off x="6188659" y="4789627"/>
            <a:ext cx="332842" cy="332842"/>
          </a:xfrm>
          <a:prstGeom prst="rect">
            <a:avLst/>
          </a:prstGeom>
        </p:spPr>
      </p:pic>
      <p:sp>
        <p:nvSpPr>
          <p:cNvPr id="23" name="Text 18"/>
          <p:cNvSpPr txBox="1"/>
          <p:nvPr/>
        </p:nvSpPr>
        <p:spPr>
          <a:xfrm>
            <a:off x="6949440" y="4526280"/>
            <a:ext cx="4416552" cy="457200"/>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Pakej yang tepat untuk setiap rumah</a:t>
            </a:r>
            <a:endParaRPr lang="en-US" sz="2100" dirty="0"/>
          </a:p>
        </p:txBody>
      </p:sp>
      <p:sp>
        <p:nvSpPr>
          <p:cNvPr id="24" name="Text 19"/>
          <p:cNvSpPr txBox="1"/>
          <p:nvPr/>
        </p:nvSpPr>
        <p:spPr>
          <a:xfrm>
            <a:off x="6949440" y="4983480"/>
            <a:ext cx="4416552" cy="411480"/>
          </a:xfrm>
          <a:prstGeom prst="rect">
            <a:avLst/>
          </a:prstGeom>
          <a:noFill/>
          <a:ln/>
        </p:spPr>
        <p:txBody>
          <a:bodyPr wrap="square" lIns="0" tIns="0" rIns="0" bIns="0" rtlCol="0" anchor="ctr"/>
          <a:lstStyle/>
          <a:p>
            <a:pPr indent="0" marL="0">
              <a:buNone/>
            </a:pPr>
            <a:r>
              <a:rPr lang="en-US" sz="1500" dirty="0">
                <a:solidFill>
                  <a:srgbClr val="5B6B80"/>
                </a:solidFill>
                <a:latin typeface="Calibri" pitchFamily="34" charset="0"/>
                <a:ea typeface="Calibri" pitchFamily="34" charset="-122"/>
                <a:cs typeface="Calibri" pitchFamily="34" charset="-120"/>
              </a:rPr>
              <a:t>Tanya cara guna, bukan kira device.</a:t>
            </a:r>
            <a:endParaRPr lang="en-US" sz="1500" dirty="0"/>
          </a:p>
        </p:txBody>
      </p:sp>
      <p:sp>
        <p:nvSpPr>
          <p:cNvPr id="25" name="Shape 20"/>
          <p:cNvSpPr/>
          <p:nvPr/>
        </p:nvSpPr>
        <p:spPr>
          <a:xfrm>
            <a:off x="4846320" y="6382512"/>
            <a:ext cx="420624" cy="219456"/>
          </a:xfrm>
          <a:prstGeom prst="roundRect">
            <a:avLst>
              <a:gd name="adj" fmla="val 16667"/>
            </a:avLst>
          </a:prstGeom>
          <a:solidFill>
            <a:srgbClr val="0B1F3A"/>
          </a:solidFill>
          <a:ln w="12700">
            <a:solidFill>
              <a:srgbClr val="0B1F3A"/>
            </a:solidFill>
            <a:prstDash val="solid"/>
          </a:ln>
        </p:spPr>
      </p:sp>
      <p:sp>
        <p:nvSpPr>
          <p:cNvPr id="26" name="Text 21"/>
          <p:cNvSpPr txBox="1"/>
          <p:nvPr/>
        </p:nvSpPr>
        <p:spPr>
          <a:xfrm>
            <a:off x="484632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27" name="Text 22"/>
          <p:cNvSpPr txBox="1"/>
          <p:nvPr/>
        </p:nvSpPr>
        <p:spPr>
          <a:xfrm>
            <a:off x="537667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28" name="Text 23"/>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04</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Reply laju menukar lead kepada pemasangan dalam masa kurang 24 jam</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05</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11094415" cy="2788920"/>
          </a:xfrm>
          <a:prstGeom prst="roundRect">
            <a:avLst>
              <a:gd name="adj" fmla="val 262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1234440" y="2487168"/>
            <a:ext cx="7703591" cy="0"/>
          </a:xfrm>
          <a:prstGeom prst="line">
            <a:avLst/>
          </a:prstGeom>
          <a:noFill/>
          <a:ln w="25400">
            <a:solidFill>
              <a:srgbClr val="D8E0EA"/>
            </a:solidFill>
            <a:prstDash val="solid"/>
          </a:ln>
        </p:spPr>
      </p:sp>
      <p:sp>
        <p:nvSpPr>
          <p:cNvPr id="10" name="Shape 8"/>
          <p:cNvSpPr/>
          <p:nvPr/>
        </p:nvSpPr>
        <p:spPr>
          <a:xfrm>
            <a:off x="960120" y="2212848"/>
            <a:ext cx="548640" cy="548640"/>
          </a:xfrm>
          <a:prstGeom prst="ellipse">
            <a:avLst>
              <a:gd name="adj" fmla="val 22000"/>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1091794" y="2344522"/>
            <a:ext cx="285293" cy="285293"/>
          </a:xfrm>
          <a:prstGeom prst="rect">
            <a:avLst/>
          </a:prstGeom>
        </p:spPr>
      </p:pic>
      <p:sp>
        <p:nvSpPr>
          <p:cNvPr id="12" name="Text 9"/>
          <p:cNvSpPr txBox="1"/>
          <p:nvPr/>
        </p:nvSpPr>
        <p:spPr>
          <a:xfrm>
            <a:off x="960120" y="1783080"/>
            <a:ext cx="2377440" cy="36576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21:52</a:t>
            </a:r>
            <a:endParaRPr lang="en-US" sz="2200" dirty="0"/>
          </a:p>
        </p:txBody>
      </p:sp>
      <p:sp>
        <p:nvSpPr>
          <p:cNvPr id="13" name="Text 10"/>
          <p:cNvSpPr txBox="1"/>
          <p:nvPr/>
        </p:nvSpPr>
        <p:spPr>
          <a:xfrm>
            <a:off x="960120" y="2926080"/>
            <a:ext cx="2247824" cy="109728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Customer WhatsApp selepas nampak poster di kawasan rumah</a:t>
            </a:r>
            <a:endParaRPr lang="en-US" sz="1400" dirty="0"/>
          </a:p>
        </p:txBody>
      </p:sp>
      <p:sp>
        <p:nvSpPr>
          <p:cNvPr id="14" name="Shape 11"/>
          <p:cNvSpPr/>
          <p:nvPr/>
        </p:nvSpPr>
        <p:spPr>
          <a:xfrm>
            <a:off x="3527984" y="2212848"/>
            <a:ext cx="548640" cy="548640"/>
          </a:xfrm>
          <a:prstGeom prst="ellipse">
            <a:avLst>
              <a:gd name="adj" fmla="val 22000"/>
            </a:avLst>
          </a:prstGeom>
          <a:solidFill>
            <a:srgbClr val="0B1F3A"/>
          </a:solidFill>
          <a:ln w="12700">
            <a:solidFill>
              <a:srgbClr val="0B1F3A"/>
            </a:solidFill>
            <a:prstDash val="solid"/>
          </a:ln>
        </p:spPr>
      </p:sp>
      <p:pic>
        <p:nvPicPr>
          <p:cNvPr id="15" name="Image 1" descr="preencoded.png">    </p:cNvPr>
          <p:cNvPicPr>
            <a:picLocks noChangeAspect="1"/>
          </p:cNvPicPr>
          <p:nvPr/>
        </p:nvPicPr>
        <p:blipFill>
          <a:blip r:embed="rId2"/>
          <a:stretch>
            <a:fillRect/>
          </a:stretch>
        </p:blipFill>
        <p:spPr>
          <a:xfrm>
            <a:off x="3659657" y="2344522"/>
            <a:ext cx="285293" cy="285293"/>
          </a:xfrm>
          <a:prstGeom prst="rect">
            <a:avLst/>
          </a:prstGeom>
        </p:spPr>
      </p:pic>
      <p:sp>
        <p:nvSpPr>
          <p:cNvPr id="16" name="Text 12"/>
          <p:cNvSpPr txBox="1"/>
          <p:nvPr/>
        </p:nvSpPr>
        <p:spPr>
          <a:xfrm>
            <a:off x="3527984" y="1783080"/>
            <a:ext cx="2377440" cy="36576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22:12</a:t>
            </a:r>
            <a:endParaRPr lang="en-US" sz="2200" dirty="0"/>
          </a:p>
        </p:txBody>
      </p:sp>
      <p:sp>
        <p:nvSpPr>
          <p:cNvPr id="17" name="Text 13"/>
          <p:cNvSpPr txBox="1"/>
          <p:nvPr/>
        </p:nvSpPr>
        <p:spPr>
          <a:xfrm>
            <a:off x="3527984" y="2926080"/>
            <a:ext cx="2247824" cy="109728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Coverage disemak dan disahkan</a:t>
            </a:r>
            <a:endParaRPr lang="en-US" sz="1400" dirty="0"/>
          </a:p>
        </p:txBody>
      </p:sp>
      <p:sp>
        <p:nvSpPr>
          <p:cNvPr id="18" name="Shape 14"/>
          <p:cNvSpPr/>
          <p:nvPr/>
        </p:nvSpPr>
        <p:spPr>
          <a:xfrm>
            <a:off x="6095848" y="2212848"/>
            <a:ext cx="548640" cy="548640"/>
          </a:xfrm>
          <a:prstGeom prst="ellipse">
            <a:avLst>
              <a:gd name="adj" fmla="val 22000"/>
            </a:avLst>
          </a:prstGeom>
          <a:solidFill>
            <a:srgbClr val="0B1F3A"/>
          </a:solidFill>
          <a:ln w="12700">
            <a:solidFill>
              <a:srgbClr val="0B1F3A"/>
            </a:solidFill>
            <a:prstDash val="solid"/>
          </a:ln>
        </p:spPr>
      </p:sp>
      <p:pic>
        <p:nvPicPr>
          <p:cNvPr id="19" name="Image 2" descr="preencoded.png">    </p:cNvPr>
          <p:cNvPicPr>
            <a:picLocks noChangeAspect="1"/>
          </p:cNvPicPr>
          <p:nvPr/>
        </p:nvPicPr>
        <p:blipFill>
          <a:blip r:embed="rId3"/>
          <a:stretch>
            <a:fillRect/>
          </a:stretch>
        </p:blipFill>
        <p:spPr>
          <a:xfrm>
            <a:off x="6227521" y="2344522"/>
            <a:ext cx="285293" cy="285293"/>
          </a:xfrm>
          <a:prstGeom prst="rect">
            <a:avLst/>
          </a:prstGeom>
        </p:spPr>
      </p:pic>
      <p:sp>
        <p:nvSpPr>
          <p:cNvPr id="20" name="Text 15"/>
          <p:cNvSpPr txBox="1"/>
          <p:nvPr/>
        </p:nvSpPr>
        <p:spPr>
          <a:xfrm>
            <a:off x="6095848" y="1783080"/>
            <a:ext cx="2377440" cy="36576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22:41</a:t>
            </a:r>
            <a:endParaRPr lang="en-US" sz="2200" dirty="0"/>
          </a:p>
        </p:txBody>
      </p:sp>
      <p:sp>
        <p:nvSpPr>
          <p:cNvPr id="21" name="Text 16"/>
          <p:cNvSpPr txBox="1"/>
          <p:nvPr/>
        </p:nvSpPr>
        <p:spPr>
          <a:xfrm>
            <a:off x="6095848" y="2926080"/>
            <a:ext cx="2247824" cy="109728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Pendaftaran diproses</a:t>
            </a:r>
            <a:endParaRPr lang="en-US" sz="1400" dirty="0"/>
          </a:p>
        </p:txBody>
      </p:sp>
      <p:sp>
        <p:nvSpPr>
          <p:cNvPr id="22" name="Shape 17"/>
          <p:cNvSpPr/>
          <p:nvPr/>
        </p:nvSpPr>
        <p:spPr>
          <a:xfrm>
            <a:off x="8663711" y="2212848"/>
            <a:ext cx="548640" cy="548640"/>
          </a:xfrm>
          <a:prstGeom prst="ellipse">
            <a:avLst>
              <a:gd name="adj" fmla="val 22000"/>
            </a:avLst>
          </a:prstGeom>
          <a:solidFill>
            <a:srgbClr val="C8742B"/>
          </a:solidFill>
          <a:ln w="12700">
            <a:solidFill>
              <a:srgbClr val="C8742B"/>
            </a:solidFill>
            <a:prstDash val="solid"/>
          </a:ln>
        </p:spPr>
      </p:sp>
      <p:pic>
        <p:nvPicPr>
          <p:cNvPr id="23" name="Image 3" descr="preencoded.png">    </p:cNvPr>
          <p:cNvPicPr>
            <a:picLocks noChangeAspect="1"/>
          </p:cNvPicPr>
          <p:nvPr/>
        </p:nvPicPr>
        <p:blipFill>
          <a:blip r:embed="rId4"/>
          <a:stretch>
            <a:fillRect/>
          </a:stretch>
        </p:blipFill>
        <p:spPr>
          <a:xfrm>
            <a:off x="8795385" y="2344522"/>
            <a:ext cx="285293" cy="285293"/>
          </a:xfrm>
          <a:prstGeom prst="rect">
            <a:avLst/>
          </a:prstGeom>
        </p:spPr>
      </p:pic>
      <p:sp>
        <p:nvSpPr>
          <p:cNvPr id="24" name="Text 18"/>
          <p:cNvSpPr txBox="1"/>
          <p:nvPr/>
        </p:nvSpPr>
        <p:spPr>
          <a:xfrm>
            <a:off x="8663711" y="1783080"/>
            <a:ext cx="2377440" cy="365760"/>
          </a:xfrm>
          <a:prstGeom prst="rect">
            <a:avLst/>
          </a:prstGeom>
          <a:noFill/>
          <a:ln/>
        </p:spPr>
        <p:txBody>
          <a:bodyPr wrap="square" lIns="0" tIns="0" rIns="0" bIns="0" rtlCol="0" anchor="ctr"/>
          <a:lstStyle/>
          <a:p>
            <a:pPr indent="0" marL="0">
              <a:buNone/>
            </a:pPr>
            <a:r>
              <a:rPr lang="en-US" sz="2200" b="1" dirty="0">
                <a:solidFill>
                  <a:srgbClr val="C8742B"/>
                </a:solidFill>
                <a:latin typeface="Calibri" pitchFamily="34" charset="0"/>
                <a:ea typeface="Calibri" pitchFamily="34" charset="-122"/>
                <a:cs typeface="Calibri" pitchFamily="34" charset="-120"/>
              </a:rPr>
              <a:t>Esoknya</a:t>
            </a:r>
            <a:endParaRPr lang="en-US" sz="2200" dirty="0"/>
          </a:p>
        </p:txBody>
      </p:sp>
      <p:sp>
        <p:nvSpPr>
          <p:cNvPr id="25" name="Text 19"/>
          <p:cNvSpPr txBox="1"/>
          <p:nvPr/>
        </p:nvSpPr>
        <p:spPr>
          <a:xfrm>
            <a:off x="8663711" y="2926080"/>
            <a:ext cx="2247824" cy="109728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Unifi dipasang pada petang yang dijanjikan</a:t>
            </a:r>
            <a:endParaRPr lang="en-US" sz="1400" dirty="0"/>
          </a:p>
        </p:txBody>
      </p:sp>
      <p:sp>
        <p:nvSpPr>
          <p:cNvPr id="26" name="Shape 20"/>
          <p:cNvSpPr/>
          <p:nvPr/>
        </p:nvSpPr>
        <p:spPr>
          <a:xfrm>
            <a:off x="548640" y="4617720"/>
            <a:ext cx="11094415" cy="1508760"/>
          </a:xfrm>
          <a:prstGeom prst="roundRect">
            <a:avLst>
              <a:gd name="adj" fmla="val 4848"/>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pic>
        <p:nvPicPr>
          <p:cNvPr id="27" name="Image 4" descr="preencoded.png">    </p:cNvPr>
          <p:cNvPicPr>
            <a:picLocks noChangeAspect="1"/>
          </p:cNvPicPr>
          <p:nvPr/>
        </p:nvPicPr>
        <p:blipFill>
          <a:blip r:embed="rId5"/>
          <a:stretch>
            <a:fillRect/>
          </a:stretch>
        </p:blipFill>
        <p:spPr>
          <a:xfrm>
            <a:off x="960120" y="4983480"/>
            <a:ext cx="640080" cy="640080"/>
          </a:xfrm>
          <a:prstGeom prst="rect">
            <a:avLst/>
          </a:prstGeom>
        </p:spPr>
      </p:pic>
      <p:sp>
        <p:nvSpPr>
          <p:cNvPr id="28" name="Text 21"/>
          <p:cNvSpPr txBox="1"/>
          <p:nvPr/>
        </p:nvSpPr>
        <p:spPr>
          <a:xfrm>
            <a:off x="1874520" y="4617720"/>
            <a:ext cx="6949440" cy="1508760"/>
          </a:xfrm>
          <a:prstGeom prst="rect">
            <a:avLst/>
          </a:prstGeom>
          <a:noFill/>
          <a:ln/>
        </p:spPr>
        <p:txBody>
          <a:bodyPr wrap="square" lIns="0" tIns="0" rIns="0" bIns="0" rtlCol="0" anchor="ctr"/>
          <a:lstStyle/>
          <a:p>
            <a:pPr indent="0" marL="0">
              <a:buNone/>
            </a:pPr>
            <a:r>
              <a:rPr lang="en-US" sz="2600" b="1" i="1" dirty="0">
                <a:solidFill>
                  <a:srgbClr val="FFFFFF"/>
                </a:solidFill>
                <a:latin typeface="Calibri" pitchFamily="34" charset="0"/>
                <a:ea typeface="Calibri" pitchFamily="34" charset="-122"/>
                <a:cs typeface="Calibri" pitchFamily="34" charset="-120"/>
              </a:rPr>
              <a:t>“TQ 4 fast response. Nice. Keep your momentum.”</a:t>
            </a:r>
            <a:endParaRPr lang="en-US" sz="2600" dirty="0"/>
          </a:p>
        </p:txBody>
      </p:sp>
      <p:sp>
        <p:nvSpPr>
          <p:cNvPr id="29" name="Text 22"/>
          <p:cNvSpPr txBox="1"/>
          <p:nvPr/>
        </p:nvSpPr>
        <p:spPr>
          <a:xfrm>
            <a:off x="8991295" y="4617720"/>
            <a:ext cx="2377440" cy="1508760"/>
          </a:xfrm>
          <a:prstGeom prst="rect">
            <a:avLst/>
          </a:prstGeom>
          <a:noFill/>
          <a:ln/>
        </p:spPr>
        <p:txBody>
          <a:bodyPr wrap="square" lIns="0" tIns="0" rIns="0" bIns="0" rtlCol="0" anchor="ctr"/>
          <a:lstStyle/>
          <a:p>
            <a:pPr algn="r" indent="0" marL="0">
              <a:buNone/>
            </a:pPr>
            <a:r>
              <a:rPr lang="en-US" sz="1200" dirty="0">
                <a:solidFill>
                  <a:srgbClr val="C3CEDD"/>
                </a:solidFill>
                <a:latin typeface="Calibri" pitchFamily="34" charset="0"/>
                <a:ea typeface="Calibri" pitchFamily="34" charset="-122"/>
                <a:cs typeface="Calibri" pitchFamily="34" charset="-120"/>
              </a:rPr>
              <a:t>Maklum balas customer,</a:t>
            </a:r>
            <a:endParaRPr lang="en-US" sz="1200" dirty="0"/>
          </a:p>
          <a:p>
            <a:pPr algn="r" indent="0" marL="0">
              <a:buNone/>
            </a:pPr>
            <a:r>
              <a:rPr lang="en-US" sz="1200" dirty="0">
                <a:solidFill>
                  <a:srgbClr val="C3CEDD"/>
                </a:solidFill>
                <a:latin typeface="Calibri" pitchFamily="34" charset="0"/>
                <a:ea typeface="Calibri" pitchFamily="34" charset="-122"/>
                <a:cs typeface="Calibri" pitchFamily="34" charset="-120"/>
              </a:rPr>
              <a:t>nama dirahsiakan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Lima prinsip yang semua staff perlu amalkan</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06</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2036003" cy="4526280"/>
          </a:xfrm>
          <a:prstGeom prst="roundRect">
            <a:avLst>
              <a:gd name="adj" fmla="val 359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822960" y="1920240"/>
            <a:ext cx="640080" cy="64008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976579" y="2073859"/>
            <a:ext cx="332842" cy="332842"/>
          </a:xfrm>
          <a:prstGeom prst="rect">
            <a:avLst/>
          </a:prstGeom>
        </p:spPr>
      </p:pic>
      <p:sp>
        <p:nvSpPr>
          <p:cNvPr id="11" name="Text 8"/>
          <p:cNvSpPr txBox="1"/>
          <p:nvPr/>
        </p:nvSpPr>
        <p:spPr>
          <a:xfrm>
            <a:off x="1670243" y="1920240"/>
            <a:ext cx="640080" cy="640080"/>
          </a:xfrm>
          <a:prstGeom prst="rect">
            <a:avLst/>
          </a:prstGeom>
          <a:noFill/>
          <a:ln/>
        </p:spPr>
        <p:txBody>
          <a:bodyPr wrap="square" lIns="0" tIns="0" rIns="0" bIns="0" rtlCol="0" anchor="ctr"/>
          <a:lstStyle/>
          <a:p>
            <a:pPr algn="r" indent="0" marL="0">
              <a:buNone/>
            </a:pPr>
            <a:r>
              <a:rPr lang="en-US" sz="2600" b="1" dirty="0">
                <a:solidFill>
                  <a:srgbClr val="C8742B"/>
                </a:solidFill>
                <a:latin typeface="Calibri" pitchFamily="34" charset="0"/>
                <a:ea typeface="Calibri" pitchFamily="34" charset="-122"/>
                <a:cs typeface="Calibri" pitchFamily="34" charset="-120"/>
              </a:rPr>
              <a:t>01</a:t>
            </a:r>
            <a:endParaRPr lang="en-US" sz="2600" dirty="0"/>
          </a:p>
        </p:txBody>
      </p:sp>
      <p:sp>
        <p:nvSpPr>
          <p:cNvPr id="12" name="Text 9"/>
          <p:cNvSpPr txBox="1"/>
          <p:nvPr/>
        </p:nvSpPr>
        <p:spPr>
          <a:xfrm>
            <a:off x="822960" y="2834640"/>
            <a:ext cx="1487363" cy="123444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Reply laju.</a:t>
            </a:r>
            <a:endParaRPr lang="en-US" sz="1900" dirty="0"/>
          </a:p>
        </p:txBody>
      </p:sp>
      <p:sp>
        <p:nvSpPr>
          <p:cNvPr id="13" name="Shape 10"/>
          <p:cNvSpPr/>
          <p:nvPr/>
        </p:nvSpPr>
        <p:spPr>
          <a:xfrm>
            <a:off x="822960" y="4206240"/>
            <a:ext cx="1487363" cy="0"/>
          </a:xfrm>
          <a:prstGeom prst="line">
            <a:avLst/>
          </a:prstGeom>
          <a:noFill/>
          <a:ln w="9525">
            <a:solidFill>
              <a:srgbClr val="D8E0EA"/>
            </a:solidFill>
            <a:prstDash val="solid"/>
          </a:ln>
        </p:spPr>
      </p:sp>
      <p:sp>
        <p:nvSpPr>
          <p:cNvPr id="14" name="Text 11"/>
          <p:cNvSpPr txBox="1"/>
          <p:nvPr/>
        </p:nvSpPr>
        <p:spPr>
          <a:xfrm>
            <a:off x="822960" y="4389120"/>
            <a:ext cx="1487363" cy="146304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Yang reply dulu, selalunya yang dapat.</a:t>
            </a:r>
            <a:endParaRPr lang="en-US" sz="1400" dirty="0"/>
          </a:p>
        </p:txBody>
      </p:sp>
      <p:sp>
        <p:nvSpPr>
          <p:cNvPr id="15" name="Shape 12"/>
          <p:cNvSpPr/>
          <p:nvPr/>
        </p:nvSpPr>
        <p:spPr>
          <a:xfrm>
            <a:off x="2813243" y="1600200"/>
            <a:ext cx="2036003" cy="4526280"/>
          </a:xfrm>
          <a:prstGeom prst="roundRect">
            <a:avLst>
              <a:gd name="adj" fmla="val 359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6" name="Shape 13"/>
          <p:cNvSpPr/>
          <p:nvPr/>
        </p:nvSpPr>
        <p:spPr>
          <a:xfrm>
            <a:off x="3087563" y="1920240"/>
            <a:ext cx="640080" cy="640080"/>
          </a:xfrm>
          <a:prstGeom prst="roundRect">
            <a:avLst>
              <a:gd name="adj" fmla="val 22000"/>
            </a:avLst>
          </a:prstGeom>
          <a:solidFill>
            <a:srgbClr val="0B1F3A"/>
          </a:solidFill>
          <a:ln w="12700">
            <a:solidFill>
              <a:srgbClr val="0B1F3A"/>
            </a:solidFill>
            <a:prstDash val="solid"/>
          </a:ln>
        </p:spPr>
      </p:sp>
      <p:pic>
        <p:nvPicPr>
          <p:cNvPr id="17" name="Image 1" descr="preencoded.png">    </p:cNvPr>
          <p:cNvPicPr>
            <a:picLocks noChangeAspect="1"/>
          </p:cNvPicPr>
          <p:nvPr/>
        </p:nvPicPr>
        <p:blipFill>
          <a:blip r:embed="rId2"/>
          <a:stretch>
            <a:fillRect/>
          </a:stretch>
        </p:blipFill>
        <p:spPr>
          <a:xfrm>
            <a:off x="3241182" y="2073859"/>
            <a:ext cx="332842" cy="332842"/>
          </a:xfrm>
          <a:prstGeom prst="rect">
            <a:avLst/>
          </a:prstGeom>
        </p:spPr>
      </p:pic>
      <p:sp>
        <p:nvSpPr>
          <p:cNvPr id="18" name="Text 14"/>
          <p:cNvSpPr txBox="1"/>
          <p:nvPr/>
        </p:nvSpPr>
        <p:spPr>
          <a:xfrm>
            <a:off x="3934846" y="1920240"/>
            <a:ext cx="640080" cy="640080"/>
          </a:xfrm>
          <a:prstGeom prst="rect">
            <a:avLst/>
          </a:prstGeom>
          <a:noFill/>
          <a:ln/>
        </p:spPr>
        <p:txBody>
          <a:bodyPr wrap="square" lIns="0" tIns="0" rIns="0" bIns="0" rtlCol="0" anchor="ctr"/>
          <a:lstStyle/>
          <a:p>
            <a:pPr algn="r" indent="0" marL="0">
              <a:buNone/>
            </a:pPr>
            <a:r>
              <a:rPr lang="en-US" sz="2600" b="1" dirty="0">
                <a:solidFill>
                  <a:srgbClr val="C8742B"/>
                </a:solidFill>
                <a:latin typeface="Calibri" pitchFamily="34" charset="0"/>
                <a:ea typeface="Calibri" pitchFamily="34" charset="-122"/>
                <a:cs typeface="Calibri" pitchFamily="34" charset="-120"/>
              </a:rPr>
              <a:t>02</a:t>
            </a:r>
            <a:endParaRPr lang="en-US" sz="2600" dirty="0"/>
          </a:p>
        </p:txBody>
      </p:sp>
      <p:sp>
        <p:nvSpPr>
          <p:cNvPr id="19" name="Text 15"/>
          <p:cNvSpPr txBox="1"/>
          <p:nvPr/>
        </p:nvSpPr>
        <p:spPr>
          <a:xfrm>
            <a:off x="3087563" y="2834640"/>
            <a:ext cx="1487363" cy="123444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Minta alamat dan semak coverage dulu.</a:t>
            </a:r>
            <a:endParaRPr lang="en-US" sz="1900" dirty="0"/>
          </a:p>
        </p:txBody>
      </p:sp>
      <p:sp>
        <p:nvSpPr>
          <p:cNvPr id="20" name="Shape 16"/>
          <p:cNvSpPr/>
          <p:nvPr/>
        </p:nvSpPr>
        <p:spPr>
          <a:xfrm>
            <a:off x="3087563" y="4206240"/>
            <a:ext cx="1487363" cy="0"/>
          </a:xfrm>
          <a:prstGeom prst="line">
            <a:avLst/>
          </a:prstGeom>
          <a:noFill/>
          <a:ln w="9525">
            <a:solidFill>
              <a:srgbClr val="D8E0EA"/>
            </a:solidFill>
            <a:prstDash val="solid"/>
          </a:ln>
        </p:spPr>
      </p:sp>
      <p:sp>
        <p:nvSpPr>
          <p:cNvPr id="21" name="Text 17"/>
          <p:cNvSpPr txBox="1"/>
          <p:nvPr/>
        </p:nvSpPr>
        <p:spPr>
          <a:xfrm>
            <a:off x="3087563" y="4389120"/>
            <a:ext cx="1487363" cy="146304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Ia soalan paling penting bagi customer.</a:t>
            </a:r>
            <a:endParaRPr lang="en-US" sz="1400" dirty="0"/>
          </a:p>
        </p:txBody>
      </p:sp>
      <p:sp>
        <p:nvSpPr>
          <p:cNvPr id="22" name="Shape 18"/>
          <p:cNvSpPr/>
          <p:nvPr/>
        </p:nvSpPr>
        <p:spPr>
          <a:xfrm>
            <a:off x="5077846" y="1600200"/>
            <a:ext cx="2036003" cy="4526280"/>
          </a:xfrm>
          <a:prstGeom prst="roundRect">
            <a:avLst>
              <a:gd name="adj" fmla="val 359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3" name="Shape 19"/>
          <p:cNvSpPr/>
          <p:nvPr/>
        </p:nvSpPr>
        <p:spPr>
          <a:xfrm>
            <a:off x="5352166" y="1920240"/>
            <a:ext cx="640080" cy="640080"/>
          </a:xfrm>
          <a:prstGeom prst="roundRect">
            <a:avLst>
              <a:gd name="adj" fmla="val 22000"/>
            </a:avLst>
          </a:prstGeom>
          <a:solidFill>
            <a:srgbClr val="0B1F3A"/>
          </a:solidFill>
          <a:ln w="12700">
            <a:solidFill>
              <a:srgbClr val="0B1F3A"/>
            </a:solidFill>
            <a:prstDash val="solid"/>
          </a:ln>
        </p:spPr>
      </p:sp>
      <p:pic>
        <p:nvPicPr>
          <p:cNvPr id="24" name="Image 2" descr="preencoded.png">    </p:cNvPr>
          <p:cNvPicPr>
            <a:picLocks noChangeAspect="1"/>
          </p:cNvPicPr>
          <p:nvPr/>
        </p:nvPicPr>
        <p:blipFill>
          <a:blip r:embed="rId3"/>
          <a:stretch>
            <a:fillRect/>
          </a:stretch>
        </p:blipFill>
        <p:spPr>
          <a:xfrm>
            <a:off x="5505785" y="2073859"/>
            <a:ext cx="332842" cy="332842"/>
          </a:xfrm>
          <a:prstGeom prst="rect">
            <a:avLst/>
          </a:prstGeom>
        </p:spPr>
      </p:pic>
      <p:sp>
        <p:nvSpPr>
          <p:cNvPr id="25" name="Text 20"/>
          <p:cNvSpPr txBox="1"/>
          <p:nvPr/>
        </p:nvSpPr>
        <p:spPr>
          <a:xfrm>
            <a:off x="6199449" y="1920240"/>
            <a:ext cx="640080" cy="640080"/>
          </a:xfrm>
          <a:prstGeom prst="rect">
            <a:avLst/>
          </a:prstGeom>
          <a:noFill/>
          <a:ln/>
        </p:spPr>
        <p:txBody>
          <a:bodyPr wrap="square" lIns="0" tIns="0" rIns="0" bIns="0" rtlCol="0" anchor="ctr"/>
          <a:lstStyle/>
          <a:p>
            <a:pPr algn="r" indent="0" marL="0">
              <a:buNone/>
            </a:pPr>
            <a:r>
              <a:rPr lang="en-US" sz="2600" b="1" dirty="0">
                <a:solidFill>
                  <a:srgbClr val="C8742B"/>
                </a:solidFill>
                <a:latin typeface="Calibri" pitchFamily="34" charset="0"/>
                <a:ea typeface="Calibri" pitchFamily="34" charset="-122"/>
                <a:cs typeface="Calibri" pitchFamily="34" charset="-120"/>
              </a:rPr>
              <a:t>03</a:t>
            </a:r>
            <a:endParaRPr lang="en-US" sz="2600" dirty="0"/>
          </a:p>
        </p:txBody>
      </p:sp>
      <p:sp>
        <p:nvSpPr>
          <p:cNvPr id="26" name="Text 21"/>
          <p:cNvSpPr txBox="1"/>
          <p:nvPr/>
        </p:nvSpPr>
        <p:spPr>
          <a:xfrm>
            <a:off x="5352166" y="2834640"/>
            <a:ext cx="1487363" cy="123444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Beritahu semua kos awal.</a:t>
            </a:r>
            <a:endParaRPr lang="en-US" sz="1900" dirty="0"/>
          </a:p>
        </p:txBody>
      </p:sp>
      <p:sp>
        <p:nvSpPr>
          <p:cNvPr id="27" name="Shape 22"/>
          <p:cNvSpPr/>
          <p:nvPr/>
        </p:nvSpPr>
        <p:spPr>
          <a:xfrm>
            <a:off x="5352166" y="4206240"/>
            <a:ext cx="1487363" cy="0"/>
          </a:xfrm>
          <a:prstGeom prst="line">
            <a:avLst/>
          </a:prstGeom>
          <a:noFill/>
          <a:ln w="9525">
            <a:solidFill>
              <a:srgbClr val="D8E0EA"/>
            </a:solidFill>
            <a:prstDash val="solid"/>
          </a:ln>
        </p:spPr>
      </p:sp>
      <p:sp>
        <p:nvSpPr>
          <p:cNvPr id="28" name="Text 23"/>
          <p:cNvSpPr txBox="1"/>
          <p:nvPr/>
        </p:nvSpPr>
        <p:spPr>
          <a:xfrm>
            <a:off x="5352166" y="4389120"/>
            <a:ext cx="1487363" cy="146304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SST dan upfront RM100 sebelum daftar, bukan selepas.</a:t>
            </a:r>
            <a:endParaRPr lang="en-US" sz="1400" dirty="0"/>
          </a:p>
        </p:txBody>
      </p:sp>
      <p:sp>
        <p:nvSpPr>
          <p:cNvPr id="29" name="Shape 24"/>
          <p:cNvSpPr/>
          <p:nvPr/>
        </p:nvSpPr>
        <p:spPr>
          <a:xfrm>
            <a:off x="7342449" y="1600200"/>
            <a:ext cx="2036003" cy="4526280"/>
          </a:xfrm>
          <a:prstGeom prst="roundRect">
            <a:avLst>
              <a:gd name="adj" fmla="val 359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0" name="Shape 25"/>
          <p:cNvSpPr/>
          <p:nvPr/>
        </p:nvSpPr>
        <p:spPr>
          <a:xfrm>
            <a:off x="7616769" y="1920240"/>
            <a:ext cx="640080" cy="640080"/>
          </a:xfrm>
          <a:prstGeom prst="roundRect">
            <a:avLst>
              <a:gd name="adj" fmla="val 22000"/>
            </a:avLst>
          </a:prstGeom>
          <a:solidFill>
            <a:srgbClr val="0B1F3A"/>
          </a:solidFill>
          <a:ln w="12700">
            <a:solidFill>
              <a:srgbClr val="0B1F3A"/>
            </a:solidFill>
            <a:prstDash val="solid"/>
          </a:ln>
        </p:spPr>
      </p:sp>
      <p:pic>
        <p:nvPicPr>
          <p:cNvPr id="31" name="Image 3" descr="preencoded.png">    </p:cNvPr>
          <p:cNvPicPr>
            <a:picLocks noChangeAspect="1"/>
          </p:cNvPicPr>
          <p:nvPr/>
        </p:nvPicPr>
        <p:blipFill>
          <a:blip r:embed="rId4"/>
          <a:stretch>
            <a:fillRect/>
          </a:stretch>
        </p:blipFill>
        <p:spPr>
          <a:xfrm>
            <a:off x="7770388" y="2073859"/>
            <a:ext cx="332842" cy="332842"/>
          </a:xfrm>
          <a:prstGeom prst="rect">
            <a:avLst/>
          </a:prstGeom>
        </p:spPr>
      </p:pic>
      <p:sp>
        <p:nvSpPr>
          <p:cNvPr id="32" name="Text 26"/>
          <p:cNvSpPr txBox="1"/>
          <p:nvPr/>
        </p:nvSpPr>
        <p:spPr>
          <a:xfrm>
            <a:off x="8464052" y="1920240"/>
            <a:ext cx="640080" cy="640080"/>
          </a:xfrm>
          <a:prstGeom prst="rect">
            <a:avLst/>
          </a:prstGeom>
          <a:noFill/>
          <a:ln/>
        </p:spPr>
        <p:txBody>
          <a:bodyPr wrap="square" lIns="0" tIns="0" rIns="0" bIns="0" rtlCol="0" anchor="ctr"/>
          <a:lstStyle/>
          <a:p>
            <a:pPr algn="r" indent="0" marL="0">
              <a:buNone/>
            </a:pPr>
            <a:r>
              <a:rPr lang="en-US" sz="2600" b="1" dirty="0">
                <a:solidFill>
                  <a:srgbClr val="C8742B"/>
                </a:solidFill>
                <a:latin typeface="Calibri" pitchFamily="34" charset="0"/>
                <a:ea typeface="Calibri" pitchFamily="34" charset="-122"/>
                <a:cs typeface="Calibri" pitchFamily="34" charset="-120"/>
              </a:rPr>
              <a:t>04</a:t>
            </a:r>
            <a:endParaRPr lang="en-US" sz="2600" dirty="0"/>
          </a:p>
        </p:txBody>
      </p:sp>
      <p:sp>
        <p:nvSpPr>
          <p:cNvPr id="33" name="Text 27"/>
          <p:cNvSpPr txBox="1"/>
          <p:nvPr/>
        </p:nvSpPr>
        <p:spPr>
          <a:xfrm>
            <a:off x="7616769" y="2834640"/>
            <a:ext cx="1487363" cy="123444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Cadang pakej ikut cara guna.</a:t>
            </a:r>
            <a:endParaRPr lang="en-US" sz="1900" dirty="0"/>
          </a:p>
        </p:txBody>
      </p:sp>
      <p:sp>
        <p:nvSpPr>
          <p:cNvPr id="34" name="Shape 28"/>
          <p:cNvSpPr/>
          <p:nvPr/>
        </p:nvSpPr>
        <p:spPr>
          <a:xfrm>
            <a:off x="7616769" y="4206240"/>
            <a:ext cx="1487363" cy="0"/>
          </a:xfrm>
          <a:prstGeom prst="line">
            <a:avLst/>
          </a:prstGeom>
          <a:noFill/>
          <a:ln w="9525">
            <a:solidFill>
              <a:srgbClr val="D8E0EA"/>
            </a:solidFill>
            <a:prstDash val="solid"/>
          </a:ln>
        </p:spPr>
      </p:sp>
      <p:sp>
        <p:nvSpPr>
          <p:cNvPr id="35" name="Text 29"/>
          <p:cNvSpPr txBox="1"/>
          <p:nvPr/>
        </p:nvSpPr>
        <p:spPr>
          <a:xfrm>
            <a:off x="7616769" y="4389120"/>
            <a:ext cx="1487363" cy="146304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Bukan kira device. Jujur, jangan paksa.</a:t>
            </a:r>
            <a:endParaRPr lang="en-US" sz="1400" dirty="0"/>
          </a:p>
        </p:txBody>
      </p:sp>
      <p:sp>
        <p:nvSpPr>
          <p:cNvPr id="36" name="Shape 30"/>
          <p:cNvSpPr/>
          <p:nvPr/>
        </p:nvSpPr>
        <p:spPr>
          <a:xfrm>
            <a:off x="9607052" y="1600200"/>
            <a:ext cx="2036003" cy="4526280"/>
          </a:xfrm>
          <a:prstGeom prst="roundRect">
            <a:avLst>
              <a:gd name="adj" fmla="val 359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7" name="Shape 31"/>
          <p:cNvSpPr/>
          <p:nvPr/>
        </p:nvSpPr>
        <p:spPr>
          <a:xfrm>
            <a:off x="9881372" y="1920240"/>
            <a:ext cx="640080" cy="640080"/>
          </a:xfrm>
          <a:prstGeom prst="roundRect">
            <a:avLst>
              <a:gd name="adj" fmla="val 22000"/>
            </a:avLst>
          </a:prstGeom>
          <a:solidFill>
            <a:srgbClr val="0B1F3A"/>
          </a:solidFill>
          <a:ln w="12700">
            <a:solidFill>
              <a:srgbClr val="0B1F3A"/>
            </a:solidFill>
            <a:prstDash val="solid"/>
          </a:ln>
        </p:spPr>
      </p:sp>
      <p:pic>
        <p:nvPicPr>
          <p:cNvPr id="38" name="Image 4" descr="preencoded.png">    </p:cNvPr>
          <p:cNvPicPr>
            <a:picLocks noChangeAspect="1"/>
          </p:cNvPicPr>
          <p:nvPr/>
        </p:nvPicPr>
        <p:blipFill>
          <a:blip r:embed="rId5"/>
          <a:stretch>
            <a:fillRect/>
          </a:stretch>
        </p:blipFill>
        <p:spPr>
          <a:xfrm>
            <a:off x="10034991" y="2073859"/>
            <a:ext cx="332842" cy="332842"/>
          </a:xfrm>
          <a:prstGeom prst="rect">
            <a:avLst/>
          </a:prstGeom>
        </p:spPr>
      </p:pic>
      <p:sp>
        <p:nvSpPr>
          <p:cNvPr id="39" name="Text 32"/>
          <p:cNvSpPr txBox="1"/>
          <p:nvPr/>
        </p:nvSpPr>
        <p:spPr>
          <a:xfrm>
            <a:off x="10728655" y="1920240"/>
            <a:ext cx="640080" cy="640080"/>
          </a:xfrm>
          <a:prstGeom prst="rect">
            <a:avLst/>
          </a:prstGeom>
          <a:noFill/>
          <a:ln/>
        </p:spPr>
        <p:txBody>
          <a:bodyPr wrap="square" lIns="0" tIns="0" rIns="0" bIns="0" rtlCol="0" anchor="ctr"/>
          <a:lstStyle/>
          <a:p>
            <a:pPr algn="r" indent="0" marL="0">
              <a:buNone/>
            </a:pPr>
            <a:r>
              <a:rPr lang="en-US" sz="2600" b="1" dirty="0">
                <a:solidFill>
                  <a:srgbClr val="C8742B"/>
                </a:solidFill>
                <a:latin typeface="Calibri" pitchFamily="34" charset="0"/>
                <a:ea typeface="Calibri" pitchFamily="34" charset="-122"/>
                <a:cs typeface="Calibri" pitchFamily="34" charset="-120"/>
              </a:rPr>
              <a:t>05</a:t>
            </a:r>
            <a:endParaRPr lang="en-US" sz="2600" dirty="0"/>
          </a:p>
        </p:txBody>
      </p:sp>
      <p:sp>
        <p:nvSpPr>
          <p:cNvPr id="40" name="Text 33"/>
          <p:cNvSpPr txBox="1"/>
          <p:nvPr/>
        </p:nvSpPr>
        <p:spPr>
          <a:xfrm>
            <a:off x="9881372" y="2834640"/>
            <a:ext cx="1487363" cy="123444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Jangan rendahkan offer atau TM.</a:t>
            </a:r>
            <a:endParaRPr lang="en-US" sz="1900" dirty="0"/>
          </a:p>
        </p:txBody>
      </p:sp>
      <p:sp>
        <p:nvSpPr>
          <p:cNvPr id="41" name="Shape 34"/>
          <p:cNvSpPr/>
          <p:nvPr/>
        </p:nvSpPr>
        <p:spPr>
          <a:xfrm>
            <a:off x="9881372" y="4206240"/>
            <a:ext cx="1487363" cy="0"/>
          </a:xfrm>
          <a:prstGeom prst="line">
            <a:avLst/>
          </a:prstGeom>
          <a:noFill/>
          <a:ln w="9525">
            <a:solidFill>
              <a:srgbClr val="D8E0EA"/>
            </a:solidFill>
            <a:prstDash val="solid"/>
          </a:ln>
        </p:spPr>
      </p:sp>
      <p:sp>
        <p:nvSpPr>
          <p:cNvPr id="42" name="Text 35"/>
          <p:cNvSpPr txBox="1"/>
          <p:nvPr/>
        </p:nvSpPr>
        <p:spPr>
          <a:xfrm>
            <a:off x="9881372" y="4389120"/>
            <a:ext cx="1487363" cy="146304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Walaupun customer keliru, terangkan dengan tenang.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Setiap jualan melalui 10 langkah yang sama</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07</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777240" y="1828800"/>
            <a:ext cx="502920" cy="50292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897941" y="1949501"/>
            <a:ext cx="261518" cy="261518"/>
          </a:xfrm>
          <a:prstGeom prst="rect">
            <a:avLst/>
          </a:prstGeom>
        </p:spPr>
      </p:pic>
      <p:sp>
        <p:nvSpPr>
          <p:cNvPr id="11" name="Text 8"/>
          <p:cNvSpPr txBox="1"/>
          <p:nvPr/>
        </p:nvSpPr>
        <p:spPr>
          <a:xfrm>
            <a:off x="1715963" y="182880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01</a:t>
            </a:r>
            <a:endParaRPr lang="en-US" sz="2200" dirty="0"/>
          </a:p>
        </p:txBody>
      </p:sp>
      <p:sp>
        <p:nvSpPr>
          <p:cNvPr id="12" name="Text 9"/>
          <p:cNvSpPr txBox="1"/>
          <p:nvPr/>
        </p:nvSpPr>
        <p:spPr>
          <a:xfrm>
            <a:off x="777240" y="251460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Mesej pertama</a:t>
            </a:r>
            <a:endParaRPr lang="en-US" sz="1700" dirty="0"/>
          </a:p>
        </p:txBody>
      </p:sp>
      <p:sp>
        <p:nvSpPr>
          <p:cNvPr id="13" name="Shape 10"/>
          <p:cNvSpPr/>
          <p:nvPr/>
        </p:nvSpPr>
        <p:spPr>
          <a:xfrm>
            <a:off x="2813243" y="160020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4" name="Shape 11"/>
          <p:cNvSpPr/>
          <p:nvPr/>
        </p:nvSpPr>
        <p:spPr>
          <a:xfrm>
            <a:off x="3041843" y="1828800"/>
            <a:ext cx="502920" cy="502920"/>
          </a:xfrm>
          <a:prstGeom prst="roundRect">
            <a:avLst>
              <a:gd name="adj" fmla="val 22000"/>
            </a:avLst>
          </a:prstGeom>
          <a:solidFill>
            <a:srgbClr val="0B1F3A"/>
          </a:solidFill>
          <a:ln w="12700">
            <a:solidFill>
              <a:srgbClr val="0B1F3A"/>
            </a:solidFill>
            <a:prstDash val="solid"/>
          </a:ln>
        </p:spPr>
      </p:sp>
      <p:pic>
        <p:nvPicPr>
          <p:cNvPr id="15" name="Image 1" descr="preencoded.png">    </p:cNvPr>
          <p:cNvPicPr>
            <a:picLocks noChangeAspect="1"/>
          </p:cNvPicPr>
          <p:nvPr/>
        </p:nvPicPr>
        <p:blipFill>
          <a:blip r:embed="rId2"/>
          <a:stretch>
            <a:fillRect/>
          </a:stretch>
        </p:blipFill>
        <p:spPr>
          <a:xfrm>
            <a:off x="3162544" y="1949501"/>
            <a:ext cx="261518" cy="261518"/>
          </a:xfrm>
          <a:prstGeom prst="rect">
            <a:avLst/>
          </a:prstGeom>
        </p:spPr>
      </p:pic>
      <p:sp>
        <p:nvSpPr>
          <p:cNvPr id="16" name="Text 12"/>
          <p:cNvSpPr txBox="1"/>
          <p:nvPr/>
        </p:nvSpPr>
        <p:spPr>
          <a:xfrm>
            <a:off x="3980566" y="182880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02</a:t>
            </a:r>
            <a:endParaRPr lang="en-US" sz="2200" dirty="0"/>
          </a:p>
        </p:txBody>
      </p:sp>
      <p:sp>
        <p:nvSpPr>
          <p:cNvPr id="17" name="Text 13"/>
          <p:cNvSpPr txBox="1"/>
          <p:nvPr/>
        </p:nvSpPr>
        <p:spPr>
          <a:xfrm>
            <a:off x="3041843" y="251460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Semak coverage</a:t>
            </a:r>
            <a:endParaRPr lang="en-US" sz="1700" dirty="0"/>
          </a:p>
        </p:txBody>
      </p:sp>
      <p:sp>
        <p:nvSpPr>
          <p:cNvPr id="18" name="Shape 14"/>
          <p:cNvSpPr/>
          <p:nvPr/>
        </p:nvSpPr>
        <p:spPr>
          <a:xfrm>
            <a:off x="5077846" y="160020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9" name="Shape 15"/>
          <p:cNvSpPr/>
          <p:nvPr/>
        </p:nvSpPr>
        <p:spPr>
          <a:xfrm>
            <a:off x="5306446" y="1828800"/>
            <a:ext cx="502920" cy="502920"/>
          </a:xfrm>
          <a:prstGeom prst="roundRect">
            <a:avLst>
              <a:gd name="adj" fmla="val 22000"/>
            </a:avLst>
          </a:prstGeom>
          <a:solidFill>
            <a:srgbClr val="0B1F3A"/>
          </a:solidFill>
          <a:ln w="12700">
            <a:solidFill>
              <a:srgbClr val="0B1F3A"/>
            </a:solidFill>
            <a:prstDash val="solid"/>
          </a:ln>
        </p:spPr>
      </p:sp>
      <p:pic>
        <p:nvPicPr>
          <p:cNvPr id="20" name="Image 2" descr="preencoded.png">    </p:cNvPr>
          <p:cNvPicPr>
            <a:picLocks noChangeAspect="1"/>
          </p:cNvPicPr>
          <p:nvPr/>
        </p:nvPicPr>
        <p:blipFill>
          <a:blip r:embed="rId3"/>
          <a:stretch>
            <a:fillRect/>
          </a:stretch>
        </p:blipFill>
        <p:spPr>
          <a:xfrm>
            <a:off x="5427147" y="1949501"/>
            <a:ext cx="261518" cy="261518"/>
          </a:xfrm>
          <a:prstGeom prst="rect">
            <a:avLst/>
          </a:prstGeom>
        </p:spPr>
      </p:pic>
      <p:sp>
        <p:nvSpPr>
          <p:cNvPr id="21" name="Text 16"/>
          <p:cNvSpPr txBox="1"/>
          <p:nvPr/>
        </p:nvSpPr>
        <p:spPr>
          <a:xfrm>
            <a:off x="6245169" y="182880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03</a:t>
            </a:r>
            <a:endParaRPr lang="en-US" sz="2200" dirty="0"/>
          </a:p>
        </p:txBody>
      </p:sp>
      <p:sp>
        <p:nvSpPr>
          <p:cNvPr id="22" name="Text 17"/>
          <p:cNvSpPr txBox="1"/>
          <p:nvPr/>
        </p:nvSpPr>
        <p:spPr>
          <a:xfrm>
            <a:off x="5306446" y="251460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Cadang pakej</a:t>
            </a:r>
            <a:endParaRPr lang="en-US" sz="1700" dirty="0"/>
          </a:p>
        </p:txBody>
      </p:sp>
      <p:sp>
        <p:nvSpPr>
          <p:cNvPr id="23" name="Shape 18"/>
          <p:cNvSpPr/>
          <p:nvPr/>
        </p:nvSpPr>
        <p:spPr>
          <a:xfrm>
            <a:off x="7342449" y="1600200"/>
            <a:ext cx="2036003" cy="1645920"/>
          </a:xfrm>
          <a:prstGeom prst="roundRect">
            <a:avLst>
              <a:gd name="adj" fmla="val 4444"/>
            </a:avLst>
          </a:prstGeom>
          <a:solidFill>
            <a:srgbClr val="F7EADC"/>
          </a:solidFill>
          <a:ln w="12700">
            <a:solidFill>
              <a:srgbClr val="F7EADC"/>
            </a:solidFill>
            <a:prstDash val="solid"/>
          </a:ln>
        </p:spPr>
      </p:sp>
      <p:sp>
        <p:nvSpPr>
          <p:cNvPr id="24" name="Shape 19"/>
          <p:cNvSpPr/>
          <p:nvPr/>
        </p:nvSpPr>
        <p:spPr>
          <a:xfrm>
            <a:off x="7571049" y="1828800"/>
            <a:ext cx="502920" cy="502920"/>
          </a:xfrm>
          <a:prstGeom prst="roundRect">
            <a:avLst>
              <a:gd name="adj" fmla="val 22000"/>
            </a:avLst>
          </a:prstGeom>
          <a:solidFill>
            <a:srgbClr val="C8742B"/>
          </a:solidFill>
          <a:ln w="12700">
            <a:solidFill>
              <a:srgbClr val="C8742B"/>
            </a:solidFill>
            <a:prstDash val="solid"/>
          </a:ln>
        </p:spPr>
      </p:sp>
      <p:pic>
        <p:nvPicPr>
          <p:cNvPr id="25" name="Image 3" descr="preencoded.png">    </p:cNvPr>
          <p:cNvPicPr>
            <a:picLocks noChangeAspect="1"/>
          </p:cNvPicPr>
          <p:nvPr/>
        </p:nvPicPr>
        <p:blipFill>
          <a:blip r:embed="rId4"/>
          <a:stretch>
            <a:fillRect/>
          </a:stretch>
        </p:blipFill>
        <p:spPr>
          <a:xfrm>
            <a:off x="7691750" y="1949501"/>
            <a:ext cx="261518" cy="261518"/>
          </a:xfrm>
          <a:prstGeom prst="rect">
            <a:avLst/>
          </a:prstGeom>
        </p:spPr>
      </p:pic>
      <p:sp>
        <p:nvSpPr>
          <p:cNvPr id="26" name="Text 20"/>
          <p:cNvSpPr txBox="1"/>
          <p:nvPr/>
        </p:nvSpPr>
        <p:spPr>
          <a:xfrm>
            <a:off x="8509772" y="1828800"/>
            <a:ext cx="640080" cy="502920"/>
          </a:xfrm>
          <a:prstGeom prst="rect">
            <a:avLst/>
          </a:prstGeom>
          <a:noFill/>
          <a:ln/>
        </p:spPr>
        <p:txBody>
          <a:bodyPr wrap="square" lIns="0" tIns="0" rIns="0" bIns="0" rtlCol="0" anchor="ctr"/>
          <a:lstStyle/>
          <a:p>
            <a:pPr algn="r" indent="0" marL="0">
              <a:buNone/>
            </a:pPr>
            <a:r>
              <a:rPr lang="en-US" sz="2200" b="1" dirty="0">
                <a:solidFill>
                  <a:srgbClr val="C8742B"/>
                </a:solidFill>
                <a:latin typeface="Calibri" pitchFamily="34" charset="0"/>
                <a:ea typeface="Calibri" pitchFamily="34" charset="-122"/>
                <a:cs typeface="Calibri" pitchFamily="34" charset="-120"/>
              </a:rPr>
              <a:t>04</a:t>
            </a:r>
            <a:endParaRPr lang="en-US" sz="2200" dirty="0"/>
          </a:p>
        </p:txBody>
      </p:sp>
      <p:sp>
        <p:nvSpPr>
          <p:cNvPr id="27" name="Text 21"/>
          <p:cNvSpPr txBox="1"/>
          <p:nvPr/>
        </p:nvSpPr>
        <p:spPr>
          <a:xfrm>
            <a:off x="7571049" y="251460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Terang semua kos</a:t>
            </a:r>
            <a:endParaRPr lang="en-US" sz="1700" dirty="0"/>
          </a:p>
        </p:txBody>
      </p:sp>
      <p:sp>
        <p:nvSpPr>
          <p:cNvPr id="28" name="Shape 22"/>
          <p:cNvSpPr/>
          <p:nvPr/>
        </p:nvSpPr>
        <p:spPr>
          <a:xfrm>
            <a:off x="9607052" y="160020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9" name="Shape 23"/>
          <p:cNvSpPr/>
          <p:nvPr/>
        </p:nvSpPr>
        <p:spPr>
          <a:xfrm>
            <a:off x="9835652" y="1828800"/>
            <a:ext cx="502920" cy="502920"/>
          </a:xfrm>
          <a:prstGeom prst="roundRect">
            <a:avLst>
              <a:gd name="adj" fmla="val 22000"/>
            </a:avLst>
          </a:prstGeom>
          <a:solidFill>
            <a:srgbClr val="0B1F3A"/>
          </a:solidFill>
          <a:ln w="12700">
            <a:solidFill>
              <a:srgbClr val="0B1F3A"/>
            </a:solidFill>
            <a:prstDash val="solid"/>
          </a:ln>
        </p:spPr>
      </p:sp>
      <p:pic>
        <p:nvPicPr>
          <p:cNvPr id="30" name="Image 4" descr="preencoded.png">    </p:cNvPr>
          <p:cNvPicPr>
            <a:picLocks noChangeAspect="1"/>
          </p:cNvPicPr>
          <p:nvPr/>
        </p:nvPicPr>
        <p:blipFill>
          <a:blip r:embed="rId5"/>
          <a:stretch>
            <a:fillRect/>
          </a:stretch>
        </p:blipFill>
        <p:spPr>
          <a:xfrm>
            <a:off x="9956353" y="1949501"/>
            <a:ext cx="261518" cy="261518"/>
          </a:xfrm>
          <a:prstGeom prst="rect">
            <a:avLst/>
          </a:prstGeom>
        </p:spPr>
      </p:pic>
      <p:sp>
        <p:nvSpPr>
          <p:cNvPr id="31" name="Text 24"/>
          <p:cNvSpPr txBox="1"/>
          <p:nvPr/>
        </p:nvSpPr>
        <p:spPr>
          <a:xfrm>
            <a:off x="10774375" y="182880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05</a:t>
            </a:r>
            <a:endParaRPr lang="en-US" sz="2200" dirty="0"/>
          </a:p>
        </p:txBody>
      </p:sp>
      <p:sp>
        <p:nvSpPr>
          <p:cNvPr id="32" name="Text 25"/>
          <p:cNvSpPr txBox="1"/>
          <p:nvPr/>
        </p:nvSpPr>
        <p:spPr>
          <a:xfrm>
            <a:off x="9835652" y="251460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Closing</a:t>
            </a:r>
            <a:endParaRPr lang="en-US" sz="1700" dirty="0"/>
          </a:p>
        </p:txBody>
      </p:sp>
      <p:sp>
        <p:nvSpPr>
          <p:cNvPr id="33" name="Shape 26"/>
          <p:cNvSpPr/>
          <p:nvPr/>
        </p:nvSpPr>
        <p:spPr>
          <a:xfrm>
            <a:off x="548640" y="347472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4" name="Shape 27"/>
          <p:cNvSpPr/>
          <p:nvPr/>
        </p:nvSpPr>
        <p:spPr>
          <a:xfrm>
            <a:off x="777240" y="3703320"/>
            <a:ext cx="502920" cy="502920"/>
          </a:xfrm>
          <a:prstGeom prst="roundRect">
            <a:avLst>
              <a:gd name="adj" fmla="val 22000"/>
            </a:avLst>
          </a:prstGeom>
          <a:solidFill>
            <a:srgbClr val="0B1F3A"/>
          </a:solidFill>
          <a:ln w="12700">
            <a:solidFill>
              <a:srgbClr val="0B1F3A"/>
            </a:solidFill>
            <a:prstDash val="solid"/>
          </a:ln>
        </p:spPr>
      </p:sp>
      <p:pic>
        <p:nvPicPr>
          <p:cNvPr id="35" name="Image 5" descr="preencoded.png">    </p:cNvPr>
          <p:cNvPicPr>
            <a:picLocks noChangeAspect="1"/>
          </p:cNvPicPr>
          <p:nvPr/>
        </p:nvPicPr>
        <p:blipFill>
          <a:blip r:embed="rId6"/>
          <a:stretch>
            <a:fillRect/>
          </a:stretch>
        </p:blipFill>
        <p:spPr>
          <a:xfrm>
            <a:off x="897941" y="3824021"/>
            <a:ext cx="261518" cy="261518"/>
          </a:xfrm>
          <a:prstGeom prst="rect">
            <a:avLst/>
          </a:prstGeom>
        </p:spPr>
      </p:pic>
      <p:sp>
        <p:nvSpPr>
          <p:cNvPr id="36" name="Text 28"/>
          <p:cNvSpPr txBox="1"/>
          <p:nvPr/>
        </p:nvSpPr>
        <p:spPr>
          <a:xfrm>
            <a:off x="1715963" y="370332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06</a:t>
            </a:r>
            <a:endParaRPr lang="en-US" sz="2200" dirty="0"/>
          </a:p>
        </p:txBody>
      </p:sp>
      <p:sp>
        <p:nvSpPr>
          <p:cNvPr id="37" name="Text 29"/>
          <p:cNvSpPr txBox="1"/>
          <p:nvPr/>
        </p:nvSpPr>
        <p:spPr>
          <a:xfrm>
            <a:off x="777240" y="438912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Kumpul dokumen</a:t>
            </a:r>
            <a:endParaRPr lang="en-US" sz="1700" dirty="0"/>
          </a:p>
        </p:txBody>
      </p:sp>
      <p:sp>
        <p:nvSpPr>
          <p:cNvPr id="38" name="Shape 30"/>
          <p:cNvSpPr/>
          <p:nvPr/>
        </p:nvSpPr>
        <p:spPr>
          <a:xfrm>
            <a:off x="2813243" y="3474720"/>
            <a:ext cx="2036003"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9" name="Shape 31"/>
          <p:cNvSpPr/>
          <p:nvPr/>
        </p:nvSpPr>
        <p:spPr>
          <a:xfrm>
            <a:off x="3041843" y="3703320"/>
            <a:ext cx="502920" cy="502920"/>
          </a:xfrm>
          <a:prstGeom prst="roundRect">
            <a:avLst>
              <a:gd name="adj" fmla="val 22000"/>
            </a:avLst>
          </a:prstGeom>
          <a:solidFill>
            <a:srgbClr val="0B1F3A"/>
          </a:solidFill>
          <a:ln w="12700">
            <a:solidFill>
              <a:srgbClr val="0B1F3A"/>
            </a:solidFill>
            <a:prstDash val="solid"/>
          </a:ln>
        </p:spPr>
      </p:sp>
      <p:pic>
        <p:nvPicPr>
          <p:cNvPr id="40" name="Image 6" descr="preencoded.png">    </p:cNvPr>
          <p:cNvPicPr>
            <a:picLocks noChangeAspect="1"/>
          </p:cNvPicPr>
          <p:nvPr/>
        </p:nvPicPr>
        <p:blipFill>
          <a:blip r:embed="rId7"/>
          <a:stretch>
            <a:fillRect/>
          </a:stretch>
        </p:blipFill>
        <p:spPr>
          <a:xfrm>
            <a:off x="3162544" y="3824021"/>
            <a:ext cx="261518" cy="261518"/>
          </a:xfrm>
          <a:prstGeom prst="rect">
            <a:avLst/>
          </a:prstGeom>
        </p:spPr>
      </p:pic>
      <p:sp>
        <p:nvSpPr>
          <p:cNvPr id="41" name="Text 32"/>
          <p:cNvSpPr txBox="1"/>
          <p:nvPr/>
        </p:nvSpPr>
        <p:spPr>
          <a:xfrm>
            <a:off x="3980566" y="3703320"/>
            <a:ext cx="640080" cy="502920"/>
          </a:xfrm>
          <a:prstGeom prst="rect">
            <a:avLst/>
          </a:prstGeom>
          <a:noFill/>
          <a:ln/>
        </p:spPr>
        <p:txBody>
          <a:bodyPr wrap="square" lIns="0" tIns="0" rIns="0" bIns="0" rtlCol="0" anchor="ctr"/>
          <a:lstStyle/>
          <a:p>
            <a:pPr algn="r" indent="0" marL="0">
              <a:buNone/>
            </a:pPr>
            <a:r>
              <a:rPr lang="en-US" sz="2200" b="1" dirty="0">
                <a:solidFill>
                  <a:srgbClr val="C3CDD9"/>
                </a:solidFill>
                <a:latin typeface="Calibri" pitchFamily="34" charset="0"/>
                <a:ea typeface="Calibri" pitchFamily="34" charset="-122"/>
                <a:cs typeface="Calibri" pitchFamily="34" charset="-120"/>
              </a:rPr>
              <a:t>07</a:t>
            </a:r>
            <a:endParaRPr lang="en-US" sz="2200" dirty="0"/>
          </a:p>
        </p:txBody>
      </p:sp>
      <p:sp>
        <p:nvSpPr>
          <p:cNvPr id="42" name="Text 33"/>
          <p:cNvSpPr txBox="1"/>
          <p:nvPr/>
        </p:nvSpPr>
        <p:spPr>
          <a:xfrm>
            <a:off x="3041843" y="438912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Sahkan slot</a:t>
            </a:r>
            <a:endParaRPr lang="en-US" sz="1700" dirty="0"/>
          </a:p>
        </p:txBody>
      </p:sp>
      <p:sp>
        <p:nvSpPr>
          <p:cNvPr id="43" name="Shape 34"/>
          <p:cNvSpPr/>
          <p:nvPr/>
        </p:nvSpPr>
        <p:spPr>
          <a:xfrm>
            <a:off x="5077846" y="3474720"/>
            <a:ext cx="2036003" cy="1645920"/>
          </a:xfrm>
          <a:prstGeom prst="roundRect">
            <a:avLst>
              <a:gd name="adj" fmla="val 4444"/>
            </a:avLst>
          </a:prstGeom>
          <a:solidFill>
            <a:srgbClr val="F7EADC"/>
          </a:solidFill>
          <a:ln w="12700">
            <a:solidFill>
              <a:srgbClr val="F7EADC"/>
            </a:solidFill>
            <a:prstDash val="solid"/>
          </a:ln>
        </p:spPr>
      </p:sp>
      <p:sp>
        <p:nvSpPr>
          <p:cNvPr id="44" name="Shape 35"/>
          <p:cNvSpPr/>
          <p:nvPr/>
        </p:nvSpPr>
        <p:spPr>
          <a:xfrm>
            <a:off x="5306446" y="3703320"/>
            <a:ext cx="502920" cy="502920"/>
          </a:xfrm>
          <a:prstGeom prst="roundRect">
            <a:avLst>
              <a:gd name="adj" fmla="val 22000"/>
            </a:avLst>
          </a:prstGeom>
          <a:solidFill>
            <a:srgbClr val="C8742B"/>
          </a:solidFill>
          <a:ln w="12700">
            <a:solidFill>
              <a:srgbClr val="C8742B"/>
            </a:solidFill>
            <a:prstDash val="solid"/>
          </a:ln>
        </p:spPr>
      </p:sp>
      <p:pic>
        <p:nvPicPr>
          <p:cNvPr id="45" name="Image 7" descr="preencoded.png">    </p:cNvPr>
          <p:cNvPicPr>
            <a:picLocks noChangeAspect="1"/>
          </p:cNvPicPr>
          <p:nvPr/>
        </p:nvPicPr>
        <p:blipFill>
          <a:blip r:embed="rId8"/>
          <a:stretch>
            <a:fillRect/>
          </a:stretch>
        </p:blipFill>
        <p:spPr>
          <a:xfrm>
            <a:off x="5427147" y="3824021"/>
            <a:ext cx="261518" cy="261518"/>
          </a:xfrm>
          <a:prstGeom prst="rect">
            <a:avLst/>
          </a:prstGeom>
        </p:spPr>
      </p:pic>
      <p:sp>
        <p:nvSpPr>
          <p:cNvPr id="46" name="Text 36"/>
          <p:cNvSpPr txBox="1"/>
          <p:nvPr/>
        </p:nvSpPr>
        <p:spPr>
          <a:xfrm>
            <a:off x="6245169" y="3703320"/>
            <a:ext cx="640080" cy="502920"/>
          </a:xfrm>
          <a:prstGeom prst="rect">
            <a:avLst/>
          </a:prstGeom>
          <a:noFill/>
          <a:ln/>
        </p:spPr>
        <p:txBody>
          <a:bodyPr wrap="square" lIns="0" tIns="0" rIns="0" bIns="0" rtlCol="0" anchor="ctr"/>
          <a:lstStyle/>
          <a:p>
            <a:pPr algn="r" indent="0" marL="0">
              <a:buNone/>
            </a:pPr>
            <a:r>
              <a:rPr lang="en-US" sz="2200" b="1" dirty="0">
                <a:solidFill>
                  <a:srgbClr val="C8742B"/>
                </a:solidFill>
                <a:latin typeface="Calibri" pitchFamily="34" charset="0"/>
                <a:ea typeface="Calibri" pitchFamily="34" charset="-122"/>
                <a:cs typeface="Calibri" pitchFamily="34" charset="-120"/>
              </a:rPr>
              <a:t>08</a:t>
            </a:r>
            <a:endParaRPr lang="en-US" sz="2200" dirty="0"/>
          </a:p>
        </p:txBody>
      </p:sp>
      <p:sp>
        <p:nvSpPr>
          <p:cNvPr id="47" name="Text 37"/>
          <p:cNvSpPr txBox="1"/>
          <p:nvPr/>
        </p:nvSpPr>
        <p:spPr>
          <a:xfrm>
            <a:off x="5306446" y="438912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Hari pemasangan</a:t>
            </a:r>
            <a:endParaRPr lang="en-US" sz="1700" dirty="0"/>
          </a:p>
        </p:txBody>
      </p:sp>
      <p:sp>
        <p:nvSpPr>
          <p:cNvPr id="48" name="Shape 38"/>
          <p:cNvSpPr/>
          <p:nvPr/>
        </p:nvSpPr>
        <p:spPr>
          <a:xfrm>
            <a:off x="7342449" y="3474720"/>
            <a:ext cx="2036003" cy="1645920"/>
          </a:xfrm>
          <a:prstGeom prst="roundRect">
            <a:avLst>
              <a:gd name="adj" fmla="val 4444"/>
            </a:avLst>
          </a:prstGeom>
          <a:solidFill>
            <a:srgbClr val="F7EADC"/>
          </a:solidFill>
          <a:ln w="12700">
            <a:solidFill>
              <a:srgbClr val="F7EADC"/>
            </a:solidFill>
            <a:prstDash val="solid"/>
          </a:ln>
        </p:spPr>
      </p:sp>
      <p:sp>
        <p:nvSpPr>
          <p:cNvPr id="49" name="Shape 39"/>
          <p:cNvSpPr/>
          <p:nvPr/>
        </p:nvSpPr>
        <p:spPr>
          <a:xfrm>
            <a:off x="7571049" y="3703320"/>
            <a:ext cx="502920" cy="502920"/>
          </a:xfrm>
          <a:prstGeom prst="roundRect">
            <a:avLst>
              <a:gd name="adj" fmla="val 22000"/>
            </a:avLst>
          </a:prstGeom>
          <a:solidFill>
            <a:srgbClr val="C8742B"/>
          </a:solidFill>
          <a:ln w="12700">
            <a:solidFill>
              <a:srgbClr val="C8742B"/>
            </a:solidFill>
            <a:prstDash val="solid"/>
          </a:ln>
        </p:spPr>
      </p:sp>
      <p:pic>
        <p:nvPicPr>
          <p:cNvPr id="50" name="Image 8" descr="preencoded.png">    </p:cNvPr>
          <p:cNvPicPr>
            <a:picLocks noChangeAspect="1"/>
          </p:cNvPicPr>
          <p:nvPr/>
        </p:nvPicPr>
        <p:blipFill>
          <a:blip r:embed="rId9"/>
          <a:stretch>
            <a:fillRect/>
          </a:stretch>
        </p:blipFill>
        <p:spPr>
          <a:xfrm>
            <a:off x="7691750" y="3824021"/>
            <a:ext cx="261518" cy="261518"/>
          </a:xfrm>
          <a:prstGeom prst="rect">
            <a:avLst/>
          </a:prstGeom>
        </p:spPr>
      </p:pic>
      <p:sp>
        <p:nvSpPr>
          <p:cNvPr id="51" name="Text 40"/>
          <p:cNvSpPr txBox="1"/>
          <p:nvPr/>
        </p:nvSpPr>
        <p:spPr>
          <a:xfrm>
            <a:off x="8509772" y="3703320"/>
            <a:ext cx="640080" cy="502920"/>
          </a:xfrm>
          <a:prstGeom prst="rect">
            <a:avLst/>
          </a:prstGeom>
          <a:noFill/>
          <a:ln/>
        </p:spPr>
        <p:txBody>
          <a:bodyPr wrap="square" lIns="0" tIns="0" rIns="0" bIns="0" rtlCol="0" anchor="ctr"/>
          <a:lstStyle/>
          <a:p>
            <a:pPr algn="r" indent="0" marL="0">
              <a:buNone/>
            </a:pPr>
            <a:r>
              <a:rPr lang="en-US" sz="2200" b="1" dirty="0">
                <a:solidFill>
                  <a:srgbClr val="C8742B"/>
                </a:solidFill>
                <a:latin typeface="Calibri" pitchFamily="34" charset="0"/>
                <a:ea typeface="Calibri" pitchFamily="34" charset="-122"/>
                <a:cs typeface="Calibri" pitchFamily="34" charset="-120"/>
              </a:rPr>
              <a:t>09</a:t>
            </a:r>
            <a:endParaRPr lang="en-US" sz="2200" dirty="0"/>
          </a:p>
        </p:txBody>
      </p:sp>
      <p:sp>
        <p:nvSpPr>
          <p:cNvPr id="52" name="Text 41"/>
          <p:cNvSpPr txBox="1"/>
          <p:nvPr/>
        </p:nvSpPr>
        <p:spPr>
          <a:xfrm>
            <a:off x="7571049" y="438912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Semak 3–5 hari</a:t>
            </a:r>
            <a:endParaRPr lang="en-US" sz="1700" dirty="0"/>
          </a:p>
        </p:txBody>
      </p:sp>
      <p:sp>
        <p:nvSpPr>
          <p:cNvPr id="53" name="Shape 42"/>
          <p:cNvSpPr/>
          <p:nvPr/>
        </p:nvSpPr>
        <p:spPr>
          <a:xfrm>
            <a:off x="9607052" y="3474720"/>
            <a:ext cx="2036003" cy="1645920"/>
          </a:xfrm>
          <a:prstGeom prst="roundRect">
            <a:avLst>
              <a:gd name="adj" fmla="val 4444"/>
            </a:avLst>
          </a:prstGeom>
          <a:solidFill>
            <a:srgbClr val="F7EADC"/>
          </a:solidFill>
          <a:ln w="12700">
            <a:solidFill>
              <a:srgbClr val="F7EADC"/>
            </a:solidFill>
            <a:prstDash val="solid"/>
          </a:ln>
        </p:spPr>
      </p:sp>
      <p:sp>
        <p:nvSpPr>
          <p:cNvPr id="54" name="Shape 43"/>
          <p:cNvSpPr/>
          <p:nvPr/>
        </p:nvSpPr>
        <p:spPr>
          <a:xfrm>
            <a:off x="9835652" y="3703320"/>
            <a:ext cx="502920" cy="502920"/>
          </a:xfrm>
          <a:prstGeom prst="roundRect">
            <a:avLst>
              <a:gd name="adj" fmla="val 22000"/>
            </a:avLst>
          </a:prstGeom>
          <a:solidFill>
            <a:srgbClr val="C8742B"/>
          </a:solidFill>
          <a:ln w="12700">
            <a:solidFill>
              <a:srgbClr val="C8742B"/>
            </a:solidFill>
            <a:prstDash val="solid"/>
          </a:ln>
        </p:spPr>
      </p:sp>
      <p:pic>
        <p:nvPicPr>
          <p:cNvPr id="55" name="Image 9" descr="preencoded.png">    </p:cNvPr>
          <p:cNvPicPr>
            <a:picLocks noChangeAspect="1"/>
          </p:cNvPicPr>
          <p:nvPr/>
        </p:nvPicPr>
        <p:blipFill>
          <a:blip r:embed="rId10"/>
          <a:stretch>
            <a:fillRect/>
          </a:stretch>
        </p:blipFill>
        <p:spPr>
          <a:xfrm>
            <a:off x="9956353" y="3824021"/>
            <a:ext cx="261518" cy="261518"/>
          </a:xfrm>
          <a:prstGeom prst="rect">
            <a:avLst/>
          </a:prstGeom>
        </p:spPr>
      </p:pic>
      <p:sp>
        <p:nvSpPr>
          <p:cNvPr id="56" name="Text 44"/>
          <p:cNvSpPr txBox="1"/>
          <p:nvPr/>
        </p:nvSpPr>
        <p:spPr>
          <a:xfrm>
            <a:off x="10774375" y="3703320"/>
            <a:ext cx="640080" cy="502920"/>
          </a:xfrm>
          <a:prstGeom prst="rect">
            <a:avLst/>
          </a:prstGeom>
          <a:noFill/>
          <a:ln/>
        </p:spPr>
        <p:txBody>
          <a:bodyPr wrap="square" lIns="0" tIns="0" rIns="0" bIns="0" rtlCol="0" anchor="ctr"/>
          <a:lstStyle/>
          <a:p>
            <a:pPr algn="r" indent="0" marL="0">
              <a:buNone/>
            </a:pPr>
            <a:r>
              <a:rPr lang="en-US" sz="2200" b="1" dirty="0">
                <a:solidFill>
                  <a:srgbClr val="C8742B"/>
                </a:solidFill>
                <a:latin typeface="Calibri" pitchFamily="34" charset="0"/>
                <a:ea typeface="Calibri" pitchFamily="34" charset="-122"/>
                <a:cs typeface="Calibri" pitchFamily="34" charset="-120"/>
              </a:rPr>
              <a:t>10</a:t>
            </a:r>
            <a:endParaRPr lang="en-US" sz="2200" dirty="0"/>
          </a:p>
        </p:txBody>
      </p:sp>
      <p:sp>
        <p:nvSpPr>
          <p:cNvPr id="57" name="Text 45"/>
          <p:cNvSpPr txBox="1"/>
          <p:nvPr/>
        </p:nvSpPr>
        <p:spPr>
          <a:xfrm>
            <a:off x="9835652" y="4389120"/>
            <a:ext cx="1578803" cy="54864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Minta referral</a:t>
            </a:r>
            <a:endParaRPr lang="en-US" sz="1700" dirty="0"/>
          </a:p>
        </p:txBody>
      </p:sp>
      <p:sp>
        <p:nvSpPr>
          <p:cNvPr id="58" name="Shape 46"/>
          <p:cNvSpPr/>
          <p:nvPr/>
        </p:nvSpPr>
        <p:spPr>
          <a:xfrm>
            <a:off x="548640" y="5440680"/>
            <a:ext cx="11094415" cy="685800"/>
          </a:xfrm>
          <a:prstGeom prst="roundRect">
            <a:avLst>
              <a:gd name="adj" fmla="val 10667"/>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59" name="Shape 47"/>
          <p:cNvSpPr/>
          <p:nvPr/>
        </p:nvSpPr>
        <p:spPr>
          <a:xfrm>
            <a:off x="868680" y="5669280"/>
            <a:ext cx="228600" cy="228600"/>
          </a:xfrm>
          <a:prstGeom prst="roundRect">
            <a:avLst>
              <a:gd name="adj" fmla="val 16000"/>
            </a:avLst>
          </a:prstGeom>
          <a:solidFill>
            <a:srgbClr val="FFFFFF"/>
          </a:solidFill>
          <a:ln w="12700">
            <a:solidFill>
              <a:srgbClr val="C3CDD9"/>
            </a:solidFill>
            <a:prstDash val="solid"/>
          </a:ln>
        </p:spPr>
      </p:sp>
      <p:sp>
        <p:nvSpPr>
          <p:cNvPr id="60" name="Text 48"/>
          <p:cNvSpPr txBox="1"/>
          <p:nvPr/>
        </p:nvSpPr>
        <p:spPr>
          <a:xfrm>
            <a:off x="1207008" y="5623560"/>
            <a:ext cx="1828800" cy="320040"/>
          </a:xfrm>
          <a:prstGeom prst="rect">
            <a:avLst/>
          </a:prstGeom>
          <a:noFill/>
          <a:ln/>
        </p:spPr>
        <p:txBody>
          <a:bodyPr wrap="square" lIns="0" tIns="0" rIns="0" bIns="0" rtlCol="0" anchor="ctr"/>
          <a:lstStyle/>
          <a:p>
            <a:pPr indent="0" marL="0">
              <a:buNone/>
            </a:pPr>
            <a:r>
              <a:rPr lang="en-US" sz="1300" dirty="0">
                <a:solidFill>
                  <a:srgbClr val="1B2A3D"/>
                </a:solidFill>
                <a:latin typeface="Calibri" pitchFamily="34" charset="0"/>
                <a:ea typeface="Calibri" pitchFamily="34" charset="-122"/>
                <a:cs typeface="Calibri" pitchFamily="34" charset="-120"/>
              </a:rPr>
              <a:t>Sudah diamalkan</a:t>
            </a:r>
            <a:endParaRPr lang="en-US" sz="1300" dirty="0"/>
          </a:p>
        </p:txBody>
      </p:sp>
      <p:sp>
        <p:nvSpPr>
          <p:cNvPr id="61" name="Shape 49"/>
          <p:cNvSpPr/>
          <p:nvPr/>
        </p:nvSpPr>
        <p:spPr>
          <a:xfrm>
            <a:off x="3063240" y="5669280"/>
            <a:ext cx="228600" cy="228600"/>
          </a:xfrm>
          <a:prstGeom prst="roundRect">
            <a:avLst>
              <a:gd name="adj" fmla="val 16000"/>
            </a:avLst>
          </a:prstGeom>
          <a:solidFill>
            <a:srgbClr val="C8742B"/>
          </a:solidFill>
          <a:ln w="12700">
            <a:solidFill>
              <a:srgbClr val="C8742B"/>
            </a:solidFill>
            <a:prstDash val="solid"/>
          </a:ln>
        </p:spPr>
      </p:sp>
      <p:sp>
        <p:nvSpPr>
          <p:cNvPr id="62" name="Text 50"/>
          <p:cNvSpPr txBox="1"/>
          <p:nvPr/>
        </p:nvSpPr>
        <p:spPr>
          <a:xfrm>
            <a:off x="3401568" y="5623560"/>
            <a:ext cx="2743200" cy="320040"/>
          </a:xfrm>
          <a:prstGeom prst="rect">
            <a:avLst/>
          </a:prstGeom>
          <a:noFill/>
          <a:ln/>
        </p:spPr>
        <p:txBody>
          <a:bodyPr wrap="square" lIns="0" tIns="0" rIns="0" bIns="0" rtlCol="0" anchor="ctr"/>
          <a:lstStyle/>
          <a:p>
            <a:pPr indent="0" marL="0">
              <a:buNone/>
            </a:pPr>
            <a:r>
              <a:rPr lang="en-US" sz="1300" dirty="0">
                <a:solidFill>
                  <a:srgbClr val="1B2A3D"/>
                </a:solidFill>
                <a:latin typeface="Calibri" pitchFamily="34" charset="0"/>
                <a:ea typeface="Calibri" pitchFamily="34" charset="-122"/>
                <a:cs typeface="Calibri" pitchFamily="34" charset="-120"/>
              </a:rPr>
              <a:t>Baru atau sering terlepas</a:t>
            </a:r>
            <a:endParaRPr lang="en-US" sz="1300" dirty="0"/>
          </a:p>
        </p:txBody>
      </p:sp>
      <p:pic>
        <p:nvPicPr>
          <p:cNvPr id="63" name="Image 10" descr="preencoded.png">    </p:cNvPr>
          <p:cNvPicPr>
            <a:picLocks noChangeAspect="1"/>
          </p:cNvPicPr>
          <p:nvPr/>
        </p:nvPicPr>
        <p:blipFill>
          <a:blip r:embed="rId11"/>
          <a:stretch>
            <a:fillRect/>
          </a:stretch>
        </p:blipFill>
        <p:spPr>
          <a:xfrm>
            <a:off x="7071055" y="5641848"/>
            <a:ext cx="274320" cy="274320"/>
          </a:xfrm>
          <a:prstGeom prst="rect">
            <a:avLst/>
          </a:prstGeom>
        </p:spPr>
      </p:pic>
      <p:sp>
        <p:nvSpPr>
          <p:cNvPr id="64" name="Text 51"/>
          <p:cNvSpPr txBox="1"/>
          <p:nvPr/>
        </p:nvSpPr>
        <p:spPr>
          <a:xfrm>
            <a:off x="7436815" y="5623560"/>
            <a:ext cx="393192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Skrip penuh setiap langkah ada dalam Playbook Jualan.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Semak coverage dahulu, terangkan pakej kemudian</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08</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120640" cy="4526280"/>
          </a:xfrm>
          <a:prstGeom prst="roundRect">
            <a:avLst>
              <a:gd name="adj" fmla="val 161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914400" y="1965960"/>
            <a:ext cx="685800" cy="685800"/>
          </a:xfrm>
          <a:prstGeom prst="roundRect">
            <a:avLst>
              <a:gd name="adj" fmla="val 22000"/>
            </a:avLst>
          </a:prstGeom>
          <a:solidFill>
            <a:srgbClr val="C8742B"/>
          </a:solidFill>
          <a:ln w="12700">
            <a:solidFill>
              <a:srgbClr val="C8742B"/>
            </a:solidFill>
            <a:prstDash val="solid"/>
          </a:ln>
        </p:spPr>
      </p:sp>
      <p:pic>
        <p:nvPicPr>
          <p:cNvPr id="10" name="Image 0" descr="preencoded.png">    </p:cNvPr>
          <p:cNvPicPr>
            <a:picLocks noChangeAspect="1"/>
          </p:cNvPicPr>
          <p:nvPr/>
        </p:nvPicPr>
        <p:blipFill>
          <a:blip r:embed="rId1"/>
          <a:stretch>
            <a:fillRect/>
          </a:stretch>
        </p:blipFill>
        <p:spPr>
          <a:xfrm>
            <a:off x="1078992" y="2130552"/>
            <a:ext cx="356616" cy="356616"/>
          </a:xfrm>
          <a:prstGeom prst="rect">
            <a:avLst/>
          </a:prstGeom>
        </p:spPr>
      </p:pic>
      <p:sp>
        <p:nvSpPr>
          <p:cNvPr id="11" name="Text 8"/>
          <p:cNvSpPr txBox="1"/>
          <p:nvPr/>
        </p:nvSpPr>
        <p:spPr>
          <a:xfrm>
            <a:off x="914400" y="2834640"/>
            <a:ext cx="4389120" cy="91440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Coverage ialah kerisauan terbesar customer.</a:t>
            </a:r>
            <a:endParaRPr lang="en-US" sz="2400" dirty="0"/>
          </a:p>
        </p:txBody>
      </p:sp>
      <p:pic>
        <p:nvPicPr>
          <p:cNvPr id="12" name="Image 1" descr="preencoded.png">    </p:cNvPr>
          <p:cNvPicPr>
            <a:picLocks noChangeAspect="1"/>
          </p:cNvPicPr>
          <p:nvPr/>
        </p:nvPicPr>
        <p:blipFill>
          <a:blip r:embed="rId2"/>
          <a:stretch>
            <a:fillRect/>
          </a:stretch>
        </p:blipFill>
        <p:spPr>
          <a:xfrm>
            <a:off x="914400" y="3977640"/>
            <a:ext cx="292608" cy="292608"/>
          </a:xfrm>
          <a:prstGeom prst="rect">
            <a:avLst/>
          </a:prstGeom>
        </p:spPr>
      </p:pic>
      <p:sp>
        <p:nvSpPr>
          <p:cNvPr id="13" name="Text 9"/>
          <p:cNvSpPr txBox="1"/>
          <p:nvPr/>
        </p:nvSpPr>
        <p:spPr>
          <a:xfrm>
            <a:off x="1371600" y="3931920"/>
            <a:ext cx="3931920" cy="64008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Customer yang hantar alamat biasanya serius.</a:t>
            </a:r>
            <a:endParaRPr lang="en-US" sz="1500" dirty="0"/>
          </a:p>
        </p:txBody>
      </p:sp>
      <p:pic>
        <p:nvPicPr>
          <p:cNvPr id="14" name="Image 2" descr="preencoded.png">    </p:cNvPr>
          <p:cNvPicPr>
            <a:picLocks noChangeAspect="1"/>
          </p:cNvPicPr>
          <p:nvPr/>
        </p:nvPicPr>
        <p:blipFill>
          <a:blip r:embed="rId3"/>
          <a:stretch>
            <a:fillRect/>
          </a:stretch>
        </p:blipFill>
        <p:spPr>
          <a:xfrm>
            <a:off x="914400" y="4709160"/>
            <a:ext cx="292608" cy="292608"/>
          </a:xfrm>
          <a:prstGeom prst="rect">
            <a:avLst/>
          </a:prstGeom>
        </p:spPr>
      </p:pic>
      <p:sp>
        <p:nvSpPr>
          <p:cNvPr id="15" name="Text 10"/>
          <p:cNvSpPr txBox="1"/>
          <p:nvPr/>
        </p:nvSpPr>
        <p:spPr>
          <a:xfrm>
            <a:off x="1371600" y="4663440"/>
            <a:ext cx="3931920" cy="64008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“Technician akan check nanti” tak menjawab kerisauan mereka.</a:t>
            </a:r>
            <a:endParaRPr lang="en-US" sz="1500" dirty="0"/>
          </a:p>
        </p:txBody>
      </p:sp>
      <p:sp>
        <p:nvSpPr>
          <p:cNvPr id="16" name="Shape 11"/>
          <p:cNvSpPr/>
          <p:nvPr/>
        </p:nvSpPr>
        <p:spPr>
          <a:xfrm>
            <a:off x="914400" y="5440680"/>
            <a:ext cx="4389120" cy="457200"/>
          </a:xfrm>
          <a:prstGeom prst="roundRect">
            <a:avLst>
              <a:gd name="adj" fmla="val 50000"/>
            </a:avLst>
          </a:prstGeom>
          <a:solidFill>
            <a:srgbClr val="0B1F3A"/>
          </a:solidFill>
          <a:ln w="12700">
            <a:solidFill>
              <a:srgbClr val="0B1F3A"/>
            </a:solidFill>
            <a:prstDash val="solid"/>
          </a:ln>
        </p:spPr>
      </p:sp>
      <p:sp>
        <p:nvSpPr>
          <p:cNvPr id="17" name="Text 12"/>
          <p:cNvSpPr txBox="1"/>
          <p:nvPr/>
        </p:nvSpPr>
        <p:spPr>
          <a:xfrm>
            <a:off x="914400" y="5440680"/>
            <a:ext cx="43891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Semak dulu, baru terangkan pakej.</a:t>
            </a:r>
            <a:endParaRPr lang="en-US" sz="1400" dirty="0"/>
          </a:p>
        </p:txBody>
      </p:sp>
      <p:sp>
        <p:nvSpPr>
          <p:cNvPr id="18" name="Shape 13"/>
          <p:cNvSpPr/>
          <p:nvPr/>
        </p:nvSpPr>
        <p:spPr>
          <a:xfrm>
            <a:off x="5989320" y="1600200"/>
            <a:ext cx="5650992"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19" name="Shape 14"/>
          <p:cNvSpPr/>
          <p:nvPr/>
        </p:nvSpPr>
        <p:spPr>
          <a:xfrm>
            <a:off x="5989320" y="1600200"/>
            <a:ext cx="5650992" cy="566928"/>
          </a:xfrm>
          <a:prstGeom prst="roundRect">
            <a:avLst>
              <a:gd name="adj" fmla="val 12903"/>
            </a:avLst>
          </a:prstGeom>
          <a:solidFill>
            <a:srgbClr val="0B1F3A"/>
          </a:solidFill>
          <a:ln w="12700">
            <a:solidFill>
              <a:srgbClr val="0B1F3A"/>
            </a:solidFill>
            <a:prstDash val="solid"/>
          </a:ln>
        </p:spPr>
      </p:sp>
      <p:sp>
        <p:nvSpPr>
          <p:cNvPr id="20" name="Shape 15"/>
          <p:cNvSpPr/>
          <p:nvPr/>
        </p:nvSpPr>
        <p:spPr>
          <a:xfrm>
            <a:off x="5989320" y="1892808"/>
            <a:ext cx="5650992" cy="274320"/>
          </a:xfrm>
          <a:prstGeom prst="rect">
            <a:avLst/>
          </a:prstGeom>
          <a:solidFill>
            <a:srgbClr val="0B1F3A"/>
          </a:solidFill>
          <a:ln w="12700">
            <a:solidFill>
              <a:srgbClr val="0B1F3A"/>
            </a:solidFill>
            <a:prstDash val="solid"/>
          </a:ln>
        </p:spPr>
      </p:sp>
      <p:pic>
        <p:nvPicPr>
          <p:cNvPr id="21" name="Image 3" descr="preencoded.png">    </p:cNvPr>
          <p:cNvPicPr>
            <a:picLocks noChangeAspect="1"/>
          </p:cNvPicPr>
          <p:nvPr/>
        </p:nvPicPr>
        <p:blipFill>
          <a:blip r:embed="rId4"/>
          <a:stretch>
            <a:fillRect/>
          </a:stretch>
        </p:blipFill>
        <p:spPr>
          <a:xfrm>
            <a:off x="6217920" y="1755648"/>
            <a:ext cx="256032" cy="256032"/>
          </a:xfrm>
          <a:prstGeom prst="rect">
            <a:avLst/>
          </a:prstGeom>
        </p:spPr>
      </p:pic>
      <p:sp>
        <p:nvSpPr>
          <p:cNvPr id="22" name="Text 16"/>
          <p:cNvSpPr txBox="1"/>
          <p:nvPr/>
        </p:nvSpPr>
        <p:spPr>
          <a:xfrm>
            <a:off x="6583680" y="1600200"/>
            <a:ext cx="4828032"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CONTOH AYAT  ·  MESEJ PERTAMA</a:t>
            </a:r>
            <a:endParaRPr lang="en-US" sz="1100" dirty="0"/>
          </a:p>
        </p:txBody>
      </p:sp>
      <p:sp>
        <p:nvSpPr>
          <p:cNvPr id="23" name="Shape 17"/>
          <p:cNvSpPr/>
          <p:nvPr/>
        </p:nvSpPr>
        <p:spPr>
          <a:xfrm>
            <a:off x="6492240" y="2404872"/>
            <a:ext cx="4919472" cy="920115"/>
          </a:xfrm>
          <a:prstGeom prst="roundRect">
            <a:avLst>
              <a:gd name="adj" fmla="val 9938"/>
            </a:avLst>
          </a:prstGeom>
          <a:solidFill>
            <a:srgbClr val="FFFFFF"/>
          </a:solidFill>
          <a:ln w="6350">
            <a:solidFill>
              <a:srgbClr val="D8E0EA"/>
            </a:solidFill>
            <a:prstDash val="solid"/>
          </a:ln>
        </p:spPr>
      </p:sp>
      <p:sp>
        <p:nvSpPr>
          <p:cNvPr id="24" name="Text 18"/>
          <p:cNvSpPr txBox="1"/>
          <p:nvPr/>
        </p:nvSpPr>
        <p:spPr>
          <a:xfrm>
            <a:off x="6656832" y="2532888"/>
            <a:ext cx="4590288" cy="700659"/>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Hi! Terima kasih WhatsApp saya. Saya [nama] dari HFS, saya bantu daftar Unifi dari mula sampai siap pasang.</a:t>
            </a:r>
            <a:endParaRPr lang="en-US" sz="1350" dirty="0"/>
          </a:p>
        </p:txBody>
      </p:sp>
      <p:sp>
        <p:nvSpPr>
          <p:cNvPr id="25" name="Shape 19"/>
          <p:cNvSpPr/>
          <p:nvPr/>
        </p:nvSpPr>
        <p:spPr>
          <a:xfrm>
            <a:off x="6492240" y="3489579"/>
            <a:ext cx="4919472" cy="710946"/>
          </a:xfrm>
          <a:prstGeom prst="roundRect">
            <a:avLst>
              <a:gd name="adj" fmla="val 12862"/>
            </a:avLst>
          </a:prstGeom>
          <a:solidFill>
            <a:srgbClr val="FFFFFF"/>
          </a:solidFill>
          <a:ln w="6350">
            <a:solidFill>
              <a:srgbClr val="D8E0EA"/>
            </a:solidFill>
            <a:prstDash val="solid"/>
          </a:ln>
        </p:spPr>
      </p:sp>
      <p:sp>
        <p:nvSpPr>
          <p:cNvPr id="26" name="Text 20"/>
          <p:cNvSpPr txBox="1"/>
          <p:nvPr/>
        </p:nvSpPr>
        <p:spPr>
          <a:xfrm>
            <a:off x="6656832" y="3617595"/>
            <a:ext cx="4590288"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Boleh share alamat penuh rumah? Saya semak coverage dulu untuk pastikan boleh pasang di tempat awak.</a:t>
            </a:r>
            <a:endParaRPr lang="en-US" sz="1350" dirty="0"/>
          </a:p>
        </p:txBody>
      </p:sp>
      <p:sp>
        <p:nvSpPr>
          <p:cNvPr id="27" name="Shape 21"/>
          <p:cNvSpPr/>
          <p:nvPr/>
        </p:nvSpPr>
        <p:spPr>
          <a:xfrm>
            <a:off x="6217920" y="5349240"/>
            <a:ext cx="5193792" cy="548640"/>
          </a:xfrm>
          <a:prstGeom prst="roundRect">
            <a:avLst>
              <a:gd name="adj" fmla="val 13333"/>
            </a:avLst>
          </a:prstGeom>
          <a:solidFill>
            <a:srgbClr val="F7EADC"/>
          </a:solidFill>
          <a:ln w="12700">
            <a:solidFill>
              <a:srgbClr val="F7EADC"/>
            </a:solidFill>
            <a:prstDash val="solid"/>
          </a:ln>
        </p:spPr>
      </p:sp>
      <p:pic>
        <p:nvPicPr>
          <p:cNvPr id="28" name="Image 4" descr="preencoded.png">    </p:cNvPr>
          <p:cNvPicPr>
            <a:picLocks noChangeAspect="1"/>
          </p:cNvPicPr>
          <p:nvPr/>
        </p:nvPicPr>
        <p:blipFill>
          <a:blip r:embed="rId5"/>
          <a:stretch>
            <a:fillRect/>
          </a:stretch>
        </p:blipFill>
        <p:spPr>
          <a:xfrm>
            <a:off x="6373368" y="5495544"/>
            <a:ext cx="256032" cy="256032"/>
          </a:xfrm>
          <a:prstGeom prst="rect">
            <a:avLst/>
          </a:prstGeom>
        </p:spPr>
      </p:pic>
      <p:sp>
        <p:nvSpPr>
          <p:cNvPr id="29" name="Text 22"/>
          <p:cNvSpPr txBox="1"/>
          <p:nvPr/>
        </p:nvSpPr>
        <p:spPr>
          <a:xfrm>
            <a:off x="6766560" y="5349240"/>
            <a:ext cx="4553712"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Alamat ialah perkara pertama yang kita minta.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Dedahkan semua kos sebelum daftar untuk elak pembatalan</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09</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7040880" cy="3063240"/>
          </a:xfrm>
          <a:prstGeom prst="roundRect">
            <a:avLst>
              <a:gd name="adj" fmla="val 238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6492240" cy="914400"/>
        </p:xfrm>
        <a:graphic>
          <a:graphicData uri="http://schemas.openxmlformats.org/drawingml/2006/table">
            <a:tbl>
              <a:tblPr/>
              <a:tblGrid>
                <a:gridCol w="2286000"/>
                <a:gridCol w="2103120"/>
                <a:gridCol w="2103120"/>
              </a:tblGrid>
              <a:tr h="621792">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Pakej</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Harga sebulan</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Dengan SST 6%</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r>
              <a:tr h="621792">
                <a:tc>
                  <a:txBody>
                    <a:bodyPr/>
                    <a:lstStyle/>
                    <a:p>
                      <a:pPr algn="l" indent="0" marL="0">
                        <a:buNone/>
                      </a:pPr>
                      <a:r>
                        <a:rPr lang="en-US" sz="1700" b="1" dirty="0">
                          <a:solidFill>
                            <a:srgbClr val="0B1F3A"/>
                          </a:solidFill>
                          <a:latin typeface="Calibri" pitchFamily="34" charset="0"/>
                          <a:ea typeface="Calibri" pitchFamily="34" charset="-122"/>
                          <a:cs typeface="Calibri" pitchFamily="34" charset="-120"/>
                        </a:rPr>
                        <a:t>100Mbps</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B1F3A"/>
                          </a:solidFill>
                          <a:latin typeface="Calibri" pitchFamily="34" charset="0"/>
                          <a:ea typeface="Calibri" pitchFamily="34" charset="-122"/>
                          <a:cs typeface="Calibri" pitchFamily="34" charset="-120"/>
                        </a:rPr>
                        <a:t>RM89</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C8742B"/>
                          </a:solidFill>
                          <a:latin typeface="Calibri" pitchFamily="34" charset="0"/>
                          <a:ea typeface="Calibri" pitchFamily="34" charset="-122"/>
                          <a:cs typeface="Calibri" pitchFamily="34" charset="-120"/>
                        </a:rPr>
                        <a:t>± RM94.34</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r>
              <a:tr h="621792">
                <a:tc>
                  <a:txBody>
                    <a:bodyPr/>
                    <a:lstStyle/>
                    <a:p>
                      <a:pPr algn="l" indent="0" marL="0">
                        <a:buNone/>
                      </a:pPr>
                      <a:r>
                        <a:rPr lang="en-US" sz="1700" b="1" dirty="0">
                          <a:solidFill>
                            <a:srgbClr val="0B1F3A"/>
                          </a:solidFill>
                          <a:latin typeface="Calibri" pitchFamily="34" charset="0"/>
                          <a:ea typeface="Calibri" pitchFamily="34" charset="-122"/>
                          <a:cs typeface="Calibri" pitchFamily="34" charset="-120"/>
                        </a:rPr>
                        <a:t>300Mbps</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c>
                  <a:txBody>
                    <a:bodyPr/>
                    <a:lstStyle/>
                    <a:p>
                      <a:pPr algn="r" indent="0" marL="0">
                        <a:buNone/>
                      </a:pPr>
                      <a:r>
                        <a:rPr lang="en-US" sz="1700" dirty="0">
                          <a:solidFill>
                            <a:srgbClr val="0B1F3A"/>
                          </a:solidFill>
                          <a:latin typeface="Calibri" pitchFamily="34" charset="0"/>
                          <a:ea typeface="Calibri" pitchFamily="34" charset="-122"/>
                          <a:cs typeface="Calibri" pitchFamily="34" charset="-120"/>
                        </a:rPr>
                        <a:t>RM129</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c>
                  <a:txBody>
                    <a:bodyPr/>
                    <a:lstStyle/>
                    <a:p>
                      <a:pPr algn="r" indent="0" marL="0">
                        <a:buNone/>
                      </a:pPr>
                      <a:r>
                        <a:rPr lang="en-US" sz="1700" b="1" dirty="0">
                          <a:solidFill>
                            <a:srgbClr val="C8742B"/>
                          </a:solidFill>
                          <a:latin typeface="Calibri" pitchFamily="34" charset="0"/>
                          <a:ea typeface="Calibri" pitchFamily="34" charset="-122"/>
                          <a:cs typeface="Calibri" pitchFamily="34" charset="-120"/>
                        </a:rPr>
                        <a:t>± RM136.74</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r>
              <a:tr h="621792">
                <a:tc>
                  <a:txBody>
                    <a:bodyPr/>
                    <a:lstStyle/>
                    <a:p>
                      <a:pPr algn="l" indent="0" marL="0">
                        <a:buNone/>
                      </a:pPr>
                      <a:r>
                        <a:rPr lang="en-US" sz="1700" b="1" dirty="0">
                          <a:solidFill>
                            <a:srgbClr val="0B1F3A"/>
                          </a:solidFill>
                          <a:latin typeface="Calibri" pitchFamily="34" charset="0"/>
                          <a:ea typeface="Calibri" pitchFamily="34" charset="-122"/>
                          <a:cs typeface="Calibri" pitchFamily="34" charset="-120"/>
                        </a:rPr>
                        <a:t>500Mbps</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B1F3A"/>
                          </a:solidFill>
                          <a:latin typeface="Calibri" pitchFamily="34" charset="0"/>
                          <a:ea typeface="Calibri" pitchFamily="34" charset="-122"/>
                          <a:cs typeface="Calibri" pitchFamily="34" charset="-120"/>
                        </a:rPr>
                        <a:t>RM149</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C8742B"/>
                          </a:solidFill>
                          <a:latin typeface="Calibri" pitchFamily="34" charset="0"/>
                          <a:ea typeface="Calibri" pitchFamily="34" charset="-122"/>
                          <a:cs typeface="Calibri" pitchFamily="34" charset="-120"/>
                        </a:rPr>
                        <a:t>± RM157.94</a:t>
                      </a:r>
                      <a:endParaRPr lang="en-US" sz="1700" dirty="0">
                        <a:latin typeface="Calibri" charset="0"/>
                        <a:ea typeface="Calibri" charset="0"/>
                        <a:cs typeface="Calibri" charset="0"/>
                      </a:endParaRPr>
                    </a:p>
                  </a:txBody>
                  <a:tcPr marL="182880" marR="182880" marT="0" marB="0"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r>
            </a:tbl>
          </a:graphicData>
        </a:graphic>
      </p:graphicFrame>
      <p:sp>
        <p:nvSpPr>
          <p:cNvPr id="10" name="Shape 7"/>
          <p:cNvSpPr/>
          <p:nvPr/>
        </p:nvSpPr>
        <p:spPr>
          <a:xfrm>
            <a:off x="7955280" y="1600200"/>
            <a:ext cx="3685032" cy="3063240"/>
          </a:xfrm>
          <a:prstGeom prst="roundRect">
            <a:avLst>
              <a:gd name="adj" fmla="val 2388"/>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11" name="Shape 8"/>
          <p:cNvSpPr/>
          <p:nvPr/>
        </p:nvSpPr>
        <p:spPr>
          <a:xfrm>
            <a:off x="8275320" y="1920240"/>
            <a:ext cx="548640" cy="548640"/>
          </a:xfrm>
          <a:prstGeom prst="roundRect">
            <a:avLst>
              <a:gd name="adj" fmla="val 22000"/>
            </a:avLst>
          </a:prstGeom>
          <a:solidFill>
            <a:srgbClr val="C8742B"/>
          </a:solidFill>
          <a:ln w="12700">
            <a:solidFill>
              <a:srgbClr val="C8742B"/>
            </a:solidFill>
            <a:prstDash val="solid"/>
          </a:ln>
        </p:spPr>
      </p:sp>
      <p:pic>
        <p:nvPicPr>
          <p:cNvPr id="12" name="Image 0" descr="preencoded.png">    </p:cNvPr>
          <p:cNvPicPr>
            <a:picLocks noChangeAspect="1"/>
          </p:cNvPicPr>
          <p:nvPr/>
        </p:nvPicPr>
        <p:blipFill>
          <a:blip r:embed="rId1"/>
          <a:stretch>
            <a:fillRect/>
          </a:stretch>
        </p:blipFill>
        <p:spPr>
          <a:xfrm>
            <a:off x="8406994" y="2051914"/>
            <a:ext cx="285293" cy="285293"/>
          </a:xfrm>
          <a:prstGeom prst="rect">
            <a:avLst/>
          </a:prstGeom>
        </p:spPr>
      </p:pic>
      <p:sp>
        <p:nvSpPr>
          <p:cNvPr id="13" name="Text 9"/>
          <p:cNvSpPr txBox="1"/>
          <p:nvPr/>
        </p:nvSpPr>
        <p:spPr>
          <a:xfrm>
            <a:off x="8961120" y="1920240"/>
            <a:ext cx="2468880" cy="548640"/>
          </a:xfrm>
          <a:prstGeom prst="rect">
            <a:avLst/>
          </a:prstGeom>
          <a:noFill/>
          <a:ln/>
        </p:spPr>
        <p:txBody>
          <a:bodyPr wrap="square" lIns="0" tIns="0" rIns="0" bIns="0" rtlCol="0" anchor="ctr"/>
          <a:lstStyle/>
          <a:p>
            <a:pPr indent="0" marL="0">
              <a:buNone/>
            </a:pPr>
            <a:r>
              <a:rPr lang="en-US" sz="1200" b="1" spc="200" kern="0" dirty="0">
                <a:solidFill>
                  <a:srgbClr val="C8742B"/>
                </a:solidFill>
                <a:latin typeface="Calibri" pitchFamily="34" charset="0"/>
                <a:ea typeface="Calibri" pitchFamily="34" charset="-122"/>
                <a:cs typeface="Calibri" pitchFamily="34" charset="-120"/>
              </a:rPr>
              <a:t>BAYARAN UPFRONT</a:t>
            </a:r>
            <a:endParaRPr lang="en-US" sz="1200" dirty="0"/>
          </a:p>
        </p:txBody>
      </p:sp>
      <p:sp>
        <p:nvSpPr>
          <p:cNvPr id="14" name="Text 10"/>
          <p:cNvSpPr txBox="1"/>
          <p:nvPr/>
        </p:nvSpPr>
        <p:spPr>
          <a:xfrm>
            <a:off x="8275320" y="2560320"/>
            <a:ext cx="3108960" cy="8686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RM100</a:t>
            </a:r>
            <a:endParaRPr lang="en-US" sz="5400" dirty="0"/>
          </a:p>
        </p:txBody>
      </p:sp>
      <p:sp>
        <p:nvSpPr>
          <p:cNvPr id="15" name="Text 11"/>
          <p:cNvSpPr txBox="1"/>
          <p:nvPr/>
        </p:nvSpPr>
        <p:spPr>
          <a:xfrm>
            <a:off x="8275320" y="3520440"/>
            <a:ext cx="3108960" cy="914400"/>
          </a:xfrm>
          <a:prstGeom prst="rect">
            <a:avLst/>
          </a:prstGeom>
          <a:noFill/>
          <a:ln/>
        </p:spPr>
        <p:txBody>
          <a:bodyPr wrap="square" lIns="0" tIns="0" rIns="0" bIns="0" rtlCol="0" anchor="t"/>
          <a:lstStyle/>
          <a:p>
            <a:pPr indent="0" marL="0">
              <a:buNone/>
            </a:pPr>
            <a:r>
              <a:rPr lang="en-US" sz="1400" dirty="0">
                <a:solidFill>
                  <a:srgbClr val="C3CEDD"/>
                </a:solidFill>
                <a:latin typeface="Calibri" pitchFamily="34" charset="0"/>
                <a:ea typeface="Calibri" pitchFamily="34" charset="-122"/>
                <a:cs typeface="Calibri" pitchFamily="34" charset="-120"/>
              </a:rPr>
              <a:t>Dibayar dalam [X] hari selepas pasang, dan ditolak dari bil. Bukan caj tambahan.</a:t>
            </a:r>
            <a:endParaRPr lang="en-US" sz="1400" dirty="0"/>
          </a:p>
        </p:txBody>
      </p:sp>
      <p:sp>
        <p:nvSpPr>
          <p:cNvPr id="16" name="Shape 12"/>
          <p:cNvSpPr/>
          <p:nvPr/>
        </p:nvSpPr>
        <p:spPr>
          <a:xfrm>
            <a:off x="548640" y="4937760"/>
            <a:ext cx="11094415" cy="1188720"/>
          </a:xfrm>
          <a:prstGeom prst="roundRect">
            <a:avLst>
              <a:gd name="adj" fmla="val 6154"/>
            </a:avLst>
          </a:prstGeom>
          <a:solidFill>
            <a:srgbClr val="F7EADC"/>
          </a:solidFill>
          <a:ln w="12700">
            <a:solidFill>
              <a:srgbClr val="F7EADC"/>
            </a:solidFill>
            <a:prstDash val="solid"/>
          </a:ln>
        </p:spPr>
      </p:sp>
      <p:sp>
        <p:nvSpPr>
          <p:cNvPr id="17" name="Shape 13"/>
          <p:cNvSpPr/>
          <p:nvPr/>
        </p:nvSpPr>
        <p:spPr>
          <a:xfrm>
            <a:off x="914400" y="5230368"/>
            <a:ext cx="603504" cy="603504"/>
          </a:xfrm>
          <a:prstGeom prst="roundRect">
            <a:avLst>
              <a:gd name="adj" fmla="val 22000"/>
            </a:avLst>
          </a:prstGeom>
          <a:solidFill>
            <a:srgbClr val="C8742B"/>
          </a:solidFill>
          <a:ln w="12700">
            <a:solidFill>
              <a:srgbClr val="C8742B"/>
            </a:solidFill>
            <a:prstDash val="solid"/>
          </a:ln>
        </p:spPr>
      </p:sp>
      <p:pic>
        <p:nvPicPr>
          <p:cNvPr id="18" name="Image 1" descr="preencoded.png">    </p:cNvPr>
          <p:cNvPicPr>
            <a:picLocks noChangeAspect="1"/>
          </p:cNvPicPr>
          <p:nvPr/>
        </p:nvPicPr>
        <p:blipFill>
          <a:blip r:embed="rId2"/>
          <a:stretch>
            <a:fillRect/>
          </a:stretch>
        </p:blipFill>
        <p:spPr>
          <a:xfrm>
            <a:off x="1059241" y="5375209"/>
            <a:ext cx="313822" cy="313822"/>
          </a:xfrm>
          <a:prstGeom prst="rect">
            <a:avLst/>
          </a:prstGeom>
        </p:spPr>
      </p:pic>
      <p:sp>
        <p:nvSpPr>
          <p:cNvPr id="19" name="Text 14"/>
          <p:cNvSpPr txBox="1"/>
          <p:nvPr/>
        </p:nvSpPr>
        <p:spPr>
          <a:xfrm>
            <a:off x="1783080" y="4937760"/>
            <a:ext cx="9601200" cy="731520"/>
          </a:xfrm>
          <a:prstGeom prst="rect">
            <a:avLst/>
          </a:prstGeom>
          <a:noFill/>
          <a:ln/>
        </p:spPr>
        <p:txBody>
          <a:bodyPr wrap="square" lIns="0" tIns="0" rIns="0" bIns="0" rtlCol="0" anchor="b"/>
          <a:lstStyle/>
          <a:p>
            <a:pPr indent="0" marL="0">
              <a:buNone/>
            </a:pPr>
            <a:r>
              <a:rPr lang="en-US" sz="2100" b="1" dirty="0">
                <a:solidFill>
                  <a:srgbClr val="0B1F3A"/>
                </a:solidFill>
                <a:latin typeface="Calibri" pitchFamily="34" charset="0"/>
                <a:ea typeface="Calibri" pitchFamily="34" charset="-122"/>
                <a:cs typeface="Calibri" pitchFamily="34" charset="-120"/>
              </a:rPr>
              <a:t>Customer yang terkejut selepas daftar ialah customer yang cancel.</a:t>
            </a:r>
            <a:endParaRPr lang="en-US" sz="2100" dirty="0"/>
          </a:p>
        </p:txBody>
      </p:sp>
      <p:sp>
        <p:nvSpPr>
          <p:cNvPr id="20" name="Text 15"/>
          <p:cNvSpPr txBox="1"/>
          <p:nvPr/>
        </p:nvSpPr>
        <p:spPr>
          <a:xfrm>
            <a:off x="1783080" y="5669280"/>
            <a:ext cx="9601200" cy="36576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Wajib sebut sebelum daftar: harga belum termasuk SST 6%, dan bayaran upfront RM100 selepas pemasangan.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Contoh ayat: terang semua kos, kemudian tanya bila</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10</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9" name="Shape 7"/>
          <p:cNvSpPr/>
          <p:nvPr/>
        </p:nvSpPr>
        <p:spPr>
          <a:xfrm>
            <a:off x="548640" y="1600200"/>
            <a:ext cx="5431536" cy="566928"/>
          </a:xfrm>
          <a:prstGeom prst="roundRect">
            <a:avLst>
              <a:gd name="adj" fmla="val 12903"/>
            </a:avLst>
          </a:prstGeom>
          <a:solidFill>
            <a:srgbClr val="0B1F3A"/>
          </a:solidFill>
          <a:ln w="12700">
            <a:solidFill>
              <a:srgbClr val="0B1F3A"/>
            </a:solidFill>
            <a:prstDash val="solid"/>
          </a:ln>
        </p:spPr>
      </p:sp>
      <p:sp>
        <p:nvSpPr>
          <p:cNvPr id="10" name="Shape 8"/>
          <p:cNvSpPr/>
          <p:nvPr/>
        </p:nvSpPr>
        <p:spPr>
          <a:xfrm>
            <a:off x="548640" y="1892808"/>
            <a:ext cx="5431536" cy="274320"/>
          </a:xfrm>
          <a:prstGeom prst="rect">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777240" y="1755648"/>
            <a:ext cx="256032" cy="256032"/>
          </a:xfrm>
          <a:prstGeom prst="rect">
            <a:avLst/>
          </a:prstGeom>
        </p:spPr>
      </p:pic>
      <p:sp>
        <p:nvSpPr>
          <p:cNvPr id="12" name="Text 9"/>
          <p:cNvSpPr txBox="1"/>
          <p:nvPr/>
        </p:nvSpPr>
        <p:spPr>
          <a:xfrm>
            <a:off x="1143000"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LANGKAH 4  ·  TERANG SEMUA KOS</a:t>
            </a:r>
            <a:endParaRPr lang="en-US" sz="1100" dirty="0"/>
          </a:p>
        </p:txBody>
      </p:sp>
      <p:sp>
        <p:nvSpPr>
          <p:cNvPr id="13" name="Shape 10"/>
          <p:cNvSpPr/>
          <p:nvPr/>
        </p:nvSpPr>
        <p:spPr>
          <a:xfrm>
            <a:off x="1051560" y="2404872"/>
            <a:ext cx="4700016" cy="710946"/>
          </a:xfrm>
          <a:prstGeom prst="roundRect">
            <a:avLst>
              <a:gd name="adj" fmla="val 12862"/>
            </a:avLst>
          </a:prstGeom>
          <a:solidFill>
            <a:srgbClr val="FFFFFF"/>
          </a:solidFill>
          <a:ln w="6350">
            <a:solidFill>
              <a:srgbClr val="D8E0EA"/>
            </a:solidFill>
            <a:prstDash val="solid"/>
          </a:ln>
        </p:spPr>
      </p:sp>
      <p:sp>
        <p:nvSpPr>
          <p:cNvPr id="14" name="Text 11"/>
          <p:cNvSpPr txBox="1"/>
          <p:nvPr/>
        </p:nvSpPr>
        <p:spPr>
          <a:xfrm>
            <a:off x="1216152" y="2532888"/>
            <a:ext cx="4370832"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Satu lagi saya nak beritahu awal supaya tak terkejut.</a:t>
            </a:r>
            <a:endParaRPr lang="en-US" sz="1350" dirty="0"/>
          </a:p>
        </p:txBody>
      </p:sp>
      <p:sp>
        <p:nvSpPr>
          <p:cNvPr id="15" name="Shape 12"/>
          <p:cNvSpPr/>
          <p:nvPr/>
        </p:nvSpPr>
        <p:spPr>
          <a:xfrm>
            <a:off x="1051560" y="3280410"/>
            <a:ext cx="4700016" cy="1129284"/>
          </a:xfrm>
          <a:prstGeom prst="roundRect">
            <a:avLst>
              <a:gd name="adj" fmla="val 8097"/>
            </a:avLst>
          </a:prstGeom>
          <a:solidFill>
            <a:srgbClr val="FFFFFF"/>
          </a:solidFill>
          <a:ln w="6350">
            <a:solidFill>
              <a:srgbClr val="D8E0EA"/>
            </a:solidFill>
            <a:prstDash val="solid"/>
          </a:ln>
        </p:spPr>
      </p:sp>
      <p:sp>
        <p:nvSpPr>
          <p:cNvPr id="16" name="Text 13"/>
          <p:cNvSpPr txBox="1"/>
          <p:nvPr/>
        </p:nvSpPr>
        <p:spPr>
          <a:xfrm>
            <a:off x="1216152" y="3408426"/>
            <a:ext cx="4370832" cy="909828"/>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Selepas pemasangan, ada bayaran upfront RM100 yang perlu dibayar dalam masa [X] hari. RM100 ni bukan caj tambahan, ia akan ditolak dari bil awak nanti.</a:t>
            </a:r>
            <a:endParaRPr lang="en-US" sz="1350" dirty="0"/>
          </a:p>
        </p:txBody>
      </p:sp>
      <p:sp>
        <p:nvSpPr>
          <p:cNvPr id="17" name="Shape 14"/>
          <p:cNvSpPr/>
          <p:nvPr/>
        </p:nvSpPr>
        <p:spPr>
          <a:xfrm>
            <a:off x="1051560" y="4574286"/>
            <a:ext cx="4700016" cy="501777"/>
          </a:xfrm>
          <a:prstGeom prst="roundRect">
            <a:avLst>
              <a:gd name="adj" fmla="val 18223"/>
            </a:avLst>
          </a:prstGeom>
          <a:solidFill>
            <a:srgbClr val="FFFFFF"/>
          </a:solidFill>
          <a:ln w="6350">
            <a:solidFill>
              <a:srgbClr val="D8E0EA"/>
            </a:solidFill>
            <a:prstDash val="solid"/>
          </a:ln>
        </p:spPr>
      </p:sp>
      <p:sp>
        <p:nvSpPr>
          <p:cNvPr id="18" name="Text 15"/>
          <p:cNvSpPr txBox="1"/>
          <p:nvPr/>
        </p:nvSpPr>
        <p:spPr>
          <a:xfrm>
            <a:off x="1216152" y="4702302"/>
            <a:ext cx="4370832" cy="282321"/>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Harga bulanan pula belum termasuk SST 6%.</a:t>
            </a:r>
            <a:endParaRPr lang="en-US" sz="1350" dirty="0"/>
          </a:p>
        </p:txBody>
      </p:sp>
      <p:sp>
        <p:nvSpPr>
          <p:cNvPr id="19" name="Shape 16"/>
          <p:cNvSpPr/>
          <p:nvPr/>
        </p:nvSpPr>
        <p:spPr>
          <a:xfrm>
            <a:off x="6208776"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20" name="Shape 17"/>
          <p:cNvSpPr/>
          <p:nvPr/>
        </p:nvSpPr>
        <p:spPr>
          <a:xfrm>
            <a:off x="6208776" y="1600200"/>
            <a:ext cx="5431536" cy="566928"/>
          </a:xfrm>
          <a:prstGeom prst="roundRect">
            <a:avLst>
              <a:gd name="adj" fmla="val 12903"/>
            </a:avLst>
          </a:prstGeom>
          <a:solidFill>
            <a:srgbClr val="0B1F3A"/>
          </a:solidFill>
          <a:ln w="12700">
            <a:solidFill>
              <a:srgbClr val="0B1F3A"/>
            </a:solidFill>
            <a:prstDash val="solid"/>
          </a:ln>
        </p:spPr>
      </p:sp>
      <p:sp>
        <p:nvSpPr>
          <p:cNvPr id="21" name="Shape 18"/>
          <p:cNvSpPr/>
          <p:nvPr/>
        </p:nvSpPr>
        <p:spPr>
          <a:xfrm>
            <a:off x="6208776" y="1892808"/>
            <a:ext cx="5431536" cy="274320"/>
          </a:xfrm>
          <a:prstGeom prst="rect">
            <a:avLst/>
          </a:prstGeom>
          <a:solidFill>
            <a:srgbClr val="0B1F3A"/>
          </a:solidFill>
          <a:ln w="12700">
            <a:solidFill>
              <a:srgbClr val="0B1F3A"/>
            </a:solidFill>
            <a:prstDash val="solid"/>
          </a:ln>
        </p:spPr>
      </p:sp>
      <p:pic>
        <p:nvPicPr>
          <p:cNvPr id="22" name="Image 1" descr="preencoded.png">    </p:cNvPr>
          <p:cNvPicPr>
            <a:picLocks noChangeAspect="1"/>
          </p:cNvPicPr>
          <p:nvPr/>
        </p:nvPicPr>
        <p:blipFill>
          <a:blip r:embed="rId2"/>
          <a:stretch>
            <a:fillRect/>
          </a:stretch>
        </p:blipFill>
        <p:spPr>
          <a:xfrm>
            <a:off x="6437376" y="1755648"/>
            <a:ext cx="256032" cy="256032"/>
          </a:xfrm>
          <a:prstGeom prst="rect">
            <a:avLst/>
          </a:prstGeom>
        </p:spPr>
      </p:pic>
      <p:sp>
        <p:nvSpPr>
          <p:cNvPr id="23" name="Text 19"/>
          <p:cNvSpPr txBox="1"/>
          <p:nvPr/>
        </p:nvSpPr>
        <p:spPr>
          <a:xfrm>
            <a:off x="6803136"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LANGKAH 5  ·  CLOSING</a:t>
            </a:r>
            <a:endParaRPr lang="en-US" sz="1100" dirty="0"/>
          </a:p>
        </p:txBody>
      </p:sp>
      <p:sp>
        <p:nvSpPr>
          <p:cNvPr id="24" name="Shape 20"/>
          <p:cNvSpPr/>
          <p:nvPr/>
        </p:nvSpPr>
        <p:spPr>
          <a:xfrm>
            <a:off x="6711696" y="2404872"/>
            <a:ext cx="4700016" cy="501777"/>
          </a:xfrm>
          <a:prstGeom prst="roundRect">
            <a:avLst>
              <a:gd name="adj" fmla="val 18223"/>
            </a:avLst>
          </a:prstGeom>
          <a:solidFill>
            <a:srgbClr val="FFFFFF"/>
          </a:solidFill>
          <a:ln w="6350">
            <a:solidFill>
              <a:srgbClr val="D8E0EA"/>
            </a:solidFill>
            <a:prstDash val="solid"/>
          </a:ln>
        </p:spPr>
      </p:sp>
      <p:sp>
        <p:nvSpPr>
          <p:cNvPr id="25" name="Text 21"/>
          <p:cNvSpPr txBox="1"/>
          <p:nvPr/>
        </p:nvSpPr>
        <p:spPr>
          <a:xfrm>
            <a:off x="6876288" y="2532888"/>
            <a:ext cx="4370832" cy="282321"/>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Awak free hari apa untuk pemasangan?</a:t>
            </a:r>
            <a:endParaRPr lang="en-US" sz="1350" dirty="0"/>
          </a:p>
        </p:txBody>
      </p:sp>
      <p:sp>
        <p:nvSpPr>
          <p:cNvPr id="26" name="Shape 22"/>
          <p:cNvSpPr/>
          <p:nvPr/>
        </p:nvSpPr>
        <p:spPr>
          <a:xfrm>
            <a:off x="6711696" y="3071241"/>
            <a:ext cx="4700016" cy="920115"/>
          </a:xfrm>
          <a:prstGeom prst="roundRect">
            <a:avLst>
              <a:gd name="adj" fmla="val 9938"/>
            </a:avLst>
          </a:prstGeom>
          <a:solidFill>
            <a:srgbClr val="FFFFFF"/>
          </a:solidFill>
          <a:ln w="6350">
            <a:solidFill>
              <a:srgbClr val="D8E0EA"/>
            </a:solidFill>
            <a:prstDash val="solid"/>
          </a:ln>
        </p:spPr>
      </p:sp>
      <p:sp>
        <p:nvSpPr>
          <p:cNvPr id="27" name="Text 23"/>
          <p:cNvSpPr txBox="1"/>
          <p:nvPr/>
        </p:nvSpPr>
        <p:spPr>
          <a:xfrm>
            <a:off x="6876288" y="3199257"/>
            <a:ext cx="4370832" cy="700659"/>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Kalau okay, saya hantar form pendaftaran sekarang supaya saya boleh terus cari slot yang paling awal untuk awak.</a:t>
            </a:r>
            <a:endParaRPr lang="en-US" sz="1350" dirty="0"/>
          </a:p>
        </p:txBody>
      </p:sp>
      <p:sp>
        <p:nvSpPr>
          <p:cNvPr id="28" name="Shape 24"/>
          <p:cNvSpPr/>
          <p:nvPr/>
        </p:nvSpPr>
        <p:spPr>
          <a:xfrm>
            <a:off x="6437376" y="5349240"/>
            <a:ext cx="4974336" cy="548640"/>
          </a:xfrm>
          <a:prstGeom prst="roundRect">
            <a:avLst>
              <a:gd name="adj" fmla="val 13333"/>
            </a:avLst>
          </a:prstGeom>
          <a:solidFill>
            <a:srgbClr val="F7EADC"/>
          </a:solidFill>
          <a:ln w="12700">
            <a:solidFill>
              <a:srgbClr val="F7EADC"/>
            </a:solidFill>
            <a:prstDash val="solid"/>
          </a:ln>
        </p:spPr>
      </p:sp>
      <p:pic>
        <p:nvPicPr>
          <p:cNvPr id="29" name="Image 2" descr="preencoded.png">    </p:cNvPr>
          <p:cNvPicPr>
            <a:picLocks noChangeAspect="1"/>
          </p:cNvPicPr>
          <p:nvPr/>
        </p:nvPicPr>
        <p:blipFill>
          <a:blip r:embed="rId3"/>
          <a:stretch>
            <a:fillRect/>
          </a:stretch>
        </p:blipFill>
        <p:spPr>
          <a:xfrm>
            <a:off x="6592824" y="5495544"/>
            <a:ext cx="256032" cy="256032"/>
          </a:xfrm>
          <a:prstGeom prst="rect">
            <a:avLst/>
          </a:prstGeom>
        </p:spPr>
      </p:pic>
      <p:sp>
        <p:nvSpPr>
          <p:cNvPr id="30" name="Text 25"/>
          <p:cNvSpPr txBox="1"/>
          <p:nvPr/>
        </p:nvSpPr>
        <p:spPr>
          <a:xfrm>
            <a:off x="6986016"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Tanya bila, bukan nak atau tak.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Cadang pakej berdasarkan cara guna, bukan bilangan device</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11</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3515258" cy="4526280"/>
          </a:xfrm>
          <a:prstGeom prst="roundRect">
            <a:avLst>
              <a:gd name="adj" fmla="val 208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868680" y="1920240"/>
            <a:ext cx="502920" cy="502920"/>
          </a:xfrm>
          <a:prstGeom prst="roundRect">
            <a:avLst>
              <a:gd name="adj" fmla="val 22000"/>
            </a:avLst>
          </a:prstGeom>
          <a:solidFill>
            <a:srgbClr val="EBF0F6"/>
          </a:solidFill>
          <a:ln w="12700">
            <a:solidFill>
              <a:srgbClr val="EBF0F6"/>
            </a:solidFill>
            <a:prstDash val="solid"/>
          </a:ln>
        </p:spPr>
      </p:sp>
      <p:pic>
        <p:nvPicPr>
          <p:cNvPr id="10" name="Image 0" descr="preencoded.png">    </p:cNvPr>
          <p:cNvPicPr>
            <a:picLocks noChangeAspect="1"/>
          </p:cNvPicPr>
          <p:nvPr/>
        </p:nvPicPr>
        <p:blipFill>
          <a:blip r:embed="rId1"/>
          <a:stretch>
            <a:fillRect/>
          </a:stretch>
        </p:blipFill>
        <p:spPr>
          <a:xfrm>
            <a:off x="989381" y="2040941"/>
            <a:ext cx="261518" cy="261518"/>
          </a:xfrm>
          <a:prstGeom prst="rect">
            <a:avLst/>
          </a:prstGeom>
        </p:spPr>
      </p:pic>
      <p:sp>
        <p:nvSpPr>
          <p:cNvPr id="11" name="Text 8"/>
          <p:cNvSpPr txBox="1"/>
          <p:nvPr/>
        </p:nvSpPr>
        <p:spPr>
          <a:xfrm>
            <a:off x="868680" y="2560320"/>
            <a:ext cx="2875178" cy="822960"/>
          </a:xfrm>
          <a:prstGeom prst="rect">
            <a:avLst/>
          </a:prstGeom>
          <a:noFill/>
          <a:ln/>
        </p:spPr>
        <p:txBody>
          <a:bodyPr wrap="square" lIns="0" tIns="0" rIns="0" bIns="0" rtlCol="0" anchor="ctr"/>
          <a:lstStyle/>
          <a:p>
            <a:pPr indent="0" marL="0">
              <a:buNone/>
            </a:pPr>
            <a:r>
              <a:rPr lang="en-US" sz="4800" b="1" dirty="0">
                <a:solidFill>
                  <a:srgbClr val="0B1F3A"/>
                </a:solidFill>
                <a:latin typeface="Calibri" pitchFamily="34" charset="0"/>
                <a:ea typeface="Calibri" pitchFamily="34" charset="-122"/>
                <a:cs typeface="Calibri" pitchFamily="34" charset="-120"/>
              </a:rPr>
              <a:t>100</a:t>
            </a:r>
            <a:pPr indent="0" marL="0">
              <a:buNone/>
            </a:pPr>
            <a:r>
              <a:rPr lang="en-US" sz="2000" b="1" dirty="0">
                <a:solidFill>
                  <a:srgbClr val="5B6B80"/>
                </a:solidFill>
                <a:latin typeface="Calibri" pitchFamily="34" charset="0"/>
                <a:ea typeface="Calibri" pitchFamily="34" charset="-122"/>
                <a:cs typeface="Calibri" pitchFamily="34" charset="-120"/>
              </a:rPr>
              <a:t> Mbps</a:t>
            </a:r>
            <a:endParaRPr lang="en-US" sz="4800" dirty="0"/>
          </a:p>
        </p:txBody>
      </p:sp>
      <p:sp>
        <p:nvSpPr>
          <p:cNvPr id="12" name="Text 9"/>
          <p:cNvSpPr txBox="1"/>
          <p:nvPr/>
        </p:nvSpPr>
        <p:spPr>
          <a:xfrm>
            <a:off x="868680" y="3383280"/>
            <a:ext cx="2875178" cy="365760"/>
          </a:xfrm>
          <a:prstGeom prst="rect">
            <a:avLst/>
          </a:prstGeom>
          <a:noFill/>
          <a:ln/>
        </p:spPr>
        <p:txBody>
          <a:bodyPr wrap="square" lIns="0" tIns="0" rIns="0" bIns="0" rtlCol="0" anchor="t"/>
          <a:lstStyle/>
          <a:p>
            <a:pPr indent="0" marL="0">
              <a:buNone/>
            </a:pPr>
            <a:r>
              <a:rPr lang="en-US" sz="1700" b="1" dirty="0">
                <a:solidFill>
                  <a:srgbClr val="C8742B"/>
                </a:solidFill>
                <a:latin typeface="Calibri" pitchFamily="34" charset="0"/>
                <a:ea typeface="Calibri" pitchFamily="34" charset="-122"/>
                <a:cs typeface="Calibri" pitchFamily="34" charset="-120"/>
              </a:rPr>
              <a:t>RM89</a:t>
            </a:r>
            <a:pPr indent="0" marL="0">
              <a:buNone/>
            </a:pPr>
            <a:r>
              <a:rPr lang="en-US" sz="1700" dirty="0">
                <a:solidFill>
                  <a:srgbClr val="5B6B80"/>
                </a:solidFill>
                <a:latin typeface="Calibri" pitchFamily="34" charset="0"/>
                <a:ea typeface="Calibri" pitchFamily="34" charset="-122"/>
                <a:cs typeface="Calibri" pitchFamily="34" charset="-120"/>
              </a:rPr>
              <a:t> sebulan</a:t>
            </a:r>
            <a:endParaRPr lang="en-US" sz="1700" dirty="0"/>
          </a:p>
        </p:txBody>
      </p:sp>
      <p:sp>
        <p:nvSpPr>
          <p:cNvPr id="13" name="Shape 10"/>
          <p:cNvSpPr/>
          <p:nvPr/>
        </p:nvSpPr>
        <p:spPr>
          <a:xfrm>
            <a:off x="868680" y="3931920"/>
            <a:ext cx="2875178" cy="0"/>
          </a:xfrm>
          <a:prstGeom prst="line">
            <a:avLst/>
          </a:prstGeom>
          <a:noFill/>
          <a:ln w="9525">
            <a:solidFill>
              <a:srgbClr val="D8E0EA"/>
            </a:solidFill>
            <a:prstDash val="solid"/>
          </a:ln>
        </p:spPr>
      </p:sp>
      <p:sp>
        <p:nvSpPr>
          <p:cNvPr id="14" name="Text 11"/>
          <p:cNvSpPr txBox="1"/>
          <p:nvPr/>
        </p:nvSpPr>
        <p:spPr>
          <a:xfrm>
            <a:off x="868680" y="4114800"/>
            <a:ext cx="2875178"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SESUAI UNTUK</a:t>
            </a:r>
            <a:endParaRPr lang="en-US" sz="1100" dirty="0"/>
          </a:p>
        </p:txBody>
      </p:sp>
      <p:sp>
        <p:nvSpPr>
          <p:cNvPr id="15" name="Text 12"/>
          <p:cNvSpPr txBox="1"/>
          <p:nvPr/>
        </p:nvSpPr>
        <p:spPr>
          <a:xfrm>
            <a:off x="868680" y="4389120"/>
            <a:ext cx="2875178" cy="68580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1–2 orang, guna ringan</a:t>
            </a:r>
            <a:endParaRPr lang="en-US" sz="1600" dirty="0"/>
          </a:p>
        </p:txBody>
      </p:sp>
      <p:sp>
        <p:nvSpPr>
          <p:cNvPr id="16" name="Shape 13"/>
          <p:cNvSpPr/>
          <p:nvPr/>
        </p:nvSpPr>
        <p:spPr>
          <a:xfrm>
            <a:off x="777240" y="5166360"/>
            <a:ext cx="3058058" cy="731520"/>
          </a:xfrm>
          <a:prstGeom prst="roundRect">
            <a:avLst>
              <a:gd name="adj" fmla="val 7500"/>
            </a:avLst>
          </a:prstGeom>
          <a:solidFill>
            <a:srgbClr val="EBF0F6"/>
          </a:solidFill>
          <a:ln w="12700">
            <a:solidFill>
              <a:srgbClr val="EBF0F6"/>
            </a:solidFill>
            <a:prstDash val="solid"/>
          </a:ln>
        </p:spPr>
      </p:sp>
      <p:sp>
        <p:nvSpPr>
          <p:cNvPr id="17" name="Text 14"/>
          <p:cNvSpPr txBox="1"/>
          <p:nvPr/>
        </p:nvSpPr>
        <p:spPr>
          <a:xfrm>
            <a:off x="932688" y="5166360"/>
            <a:ext cx="2747162" cy="731520"/>
          </a:xfrm>
          <a:prstGeom prst="rect">
            <a:avLst/>
          </a:prstGeom>
          <a:noFill/>
          <a:ln/>
        </p:spPr>
        <p:txBody>
          <a:bodyPr wrap="square" lIns="0" tIns="0" rIns="0" bIns="0" rtlCol="0" anchor="ctr"/>
          <a:lstStyle/>
          <a:p>
            <a:pPr indent="0" marL="0">
              <a:buNone/>
            </a:pPr>
            <a:r>
              <a:rPr lang="en-US" sz="1250" dirty="0">
                <a:solidFill>
                  <a:srgbClr val="1B2A3D"/>
                </a:solidFill>
                <a:latin typeface="Calibri" pitchFamily="34" charset="0"/>
                <a:ea typeface="Calibri" pitchFamily="34" charset="-122"/>
                <a:cs typeface="Calibri" pitchFamily="34" charset="-120"/>
              </a:rPr>
              <a:t>Cadang dengan yakin. Jangan paksa upsell.</a:t>
            </a:r>
            <a:endParaRPr lang="en-US" sz="1250" dirty="0"/>
          </a:p>
        </p:txBody>
      </p:sp>
      <p:sp>
        <p:nvSpPr>
          <p:cNvPr id="18" name="Shape 15"/>
          <p:cNvSpPr/>
          <p:nvPr/>
        </p:nvSpPr>
        <p:spPr>
          <a:xfrm>
            <a:off x="4338218" y="1600200"/>
            <a:ext cx="3515258" cy="4526280"/>
          </a:xfrm>
          <a:prstGeom prst="roundRect">
            <a:avLst>
              <a:gd name="adj" fmla="val 2081"/>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19" name="Shape 16"/>
          <p:cNvSpPr/>
          <p:nvPr/>
        </p:nvSpPr>
        <p:spPr>
          <a:xfrm>
            <a:off x="4658258" y="1920240"/>
            <a:ext cx="502920" cy="502920"/>
          </a:xfrm>
          <a:prstGeom prst="roundRect">
            <a:avLst>
              <a:gd name="adj" fmla="val 22000"/>
            </a:avLst>
          </a:prstGeom>
          <a:solidFill>
            <a:srgbClr val="C8742B"/>
          </a:solidFill>
          <a:ln w="12700">
            <a:solidFill>
              <a:srgbClr val="C8742B"/>
            </a:solidFill>
            <a:prstDash val="solid"/>
          </a:ln>
        </p:spPr>
      </p:sp>
      <p:pic>
        <p:nvPicPr>
          <p:cNvPr id="20" name="Image 1" descr="preencoded.png">    </p:cNvPr>
          <p:cNvPicPr>
            <a:picLocks noChangeAspect="1"/>
          </p:cNvPicPr>
          <p:nvPr/>
        </p:nvPicPr>
        <p:blipFill>
          <a:blip r:embed="rId2"/>
          <a:stretch>
            <a:fillRect/>
          </a:stretch>
        </p:blipFill>
        <p:spPr>
          <a:xfrm>
            <a:off x="4778959" y="2040941"/>
            <a:ext cx="261518" cy="261518"/>
          </a:xfrm>
          <a:prstGeom prst="rect">
            <a:avLst/>
          </a:prstGeom>
        </p:spPr>
      </p:pic>
      <p:sp>
        <p:nvSpPr>
          <p:cNvPr id="21" name="Text 17"/>
          <p:cNvSpPr txBox="1"/>
          <p:nvPr/>
        </p:nvSpPr>
        <p:spPr>
          <a:xfrm>
            <a:off x="4658258" y="2560320"/>
            <a:ext cx="2875178"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300</a:t>
            </a:r>
            <a:pPr indent="0" marL="0">
              <a:buNone/>
            </a:pPr>
            <a:r>
              <a:rPr lang="en-US" sz="2000" b="1" dirty="0">
                <a:solidFill>
                  <a:srgbClr val="C3CEDD"/>
                </a:solidFill>
                <a:latin typeface="Calibri" pitchFamily="34" charset="0"/>
                <a:ea typeface="Calibri" pitchFamily="34" charset="-122"/>
                <a:cs typeface="Calibri" pitchFamily="34" charset="-120"/>
              </a:rPr>
              <a:t> Mbps</a:t>
            </a:r>
            <a:endParaRPr lang="en-US" sz="4800" dirty="0"/>
          </a:p>
        </p:txBody>
      </p:sp>
      <p:sp>
        <p:nvSpPr>
          <p:cNvPr id="22" name="Text 18"/>
          <p:cNvSpPr txBox="1"/>
          <p:nvPr/>
        </p:nvSpPr>
        <p:spPr>
          <a:xfrm>
            <a:off x="4658258" y="3383280"/>
            <a:ext cx="2875178" cy="365760"/>
          </a:xfrm>
          <a:prstGeom prst="rect">
            <a:avLst/>
          </a:prstGeom>
          <a:noFill/>
          <a:ln/>
        </p:spPr>
        <p:txBody>
          <a:bodyPr wrap="square" lIns="0" tIns="0" rIns="0" bIns="0" rtlCol="0" anchor="t"/>
          <a:lstStyle/>
          <a:p>
            <a:pPr indent="0" marL="0">
              <a:buNone/>
            </a:pPr>
            <a:r>
              <a:rPr lang="en-US" sz="1700" b="1" dirty="0">
                <a:solidFill>
                  <a:srgbClr val="C8742B"/>
                </a:solidFill>
                <a:latin typeface="Calibri" pitchFamily="34" charset="0"/>
                <a:ea typeface="Calibri" pitchFamily="34" charset="-122"/>
                <a:cs typeface="Calibri" pitchFamily="34" charset="-120"/>
              </a:rPr>
              <a:t>RM129</a:t>
            </a:r>
            <a:pPr indent="0" marL="0">
              <a:buNone/>
            </a:pPr>
            <a:r>
              <a:rPr lang="en-US" sz="1700" dirty="0">
                <a:solidFill>
                  <a:srgbClr val="C3CEDD"/>
                </a:solidFill>
                <a:latin typeface="Calibri" pitchFamily="34" charset="0"/>
                <a:ea typeface="Calibri" pitchFamily="34" charset="-122"/>
                <a:cs typeface="Calibri" pitchFamily="34" charset="-120"/>
              </a:rPr>
              <a:t> sebulan</a:t>
            </a:r>
            <a:endParaRPr lang="en-US" sz="1700" dirty="0"/>
          </a:p>
        </p:txBody>
      </p:sp>
      <p:sp>
        <p:nvSpPr>
          <p:cNvPr id="23" name="Shape 19"/>
          <p:cNvSpPr/>
          <p:nvPr/>
        </p:nvSpPr>
        <p:spPr>
          <a:xfrm>
            <a:off x="4658258" y="3931920"/>
            <a:ext cx="2875178" cy="0"/>
          </a:xfrm>
          <a:prstGeom prst="line">
            <a:avLst/>
          </a:prstGeom>
          <a:noFill/>
          <a:ln w="9525">
            <a:solidFill>
              <a:srgbClr val="23436F"/>
            </a:solidFill>
            <a:prstDash val="solid"/>
          </a:ln>
        </p:spPr>
      </p:sp>
      <p:sp>
        <p:nvSpPr>
          <p:cNvPr id="24" name="Text 20"/>
          <p:cNvSpPr txBox="1"/>
          <p:nvPr/>
        </p:nvSpPr>
        <p:spPr>
          <a:xfrm>
            <a:off x="4658258" y="4114800"/>
            <a:ext cx="2875178"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SESUAI UNTUK</a:t>
            </a:r>
            <a:endParaRPr lang="en-US" sz="1100" dirty="0"/>
          </a:p>
        </p:txBody>
      </p:sp>
      <p:sp>
        <p:nvSpPr>
          <p:cNvPr id="25" name="Text 21"/>
          <p:cNvSpPr txBox="1"/>
          <p:nvPr/>
        </p:nvSpPr>
        <p:spPr>
          <a:xfrm>
            <a:off x="4658258" y="4389120"/>
            <a:ext cx="2875178"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3–5 orang, kerja dari rumah, banyak skrin</a:t>
            </a:r>
            <a:endParaRPr lang="en-US" sz="1600" dirty="0"/>
          </a:p>
        </p:txBody>
      </p:sp>
      <p:sp>
        <p:nvSpPr>
          <p:cNvPr id="26" name="Shape 22"/>
          <p:cNvSpPr/>
          <p:nvPr/>
        </p:nvSpPr>
        <p:spPr>
          <a:xfrm>
            <a:off x="4566818" y="5166360"/>
            <a:ext cx="3058058" cy="731520"/>
          </a:xfrm>
          <a:prstGeom prst="roundRect">
            <a:avLst>
              <a:gd name="adj" fmla="val 7500"/>
            </a:avLst>
          </a:prstGeom>
          <a:solidFill>
            <a:srgbClr val="17325A"/>
          </a:solidFill>
          <a:ln w="12700">
            <a:solidFill>
              <a:srgbClr val="17325A"/>
            </a:solidFill>
            <a:prstDash val="solid"/>
          </a:ln>
        </p:spPr>
      </p:sp>
      <p:sp>
        <p:nvSpPr>
          <p:cNvPr id="27" name="Text 23"/>
          <p:cNvSpPr txBox="1"/>
          <p:nvPr/>
        </p:nvSpPr>
        <p:spPr>
          <a:xfrm>
            <a:off x="4722266" y="5166360"/>
            <a:ext cx="2747162" cy="7315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Beza RM40 sebulan dari 100Mbps, lebih kurang RM1.30 sehari.</a:t>
            </a:r>
            <a:endParaRPr lang="en-US" sz="1250" dirty="0"/>
          </a:p>
        </p:txBody>
      </p:sp>
      <p:sp>
        <p:nvSpPr>
          <p:cNvPr id="28" name="Shape 24"/>
          <p:cNvSpPr/>
          <p:nvPr/>
        </p:nvSpPr>
        <p:spPr>
          <a:xfrm>
            <a:off x="8127797" y="1600200"/>
            <a:ext cx="3515258" cy="4526280"/>
          </a:xfrm>
          <a:prstGeom prst="roundRect">
            <a:avLst>
              <a:gd name="adj" fmla="val 208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9" name="Shape 25"/>
          <p:cNvSpPr/>
          <p:nvPr/>
        </p:nvSpPr>
        <p:spPr>
          <a:xfrm>
            <a:off x="8447837" y="1920240"/>
            <a:ext cx="502920" cy="502920"/>
          </a:xfrm>
          <a:prstGeom prst="roundRect">
            <a:avLst>
              <a:gd name="adj" fmla="val 22000"/>
            </a:avLst>
          </a:prstGeom>
          <a:solidFill>
            <a:srgbClr val="EBF0F6"/>
          </a:solidFill>
          <a:ln w="12700">
            <a:solidFill>
              <a:srgbClr val="EBF0F6"/>
            </a:solidFill>
            <a:prstDash val="solid"/>
          </a:ln>
        </p:spPr>
      </p:sp>
      <p:pic>
        <p:nvPicPr>
          <p:cNvPr id="30" name="Image 2" descr="preencoded.png">    </p:cNvPr>
          <p:cNvPicPr>
            <a:picLocks noChangeAspect="1"/>
          </p:cNvPicPr>
          <p:nvPr/>
        </p:nvPicPr>
        <p:blipFill>
          <a:blip r:embed="rId3"/>
          <a:stretch>
            <a:fillRect/>
          </a:stretch>
        </p:blipFill>
        <p:spPr>
          <a:xfrm>
            <a:off x="8568538" y="2040941"/>
            <a:ext cx="261518" cy="261518"/>
          </a:xfrm>
          <a:prstGeom prst="rect">
            <a:avLst/>
          </a:prstGeom>
        </p:spPr>
      </p:pic>
      <p:sp>
        <p:nvSpPr>
          <p:cNvPr id="31" name="Text 26"/>
          <p:cNvSpPr txBox="1"/>
          <p:nvPr/>
        </p:nvSpPr>
        <p:spPr>
          <a:xfrm>
            <a:off x="8447837" y="2560320"/>
            <a:ext cx="2875178" cy="822960"/>
          </a:xfrm>
          <a:prstGeom prst="rect">
            <a:avLst/>
          </a:prstGeom>
          <a:noFill/>
          <a:ln/>
        </p:spPr>
        <p:txBody>
          <a:bodyPr wrap="square" lIns="0" tIns="0" rIns="0" bIns="0" rtlCol="0" anchor="ctr"/>
          <a:lstStyle/>
          <a:p>
            <a:pPr indent="0" marL="0">
              <a:buNone/>
            </a:pPr>
            <a:r>
              <a:rPr lang="en-US" sz="4800" b="1" dirty="0">
                <a:solidFill>
                  <a:srgbClr val="0B1F3A"/>
                </a:solidFill>
                <a:latin typeface="Calibri" pitchFamily="34" charset="0"/>
                <a:ea typeface="Calibri" pitchFamily="34" charset="-122"/>
                <a:cs typeface="Calibri" pitchFamily="34" charset="-120"/>
              </a:rPr>
              <a:t>500</a:t>
            </a:r>
            <a:pPr indent="0" marL="0">
              <a:buNone/>
            </a:pPr>
            <a:r>
              <a:rPr lang="en-US" sz="2000" b="1" dirty="0">
                <a:solidFill>
                  <a:srgbClr val="5B6B80"/>
                </a:solidFill>
                <a:latin typeface="Calibri" pitchFamily="34" charset="0"/>
                <a:ea typeface="Calibri" pitchFamily="34" charset="-122"/>
                <a:cs typeface="Calibri" pitchFamily="34" charset="-120"/>
              </a:rPr>
              <a:t> Mbps</a:t>
            </a:r>
            <a:endParaRPr lang="en-US" sz="4800" dirty="0"/>
          </a:p>
        </p:txBody>
      </p:sp>
      <p:sp>
        <p:nvSpPr>
          <p:cNvPr id="32" name="Text 27"/>
          <p:cNvSpPr txBox="1"/>
          <p:nvPr/>
        </p:nvSpPr>
        <p:spPr>
          <a:xfrm>
            <a:off x="8447837" y="3383280"/>
            <a:ext cx="2875178" cy="365760"/>
          </a:xfrm>
          <a:prstGeom prst="rect">
            <a:avLst/>
          </a:prstGeom>
          <a:noFill/>
          <a:ln/>
        </p:spPr>
        <p:txBody>
          <a:bodyPr wrap="square" lIns="0" tIns="0" rIns="0" bIns="0" rtlCol="0" anchor="t"/>
          <a:lstStyle/>
          <a:p>
            <a:pPr indent="0" marL="0">
              <a:buNone/>
            </a:pPr>
            <a:r>
              <a:rPr lang="en-US" sz="1700" b="1" dirty="0">
                <a:solidFill>
                  <a:srgbClr val="C8742B"/>
                </a:solidFill>
                <a:latin typeface="Calibri" pitchFamily="34" charset="0"/>
                <a:ea typeface="Calibri" pitchFamily="34" charset="-122"/>
                <a:cs typeface="Calibri" pitchFamily="34" charset="-120"/>
              </a:rPr>
              <a:t>RM149</a:t>
            </a:r>
            <a:pPr indent="0" marL="0">
              <a:buNone/>
            </a:pPr>
            <a:r>
              <a:rPr lang="en-US" sz="1700" dirty="0">
                <a:solidFill>
                  <a:srgbClr val="5B6B80"/>
                </a:solidFill>
                <a:latin typeface="Calibri" pitchFamily="34" charset="0"/>
                <a:ea typeface="Calibri" pitchFamily="34" charset="-122"/>
                <a:cs typeface="Calibri" pitchFamily="34" charset="-120"/>
              </a:rPr>
              <a:t> sebulan</a:t>
            </a:r>
            <a:endParaRPr lang="en-US" sz="1700" dirty="0"/>
          </a:p>
        </p:txBody>
      </p:sp>
      <p:sp>
        <p:nvSpPr>
          <p:cNvPr id="33" name="Shape 28"/>
          <p:cNvSpPr/>
          <p:nvPr/>
        </p:nvSpPr>
        <p:spPr>
          <a:xfrm>
            <a:off x="8447837" y="3931920"/>
            <a:ext cx="2875178" cy="0"/>
          </a:xfrm>
          <a:prstGeom prst="line">
            <a:avLst/>
          </a:prstGeom>
          <a:noFill/>
          <a:ln w="9525">
            <a:solidFill>
              <a:srgbClr val="D8E0EA"/>
            </a:solidFill>
            <a:prstDash val="solid"/>
          </a:ln>
        </p:spPr>
      </p:sp>
      <p:sp>
        <p:nvSpPr>
          <p:cNvPr id="34" name="Text 29"/>
          <p:cNvSpPr txBox="1"/>
          <p:nvPr/>
        </p:nvSpPr>
        <p:spPr>
          <a:xfrm>
            <a:off x="8447837" y="4114800"/>
            <a:ext cx="2875178"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SESUAI UNTUK</a:t>
            </a:r>
            <a:endParaRPr lang="en-US" sz="1100" dirty="0"/>
          </a:p>
        </p:txBody>
      </p:sp>
      <p:sp>
        <p:nvSpPr>
          <p:cNvPr id="35" name="Text 30"/>
          <p:cNvSpPr txBox="1"/>
          <p:nvPr/>
        </p:nvSpPr>
        <p:spPr>
          <a:xfrm>
            <a:off x="8447837" y="4389120"/>
            <a:ext cx="2875178" cy="68580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Rumah ramai, gaming, CCTV</a:t>
            </a:r>
            <a:endParaRPr lang="en-US" sz="1600" dirty="0"/>
          </a:p>
        </p:txBody>
      </p:sp>
      <p:sp>
        <p:nvSpPr>
          <p:cNvPr id="36" name="Shape 31"/>
          <p:cNvSpPr/>
          <p:nvPr/>
        </p:nvSpPr>
        <p:spPr>
          <a:xfrm>
            <a:off x="8356397" y="5166360"/>
            <a:ext cx="3058058" cy="731520"/>
          </a:xfrm>
          <a:prstGeom prst="roundRect">
            <a:avLst>
              <a:gd name="adj" fmla="val 7500"/>
            </a:avLst>
          </a:prstGeom>
          <a:solidFill>
            <a:srgbClr val="EBF0F6"/>
          </a:solidFill>
          <a:ln w="12700">
            <a:solidFill>
              <a:srgbClr val="EBF0F6"/>
            </a:solidFill>
            <a:prstDash val="solid"/>
          </a:ln>
        </p:spPr>
      </p:sp>
      <p:sp>
        <p:nvSpPr>
          <p:cNvPr id="37" name="Text 32"/>
          <p:cNvSpPr txBox="1"/>
          <p:nvPr/>
        </p:nvSpPr>
        <p:spPr>
          <a:xfrm>
            <a:off x="8511845" y="5166360"/>
            <a:ext cx="2747162" cy="731520"/>
          </a:xfrm>
          <a:prstGeom prst="rect">
            <a:avLst/>
          </a:prstGeom>
          <a:noFill/>
          <a:ln/>
        </p:spPr>
        <p:txBody>
          <a:bodyPr wrap="square" lIns="0" tIns="0" rIns="0" bIns="0" rtlCol="0" anchor="ctr"/>
          <a:lstStyle/>
          <a:p>
            <a:pPr indent="0" marL="0">
              <a:buNone/>
            </a:pPr>
            <a:r>
              <a:rPr lang="en-US" sz="1250" dirty="0">
                <a:solidFill>
                  <a:srgbClr val="1B2A3D"/>
                </a:solidFill>
                <a:latin typeface="Calibri" pitchFamily="34" charset="0"/>
                <a:ea typeface="Calibri" pitchFamily="34" charset="-122"/>
                <a:cs typeface="Calibri" pitchFamily="34" charset="-120"/>
              </a:rPr>
              <a:t>Cuma RM20 lebih dari 300Mbps, lebih kurang 70 sen sehari.</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Contoh ayat: cadang satu pakej, tawar satu tingkat</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12</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9" name="Shape 7"/>
          <p:cNvSpPr/>
          <p:nvPr/>
        </p:nvSpPr>
        <p:spPr>
          <a:xfrm>
            <a:off x="548640" y="1600200"/>
            <a:ext cx="5431536" cy="566928"/>
          </a:xfrm>
          <a:prstGeom prst="roundRect">
            <a:avLst>
              <a:gd name="adj" fmla="val 12903"/>
            </a:avLst>
          </a:prstGeom>
          <a:solidFill>
            <a:srgbClr val="0B1F3A"/>
          </a:solidFill>
          <a:ln w="12700">
            <a:solidFill>
              <a:srgbClr val="0B1F3A"/>
            </a:solidFill>
            <a:prstDash val="solid"/>
          </a:ln>
        </p:spPr>
      </p:sp>
      <p:sp>
        <p:nvSpPr>
          <p:cNvPr id="10" name="Shape 8"/>
          <p:cNvSpPr/>
          <p:nvPr/>
        </p:nvSpPr>
        <p:spPr>
          <a:xfrm>
            <a:off x="548640" y="1892808"/>
            <a:ext cx="5431536" cy="274320"/>
          </a:xfrm>
          <a:prstGeom prst="rect">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777240" y="1755648"/>
            <a:ext cx="256032" cy="256032"/>
          </a:xfrm>
          <a:prstGeom prst="rect">
            <a:avLst/>
          </a:prstGeom>
        </p:spPr>
      </p:pic>
      <p:sp>
        <p:nvSpPr>
          <p:cNvPr id="12" name="Text 9"/>
          <p:cNvSpPr txBox="1"/>
          <p:nvPr/>
        </p:nvSpPr>
        <p:spPr>
          <a:xfrm>
            <a:off x="1143000"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KELUARGA 4 ORANG, ADA YANG KERJA DARI RUMAH</a:t>
            </a:r>
            <a:endParaRPr lang="en-US" sz="1100" dirty="0"/>
          </a:p>
        </p:txBody>
      </p:sp>
      <p:sp>
        <p:nvSpPr>
          <p:cNvPr id="13" name="Shape 10"/>
          <p:cNvSpPr/>
          <p:nvPr/>
        </p:nvSpPr>
        <p:spPr>
          <a:xfrm>
            <a:off x="1051560" y="2404872"/>
            <a:ext cx="4700016" cy="920115"/>
          </a:xfrm>
          <a:prstGeom prst="roundRect">
            <a:avLst>
              <a:gd name="adj" fmla="val 9938"/>
            </a:avLst>
          </a:prstGeom>
          <a:solidFill>
            <a:srgbClr val="FFFFFF"/>
          </a:solidFill>
          <a:ln w="6350">
            <a:solidFill>
              <a:srgbClr val="D8E0EA"/>
            </a:solidFill>
            <a:prstDash val="solid"/>
          </a:ln>
        </p:spPr>
      </p:sp>
      <p:sp>
        <p:nvSpPr>
          <p:cNvPr id="14" name="Text 11"/>
          <p:cNvSpPr txBox="1"/>
          <p:nvPr/>
        </p:nvSpPr>
        <p:spPr>
          <a:xfrm>
            <a:off x="1216152" y="2532888"/>
            <a:ext cx="4370832" cy="700659"/>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Untuk rumah awak, saya cadangkan 300Mbps (RM129/bulan). Bila 4 orang guna serentak waktu malam, 300Mbps lebih selesa dan tak berebut.</a:t>
            </a:r>
            <a:endParaRPr lang="en-US" sz="1350" dirty="0"/>
          </a:p>
        </p:txBody>
      </p:sp>
      <p:sp>
        <p:nvSpPr>
          <p:cNvPr id="15" name="Shape 12"/>
          <p:cNvSpPr/>
          <p:nvPr/>
        </p:nvSpPr>
        <p:spPr>
          <a:xfrm>
            <a:off x="1051560" y="3489579"/>
            <a:ext cx="4700016" cy="920115"/>
          </a:xfrm>
          <a:prstGeom prst="roundRect">
            <a:avLst>
              <a:gd name="adj" fmla="val 9938"/>
            </a:avLst>
          </a:prstGeom>
          <a:solidFill>
            <a:srgbClr val="FFFFFF"/>
          </a:solidFill>
          <a:ln w="6350">
            <a:solidFill>
              <a:srgbClr val="D8E0EA"/>
            </a:solidFill>
            <a:prstDash val="solid"/>
          </a:ln>
        </p:spPr>
      </p:sp>
      <p:sp>
        <p:nvSpPr>
          <p:cNvPr id="16" name="Text 13"/>
          <p:cNvSpPr txBox="1"/>
          <p:nvPr/>
        </p:nvSpPr>
        <p:spPr>
          <a:xfrm>
            <a:off x="1216152" y="3617595"/>
            <a:ext cx="4370832" cy="700659"/>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Kalau nak jimat, 100Mbps (RM89) pun boleh. Beza dia RM40 sebulan, lebih kurang RM1.30 sehari. Awak rasa yang mana lebih sesuai?</a:t>
            </a:r>
            <a:endParaRPr lang="en-US" sz="1350" dirty="0"/>
          </a:p>
        </p:txBody>
      </p:sp>
      <p:sp>
        <p:nvSpPr>
          <p:cNvPr id="17" name="Shape 14"/>
          <p:cNvSpPr/>
          <p:nvPr/>
        </p:nvSpPr>
        <p:spPr>
          <a:xfrm>
            <a:off x="777240" y="5349240"/>
            <a:ext cx="4974336" cy="548640"/>
          </a:xfrm>
          <a:prstGeom prst="roundRect">
            <a:avLst>
              <a:gd name="adj" fmla="val 13333"/>
            </a:avLst>
          </a:prstGeom>
          <a:solidFill>
            <a:srgbClr val="F7EADC"/>
          </a:solidFill>
          <a:ln w="12700">
            <a:solidFill>
              <a:srgbClr val="F7EADC"/>
            </a:solidFill>
            <a:prstDash val="solid"/>
          </a:ln>
        </p:spPr>
      </p:sp>
      <p:pic>
        <p:nvPicPr>
          <p:cNvPr id="18" name="Image 1" descr="preencoded.png">    </p:cNvPr>
          <p:cNvPicPr>
            <a:picLocks noChangeAspect="1"/>
          </p:cNvPicPr>
          <p:nvPr/>
        </p:nvPicPr>
        <p:blipFill>
          <a:blip r:embed="rId2"/>
          <a:stretch>
            <a:fillRect/>
          </a:stretch>
        </p:blipFill>
        <p:spPr>
          <a:xfrm>
            <a:off x="932688" y="5495544"/>
            <a:ext cx="256032" cy="256032"/>
          </a:xfrm>
          <a:prstGeom prst="rect">
            <a:avLst/>
          </a:prstGeom>
        </p:spPr>
      </p:pic>
      <p:sp>
        <p:nvSpPr>
          <p:cNvPr id="19" name="Text 15"/>
          <p:cNvSpPr txBox="1"/>
          <p:nvPr/>
        </p:nvSpPr>
        <p:spPr>
          <a:xfrm>
            <a:off x="1325880"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Beri sebab yang berkait dengan cara guna.</a:t>
            </a:r>
            <a:endParaRPr lang="en-US" sz="1300" dirty="0"/>
          </a:p>
        </p:txBody>
      </p:sp>
      <p:sp>
        <p:nvSpPr>
          <p:cNvPr id="20" name="Shape 16"/>
          <p:cNvSpPr/>
          <p:nvPr/>
        </p:nvSpPr>
        <p:spPr>
          <a:xfrm>
            <a:off x="6208776"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21" name="Shape 17"/>
          <p:cNvSpPr/>
          <p:nvPr/>
        </p:nvSpPr>
        <p:spPr>
          <a:xfrm>
            <a:off x="6208776" y="1600200"/>
            <a:ext cx="5431536" cy="566928"/>
          </a:xfrm>
          <a:prstGeom prst="roundRect">
            <a:avLst>
              <a:gd name="adj" fmla="val 12903"/>
            </a:avLst>
          </a:prstGeom>
          <a:solidFill>
            <a:srgbClr val="0B1F3A"/>
          </a:solidFill>
          <a:ln w="12700">
            <a:solidFill>
              <a:srgbClr val="0B1F3A"/>
            </a:solidFill>
            <a:prstDash val="solid"/>
          </a:ln>
        </p:spPr>
      </p:sp>
      <p:sp>
        <p:nvSpPr>
          <p:cNvPr id="22" name="Shape 18"/>
          <p:cNvSpPr/>
          <p:nvPr/>
        </p:nvSpPr>
        <p:spPr>
          <a:xfrm>
            <a:off x="6208776" y="1892808"/>
            <a:ext cx="5431536" cy="274320"/>
          </a:xfrm>
          <a:prstGeom prst="rect">
            <a:avLst/>
          </a:prstGeom>
          <a:solidFill>
            <a:srgbClr val="0B1F3A"/>
          </a:solidFill>
          <a:ln w="12700">
            <a:solidFill>
              <a:srgbClr val="0B1F3A"/>
            </a:solidFill>
            <a:prstDash val="solid"/>
          </a:ln>
        </p:spPr>
      </p:sp>
      <p:pic>
        <p:nvPicPr>
          <p:cNvPr id="23" name="Image 2" descr="preencoded.png">    </p:cNvPr>
          <p:cNvPicPr>
            <a:picLocks noChangeAspect="1"/>
          </p:cNvPicPr>
          <p:nvPr/>
        </p:nvPicPr>
        <p:blipFill>
          <a:blip r:embed="rId3"/>
          <a:stretch>
            <a:fillRect/>
          </a:stretch>
        </p:blipFill>
        <p:spPr>
          <a:xfrm>
            <a:off x="6437376" y="1755648"/>
            <a:ext cx="256032" cy="256032"/>
          </a:xfrm>
          <a:prstGeom prst="rect">
            <a:avLst/>
          </a:prstGeom>
        </p:spPr>
      </p:pic>
      <p:sp>
        <p:nvSpPr>
          <p:cNvPr id="24" name="Text 19"/>
          <p:cNvSpPr txBox="1"/>
          <p:nvPr/>
        </p:nvSpPr>
        <p:spPr>
          <a:xfrm>
            <a:off x="6803136"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PILIH 300MBPS, ADA GAMING ATAU CCTV</a:t>
            </a:r>
            <a:endParaRPr lang="en-US" sz="1100" dirty="0"/>
          </a:p>
        </p:txBody>
      </p:sp>
      <p:sp>
        <p:nvSpPr>
          <p:cNvPr id="25" name="Shape 20"/>
          <p:cNvSpPr/>
          <p:nvPr/>
        </p:nvSpPr>
        <p:spPr>
          <a:xfrm>
            <a:off x="6711696" y="2404872"/>
            <a:ext cx="4700016" cy="1129284"/>
          </a:xfrm>
          <a:prstGeom prst="roundRect">
            <a:avLst>
              <a:gd name="adj" fmla="val 8097"/>
            </a:avLst>
          </a:prstGeom>
          <a:solidFill>
            <a:srgbClr val="FFFFFF"/>
          </a:solidFill>
          <a:ln w="6350">
            <a:solidFill>
              <a:srgbClr val="D8E0EA"/>
            </a:solidFill>
            <a:prstDash val="solid"/>
          </a:ln>
        </p:spPr>
      </p:sp>
      <p:sp>
        <p:nvSpPr>
          <p:cNvPr id="26" name="Text 21"/>
          <p:cNvSpPr txBox="1"/>
          <p:nvPr/>
        </p:nvSpPr>
        <p:spPr>
          <a:xfrm>
            <a:off x="6876288" y="2532888"/>
            <a:ext cx="4370832" cy="909828"/>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300Mbps memang okay. Cuma sebab ada [gaming/CCTV], saya nak share satu pilihan: 500Mbps cuma tambah RM20 sebulan dari 300Mbps, lebih kurang 70 sen sehari.</a:t>
            </a:r>
            <a:endParaRPr lang="en-US" sz="1350" dirty="0"/>
          </a:p>
        </p:txBody>
      </p:sp>
      <p:sp>
        <p:nvSpPr>
          <p:cNvPr id="27" name="Shape 22"/>
          <p:cNvSpPr/>
          <p:nvPr/>
        </p:nvSpPr>
        <p:spPr>
          <a:xfrm>
            <a:off x="6711696" y="3698748"/>
            <a:ext cx="4700016" cy="501777"/>
          </a:xfrm>
          <a:prstGeom prst="roundRect">
            <a:avLst>
              <a:gd name="adj" fmla="val 18223"/>
            </a:avLst>
          </a:prstGeom>
          <a:solidFill>
            <a:srgbClr val="FFFFFF"/>
          </a:solidFill>
          <a:ln w="6350">
            <a:solidFill>
              <a:srgbClr val="D8E0EA"/>
            </a:solidFill>
            <a:prstDash val="solid"/>
          </a:ln>
        </p:spPr>
      </p:sp>
      <p:sp>
        <p:nvSpPr>
          <p:cNvPr id="28" name="Text 23"/>
          <p:cNvSpPr txBox="1"/>
          <p:nvPr/>
        </p:nvSpPr>
        <p:spPr>
          <a:xfrm>
            <a:off x="6876288" y="3826764"/>
            <a:ext cx="4370832" cy="282321"/>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Tak wajib ye, saya ikut yang awak selesa.</a:t>
            </a:r>
            <a:endParaRPr lang="en-US" sz="1350" dirty="0"/>
          </a:p>
        </p:txBody>
      </p:sp>
      <p:sp>
        <p:nvSpPr>
          <p:cNvPr id="29" name="Shape 24"/>
          <p:cNvSpPr/>
          <p:nvPr/>
        </p:nvSpPr>
        <p:spPr>
          <a:xfrm>
            <a:off x="6437376" y="5349240"/>
            <a:ext cx="4974336" cy="548640"/>
          </a:xfrm>
          <a:prstGeom prst="roundRect">
            <a:avLst>
              <a:gd name="adj" fmla="val 13333"/>
            </a:avLst>
          </a:prstGeom>
          <a:solidFill>
            <a:srgbClr val="F7EADC"/>
          </a:solidFill>
          <a:ln w="12700">
            <a:solidFill>
              <a:srgbClr val="F7EADC"/>
            </a:solidFill>
            <a:prstDash val="solid"/>
          </a:ln>
        </p:spPr>
      </p:sp>
      <p:pic>
        <p:nvPicPr>
          <p:cNvPr id="30" name="Image 3" descr="preencoded.png">    </p:cNvPr>
          <p:cNvPicPr>
            <a:picLocks noChangeAspect="1"/>
          </p:cNvPicPr>
          <p:nvPr/>
        </p:nvPicPr>
        <p:blipFill>
          <a:blip r:embed="rId4"/>
          <a:stretch>
            <a:fillRect/>
          </a:stretch>
        </p:blipFill>
        <p:spPr>
          <a:xfrm>
            <a:off x="6592824" y="5495544"/>
            <a:ext cx="256032" cy="256032"/>
          </a:xfrm>
          <a:prstGeom prst="rect">
            <a:avLst/>
          </a:prstGeom>
        </p:spPr>
      </p:pic>
      <p:sp>
        <p:nvSpPr>
          <p:cNvPr id="31" name="Text 25"/>
          <p:cNvSpPr txBox="1"/>
          <p:nvPr/>
        </p:nvSpPr>
        <p:spPr>
          <a:xfrm>
            <a:off x="6986016"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Tukar beza harga kepada kos sehari.</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Empat bantahan paling kerap dan cara menjawabnya</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13</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822960" y="1874520"/>
            <a:ext cx="502920" cy="502920"/>
          </a:xfrm>
          <a:prstGeom prst="ellipse">
            <a:avLst>
              <a:gd name="adj" fmla="val 22000"/>
            </a:avLst>
          </a:prstGeom>
          <a:solidFill>
            <a:srgbClr val="F7EADC"/>
          </a:solidFill>
          <a:ln w="12700">
            <a:solidFill>
              <a:srgbClr val="F7EADC"/>
            </a:solidFill>
            <a:prstDash val="solid"/>
          </a:ln>
        </p:spPr>
      </p:sp>
      <p:pic>
        <p:nvPicPr>
          <p:cNvPr id="10" name="Image 0" descr="preencoded.png">    </p:cNvPr>
          <p:cNvPicPr>
            <a:picLocks noChangeAspect="1"/>
          </p:cNvPicPr>
          <p:nvPr/>
        </p:nvPicPr>
        <p:blipFill>
          <a:blip r:embed="rId1"/>
          <a:stretch>
            <a:fillRect/>
          </a:stretch>
        </p:blipFill>
        <p:spPr>
          <a:xfrm>
            <a:off x="943661" y="1995221"/>
            <a:ext cx="261518" cy="261518"/>
          </a:xfrm>
          <a:prstGeom prst="rect">
            <a:avLst/>
          </a:prstGeom>
        </p:spPr>
      </p:pic>
      <p:sp>
        <p:nvSpPr>
          <p:cNvPr id="11" name="Text 8"/>
          <p:cNvSpPr txBox="1"/>
          <p:nvPr/>
        </p:nvSpPr>
        <p:spPr>
          <a:xfrm>
            <a:off x="1508760" y="1856232"/>
            <a:ext cx="4175608" cy="54864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“Free 3 bulan, tapi kena bayar RM100?”</a:t>
            </a:r>
            <a:endParaRPr lang="en-US" sz="1900" dirty="0"/>
          </a:p>
        </p:txBody>
      </p:sp>
      <p:sp>
        <p:nvSpPr>
          <p:cNvPr id="12" name="Shape 9"/>
          <p:cNvSpPr/>
          <p:nvPr/>
        </p:nvSpPr>
        <p:spPr>
          <a:xfrm>
            <a:off x="822960" y="2560320"/>
            <a:ext cx="4861408" cy="914400"/>
          </a:xfrm>
          <a:prstGeom prst="roundRect">
            <a:avLst>
              <a:gd name="adj" fmla="val 8000"/>
            </a:avLst>
          </a:prstGeom>
          <a:solidFill>
            <a:srgbClr val="EBF0F6"/>
          </a:solidFill>
          <a:ln w="12700">
            <a:solidFill>
              <a:srgbClr val="EBF0F6"/>
            </a:solidFill>
            <a:prstDash val="solid"/>
          </a:ln>
        </p:spPr>
      </p:sp>
      <p:sp>
        <p:nvSpPr>
          <p:cNvPr id="13" name="Text 10"/>
          <p:cNvSpPr txBox="1"/>
          <p:nvPr/>
        </p:nvSpPr>
        <p:spPr>
          <a:xfrm>
            <a:off x="1005840" y="2633472"/>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JAWAPAN</a:t>
            </a:r>
            <a:endParaRPr lang="en-US" sz="950" dirty="0"/>
          </a:p>
        </p:txBody>
      </p:sp>
      <p:sp>
        <p:nvSpPr>
          <p:cNvPr id="14" name="Text 11"/>
          <p:cNvSpPr txBox="1"/>
          <p:nvPr/>
        </p:nvSpPr>
        <p:spPr>
          <a:xfrm>
            <a:off x="1005840" y="2862072"/>
            <a:ext cx="4495648" cy="566928"/>
          </a:xfrm>
          <a:prstGeom prst="rect">
            <a:avLst/>
          </a:prstGeom>
          <a:noFill/>
          <a:ln/>
        </p:spPr>
        <p:txBody>
          <a:bodyPr wrap="square" lIns="0" tIns="0" rIns="0" bIns="0" rtlCol="0" anchor="t"/>
          <a:lstStyle/>
          <a:p>
            <a:pPr indent="0" marL="0">
              <a:buNone/>
            </a:pPr>
            <a:r>
              <a:rPr lang="en-US" sz="1350" dirty="0">
                <a:solidFill>
                  <a:srgbClr val="1B2A3D"/>
                </a:solidFill>
                <a:latin typeface="Calibri" pitchFamily="34" charset="0"/>
                <a:ea typeface="Calibri" pitchFamily="34" charset="-122"/>
                <a:cs typeface="Calibri" pitchFamily="34" charset="-120"/>
              </a:rPr>
              <a:t>RM100 tu bukan caj tambahan, ia ditolak dari bil awak nanti. Free 3 bulan tetap awak dapat.</a:t>
            </a:r>
            <a:endParaRPr lang="en-US" sz="1350" dirty="0"/>
          </a:p>
        </p:txBody>
      </p:sp>
      <p:sp>
        <p:nvSpPr>
          <p:cNvPr id="15" name="Shape 12"/>
          <p:cNvSpPr/>
          <p:nvPr/>
        </p:nvSpPr>
        <p:spPr>
          <a:xfrm>
            <a:off x="6233008" y="160020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6" name="Shape 13"/>
          <p:cNvSpPr/>
          <p:nvPr/>
        </p:nvSpPr>
        <p:spPr>
          <a:xfrm>
            <a:off x="6507328" y="1874520"/>
            <a:ext cx="502920" cy="502920"/>
          </a:xfrm>
          <a:prstGeom prst="ellipse">
            <a:avLst>
              <a:gd name="adj" fmla="val 22000"/>
            </a:avLst>
          </a:prstGeom>
          <a:solidFill>
            <a:srgbClr val="F7EADC"/>
          </a:solidFill>
          <a:ln w="12700">
            <a:solidFill>
              <a:srgbClr val="F7EADC"/>
            </a:solidFill>
            <a:prstDash val="solid"/>
          </a:ln>
        </p:spPr>
      </p:sp>
      <p:pic>
        <p:nvPicPr>
          <p:cNvPr id="17" name="Image 1" descr="preencoded.png">    </p:cNvPr>
          <p:cNvPicPr>
            <a:picLocks noChangeAspect="1"/>
          </p:cNvPicPr>
          <p:nvPr/>
        </p:nvPicPr>
        <p:blipFill>
          <a:blip r:embed="rId2"/>
          <a:stretch>
            <a:fillRect/>
          </a:stretch>
        </p:blipFill>
        <p:spPr>
          <a:xfrm>
            <a:off x="6628028" y="1995221"/>
            <a:ext cx="261518" cy="261518"/>
          </a:xfrm>
          <a:prstGeom prst="rect">
            <a:avLst/>
          </a:prstGeom>
        </p:spPr>
      </p:pic>
      <p:sp>
        <p:nvSpPr>
          <p:cNvPr id="18" name="Text 14"/>
          <p:cNvSpPr txBox="1"/>
          <p:nvPr/>
        </p:nvSpPr>
        <p:spPr>
          <a:xfrm>
            <a:off x="7193128" y="1856232"/>
            <a:ext cx="4175608" cy="54864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“Nak fikir dulu.”</a:t>
            </a:r>
            <a:endParaRPr lang="en-US" sz="1900" dirty="0"/>
          </a:p>
        </p:txBody>
      </p:sp>
      <p:sp>
        <p:nvSpPr>
          <p:cNvPr id="19" name="Shape 15"/>
          <p:cNvSpPr/>
          <p:nvPr/>
        </p:nvSpPr>
        <p:spPr>
          <a:xfrm>
            <a:off x="6507328" y="2560320"/>
            <a:ext cx="4861408" cy="914400"/>
          </a:xfrm>
          <a:prstGeom prst="roundRect">
            <a:avLst>
              <a:gd name="adj" fmla="val 8000"/>
            </a:avLst>
          </a:prstGeom>
          <a:solidFill>
            <a:srgbClr val="EBF0F6"/>
          </a:solidFill>
          <a:ln w="12700">
            <a:solidFill>
              <a:srgbClr val="EBF0F6"/>
            </a:solidFill>
            <a:prstDash val="solid"/>
          </a:ln>
        </p:spPr>
      </p:sp>
      <p:sp>
        <p:nvSpPr>
          <p:cNvPr id="20" name="Text 16"/>
          <p:cNvSpPr txBox="1"/>
          <p:nvPr/>
        </p:nvSpPr>
        <p:spPr>
          <a:xfrm>
            <a:off x="6690208" y="2633472"/>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JAWAPAN</a:t>
            </a:r>
            <a:endParaRPr lang="en-US" sz="950" dirty="0"/>
          </a:p>
        </p:txBody>
      </p:sp>
      <p:sp>
        <p:nvSpPr>
          <p:cNvPr id="21" name="Text 17"/>
          <p:cNvSpPr txBox="1"/>
          <p:nvPr/>
        </p:nvSpPr>
        <p:spPr>
          <a:xfrm>
            <a:off x="6690208" y="2862072"/>
            <a:ext cx="4495648" cy="566928"/>
          </a:xfrm>
          <a:prstGeom prst="rect">
            <a:avLst/>
          </a:prstGeom>
          <a:noFill/>
          <a:ln/>
        </p:spPr>
        <p:txBody>
          <a:bodyPr wrap="square" lIns="0" tIns="0" rIns="0" bIns="0" rtlCol="0" anchor="t"/>
          <a:lstStyle/>
          <a:p>
            <a:pPr indent="0" marL="0">
              <a:buNone/>
            </a:pPr>
            <a:r>
              <a:rPr lang="en-US" sz="1350" dirty="0">
                <a:solidFill>
                  <a:srgbClr val="1B2A3D"/>
                </a:solidFill>
                <a:latin typeface="Calibri" pitchFamily="34" charset="0"/>
                <a:ea typeface="Calibri" pitchFamily="34" charset="-122"/>
                <a:cs typeface="Calibri" pitchFamily="34" charset="-120"/>
              </a:rPr>
              <a:t>Boleh, takde masalah. Bahagian mana yang awak nak fikir? Harga, pakej, atau masa pasang?</a:t>
            </a:r>
            <a:endParaRPr lang="en-US" sz="1350" dirty="0"/>
          </a:p>
        </p:txBody>
      </p:sp>
      <p:sp>
        <p:nvSpPr>
          <p:cNvPr id="22" name="Shape 18"/>
          <p:cNvSpPr/>
          <p:nvPr/>
        </p:nvSpPr>
        <p:spPr>
          <a:xfrm>
            <a:off x="548640" y="393192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3" name="Shape 19"/>
          <p:cNvSpPr/>
          <p:nvPr/>
        </p:nvSpPr>
        <p:spPr>
          <a:xfrm>
            <a:off x="822960" y="4206240"/>
            <a:ext cx="502920" cy="502920"/>
          </a:xfrm>
          <a:prstGeom prst="ellipse">
            <a:avLst>
              <a:gd name="adj" fmla="val 22000"/>
            </a:avLst>
          </a:prstGeom>
          <a:solidFill>
            <a:srgbClr val="F7EADC"/>
          </a:solidFill>
          <a:ln w="12700">
            <a:solidFill>
              <a:srgbClr val="F7EADC"/>
            </a:solidFill>
            <a:prstDash val="solid"/>
          </a:ln>
        </p:spPr>
      </p:sp>
      <p:pic>
        <p:nvPicPr>
          <p:cNvPr id="24" name="Image 2" descr="preencoded.png">    </p:cNvPr>
          <p:cNvPicPr>
            <a:picLocks noChangeAspect="1"/>
          </p:cNvPicPr>
          <p:nvPr/>
        </p:nvPicPr>
        <p:blipFill>
          <a:blip r:embed="rId3"/>
          <a:stretch>
            <a:fillRect/>
          </a:stretch>
        </p:blipFill>
        <p:spPr>
          <a:xfrm>
            <a:off x="943661" y="4326941"/>
            <a:ext cx="261518" cy="261518"/>
          </a:xfrm>
          <a:prstGeom prst="rect">
            <a:avLst/>
          </a:prstGeom>
        </p:spPr>
      </p:pic>
      <p:sp>
        <p:nvSpPr>
          <p:cNvPr id="25" name="Text 20"/>
          <p:cNvSpPr txBox="1"/>
          <p:nvPr/>
        </p:nvSpPr>
        <p:spPr>
          <a:xfrm>
            <a:off x="1508760" y="4187952"/>
            <a:ext cx="4175608" cy="54864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“Mahal la.”</a:t>
            </a:r>
            <a:endParaRPr lang="en-US" sz="1900" dirty="0"/>
          </a:p>
        </p:txBody>
      </p:sp>
      <p:sp>
        <p:nvSpPr>
          <p:cNvPr id="26" name="Shape 21"/>
          <p:cNvSpPr/>
          <p:nvPr/>
        </p:nvSpPr>
        <p:spPr>
          <a:xfrm>
            <a:off x="822960" y="4892040"/>
            <a:ext cx="4861408" cy="914400"/>
          </a:xfrm>
          <a:prstGeom prst="roundRect">
            <a:avLst>
              <a:gd name="adj" fmla="val 8000"/>
            </a:avLst>
          </a:prstGeom>
          <a:solidFill>
            <a:srgbClr val="EBF0F6"/>
          </a:solidFill>
          <a:ln w="12700">
            <a:solidFill>
              <a:srgbClr val="EBF0F6"/>
            </a:solidFill>
            <a:prstDash val="solid"/>
          </a:ln>
        </p:spPr>
      </p:sp>
      <p:sp>
        <p:nvSpPr>
          <p:cNvPr id="27" name="Text 22"/>
          <p:cNvSpPr txBox="1"/>
          <p:nvPr/>
        </p:nvSpPr>
        <p:spPr>
          <a:xfrm>
            <a:off x="1005840" y="4965192"/>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JAWAPAN</a:t>
            </a:r>
            <a:endParaRPr lang="en-US" sz="950" dirty="0"/>
          </a:p>
        </p:txBody>
      </p:sp>
      <p:sp>
        <p:nvSpPr>
          <p:cNvPr id="28" name="Text 23"/>
          <p:cNvSpPr txBox="1"/>
          <p:nvPr/>
        </p:nvSpPr>
        <p:spPr>
          <a:xfrm>
            <a:off x="1005840" y="5193792"/>
            <a:ext cx="4495648" cy="566928"/>
          </a:xfrm>
          <a:prstGeom prst="rect">
            <a:avLst/>
          </a:prstGeom>
          <a:noFill/>
          <a:ln/>
        </p:spPr>
        <p:txBody>
          <a:bodyPr wrap="square" lIns="0" tIns="0" rIns="0" bIns="0" rtlCol="0" anchor="t"/>
          <a:lstStyle/>
          <a:p>
            <a:pPr indent="0" marL="0">
              <a:buNone/>
            </a:pPr>
            <a:r>
              <a:rPr lang="en-US" sz="1350" dirty="0">
                <a:solidFill>
                  <a:srgbClr val="1B2A3D"/>
                </a:solidFill>
                <a:latin typeface="Calibri" pitchFamily="34" charset="0"/>
                <a:ea typeface="Calibri" pitchFamily="34" charset="-122"/>
                <a:cs typeface="Calibri" pitchFamily="34" charset="-120"/>
              </a:rPr>
              <a:t>Faham. Sekarang guna hotspot ke? Cuba kira belanja data sebulan. Unifi unlimited, tak risau data habis.</a:t>
            </a:r>
            <a:endParaRPr lang="en-US" sz="1350" dirty="0"/>
          </a:p>
        </p:txBody>
      </p:sp>
      <p:sp>
        <p:nvSpPr>
          <p:cNvPr id="29" name="Shape 24"/>
          <p:cNvSpPr/>
          <p:nvPr/>
        </p:nvSpPr>
        <p:spPr>
          <a:xfrm>
            <a:off x="6233008" y="393192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0" name="Shape 25"/>
          <p:cNvSpPr/>
          <p:nvPr/>
        </p:nvSpPr>
        <p:spPr>
          <a:xfrm>
            <a:off x="6507328" y="4206240"/>
            <a:ext cx="502920" cy="502920"/>
          </a:xfrm>
          <a:prstGeom prst="ellipse">
            <a:avLst>
              <a:gd name="adj" fmla="val 22000"/>
            </a:avLst>
          </a:prstGeom>
          <a:solidFill>
            <a:srgbClr val="F7EADC"/>
          </a:solidFill>
          <a:ln w="12700">
            <a:solidFill>
              <a:srgbClr val="F7EADC"/>
            </a:solidFill>
            <a:prstDash val="solid"/>
          </a:ln>
        </p:spPr>
      </p:sp>
      <p:pic>
        <p:nvPicPr>
          <p:cNvPr id="31" name="Image 3" descr="preencoded.png">    </p:cNvPr>
          <p:cNvPicPr>
            <a:picLocks noChangeAspect="1"/>
          </p:cNvPicPr>
          <p:nvPr/>
        </p:nvPicPr>
        <p:blipFill>
          <a:blip r:embed="rId4"/>
          <a:stretch>
            <a:fillRect/>
          </a:stretch>
        </p:blipFill>
        <p:spPr>
          <a:xfrm>
            <a:off x="6628028" y="4326941"/>
            <a:ext cx="261518" cy="261518"/>
          </a:xfrm>
          <a:prstGeom prst="rect">
            <a:avLst/>
          </a:prstGeom>
        </p:spPr>
      </p:pic>
      <p:sp>
        <p:nvSpPr>
          <p:cNvPr id="32" name="Text 26"/>
          <p:cNvSpPr txBox="1"/>
          <p:nvPr/>
        </p:nvSpPr>
        <p:spPr>
          <a:xfrm>
            <a:off x="7193128" y="4187952"/>
            <a:ext cx="4175608" cy="54864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“Dah ada provider lain.”</a:t>
            </a:r>
            <a:endParaRPr lang="en-US" sz="1900" dirty="0"/>
          </a:p>
        </p:txBody>
      </p:sp>
      <p:sp>
        <p:nvSpPr>
          <p:cNvPr id="33" name="Shape 27"/>
          <p:cNvSpPr/>
          <p:nvPr/>
        </p:nvSpPr>
        <p:spPr>
          <a:xfrm>
            <a:off x="6507328" y="4892040"/>
            <a:ext cx="4861408" cy="914400"/>
          </a:xfrm>
          <a:prstGeom prst="roundRect">
            <a:avLst>
              <a:gd name="adj" fmla="val 8000"/>
            </a:avLst>
          </a:prstGeom>
          <a:solidFill>
            <a:srgbClr val="EBF0F6"/>
          </a:solidFill>
          <a:ln w="12700">
            <a:solidFill>
              <a:srgbClr val="EBF0F6"/>
            </a:solidFill>
            <a:prstDash val="solid"/>
          </a:ln>
        </p:spPr>
      </p:sp>
      <p:sp>
        <p:nvSpPr>
          <p:cNvPr id="34" name="Text 28"/>
          <p:cNvSpPr txBox="1"/>
          <p:nvPr/>
        </p:nvSpPr>
        <p:spPr>
          <a:xfrm>
            <a:off x="6690208" y="4965192"/>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JAWAPAN</a:t>
            </a:r>
            <a:endParaRPr lang="en-US" sz="950" dirty="0"/>
          </a:p>
        </p:txBody>
      </p:sp>
      <p:sp>
        <p:nvSpPr>
          <p:cNvPr id="35" name="Text 29"/>
          <p:cNvSpPr txBox="1"/>
          <p:nvPr/>
        </p:nvSpPr>
        <p:spPr>
          <a:xfrm>
            <a:off x="6690208" y="5193792"/>
            <a:ext cx="4495648" cy="566928"/>
          </a:xfrm>
          <a:prstGeom prst="rect">
            <a:avLst/>
          </a:prstGeom>
          <a:noFill/>
          <a:ln/>
        </p:spPr>
        <p:txBody>
          <a:bodyPr wrap="square" lIns="0" tIns="0" rIns="0" bIns="0" rtlCol="0" anchor="t"/>
          <a:lstStyle/>
          <a:p>
            <a:pPr indent="0" marL="0">
              <a:buNone/>
            </a:pPr>
            <a:r>
              <a:rPr lang="en-US" sz="1350" dirty="0">
                <a:solidFill>
                  <a:srgbClr val="1B2A3D"/>
                </a:solidFill>
                <a:latin typeface="Calibri" pitchFamily="34" charset="0"/>
                <a:ea typeface="Calibri" pitchFamily="34" charset="-122"/>
                <a:cs typeface="Calibri" pitchFamily="34" charset="-120"/>
              </a:rPr>
              <a:t>Oh okay. Kontrak sekarang habis bila? Saya boleh WhatsApp semula dekat tarikh tu.</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Tiga mesej follow-up dalam tujuh hari, kemudian berhenti</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14</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777240" y="1874520"/>
            <a:ext cx="9509760" cy="0"/>
          </a:xfrm>
          <a:prstGeom prst="line">
            <a:avLst/>
          </a:prstGeom>
          <a:noFill/>
          <a:ln w="25400">
            <a:solidFill>
              <a:srgbClr val="D8E0EA"/>
            </a:solidFill>
            <a:prstDash val="solid"/>
          </a:ln>
        </p:spPr>
      </p:sp>
      <p:sp>
        <p:nvSpPr>
          <p:cNvPr id="9" name="Shape 7"/>
          <p:cNvSpPr/>
          <p:nvPr/>
        </p:nvSpPr>
        <p:spPr>
          <a:xfrm>
            <a:off x="594360" y="1691640"/>
            <a:ext cx="365760" cy="365760"/>
          </a:xfrm>
          <a:prstGeom prst="ellipse">
            <a:avLst/>
          </a:prstGeom>
          <a:solidFill>
            <a:srgbClr val="0B1F3A"/>
          </a:solidFill>
          <a:ln w="38100">
            <a:solidFill>
              <a:srgbClr val="F4F6F9"/>
            </a:solidFill>
            <a:prstDash val="solid"/>
          </a:ln>
        </p:spPr>
      </p:sp>
      <p:sp>
        <p:nvSpPr>
          <p:cNvPr id="10" name="Text 8"/>
          <p:cNvSpPr txBox="1"/>
          <p:nvPr/>
        </p:nvSpPr>
        <p:spPr>
          <a:xfrm>
            <a:off x="1097280" y="1645920"/>
            <a:ext cx="1828800" cy="45720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Hari 1</a:t>
            </a:r>
            <a:endParaRPr lang="en-US" sz="1800" dirty="0"/>
          </a:p>
        </p:txBody>
      </p:sp>
      <p:sp>
        <p:nvSpPr>
          <p:cNvPr id="11" name="Shape 9"/>
          <p:cNvSpPr/>
          <p:nvPr/>
        </p:nvSpPr>
        <p:spPr>
          <a:xfrm>
            <a:off x="548640" y="2286000"/>
            <a:ext cx="27432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pic>
        <p:nvPicPr>
          <p:cNvPr id="12" name="Image 0" descr="preencoded.png">    </p:cNvPr>
          <p:cNvPicPr>
            <a:picLocks noChangeAspect="1"/>
          </p:cNvPicPr>
          <p:nvPr/>
        </p:nvPicPr>
        <p:blipFill>
          <a:blip r:embed="rId1"/>
          <a:stretch>
            <a:fillRect/>
          </a:stretch>
        </p:blipFill>
        <p:spPr>
          <a:xfrm>
            <a:off x="777240" y="2487168"/>
            <a:ext cx="274320" cy="274320"/>
          </a:xfrm>
          <a:prstGeom prst="rect">
            <a:avLst/>
          </a:prstGeom>
        </p:spPr>
      </p:pic>
      <p:sp>
        <p:nvSpPr>
          <p:cNvPr id="13" name="Text 10"/>
          <p:cNvSpPr txBox="1"/>
          <p:nvPr/>
        </p:nvSpPr>
        <p:spPr>
          <a:xfrm>
            <a:off x="1188720" y="2450592"/>
            <a:ext cx="1874520" cy="146304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Hi [nama], semalam awak tanya pasal Unifi. Nak saya semakkan coverage untuk alamat awak dulu?</a:t>
            </a:r>
            <a:endParaRPr lang="en-US" sz="1400" dirty="0"/>
          </a:p>
        </p:txBody>
      </p:sp>
      <p:sp>
        <p:nvSpPr>
          <p:cNvPr id="14" name="Shape 11"/>
          <p:cNvSpPr/>
          <p:nvPr/>
        </p:nvSpPr>
        <p:spPr>
          <a:xfrm>
            <a:off x="3611880" y="1691640"/>
            <a:ext cx="365760" cy="365760"/>
          </a:xfrm>
          <a:prstGeom prst="ellipse">
            <a:avLst/>
          </a:prstGeom>
          <a:solidFill>
            <a:srgbClr val="0B1F3A"/>
          </a:solidFill>
          <a:ln w="38100">
            <a:solidFill>
              <a:srgbClr val="F4F6F9"/>
            </a:solidFill>
            <a:prstDash val="solid"/>
          </a:ln>
        </p:spPr>
      </p:sp>
      <p:sp>
        <p:nvSpPr>
          <p:cNvPr id="15" name="Text 12"/>
          <p:cNvSpPr txBox="1"/>
          <p:nvPr/>
        </p:nvSpPr>
        <p:spPr>
          <a:xfrm>
            <a:off x="4114800" y="1645920"/>
            <a:ext cx="1828800" cy="45720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Hari 3</a:t>
            </a:r>
            <a:endParaRPr lang="en-US" sz="1800" dirty="0"/>
          </a:p>
        </p:txBody>
      </p:sp>
      <p:sp>
        <p:nvSpPr>
          <p:cNvPr id="16" name="Shape 13"/>
          <p:cNvSpPr/>
          <p:nvPr/>
        </p:nvSpPr>
        <p:spPr>
          <a:xfrm>
            <a:off x="3566160" y="2286000"/>
            <a:ext cx="27432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pic>
        <p:nvPicPr>
          <p:cNvPr id="17" name="Image 1" descr="preencoded.png">    </p:cNvPr>
          <p:cNvPicPr>
            <a:picLocks noChangeAspect="1"/>
          </p:cNvPicPr>
          <p:nvPr/>
        </p:nvPicPr>
        <p:blipFill>
          <a:blip r:embed="rId2"/>
          <a:stretch>
            <a:fillRect/>
          </a:stretch>
        </p:blipFill>
        <p:spPr>
          <a:xfrm>
            <a:off x="3794760" y="2487168"/>
            <a:ext cx="274320" cy="274320"/>
          </a:xfrm>
          <a:prstGeom prst="rect">
            <a:avLst/>
          </a:prstGeom>
        </p:spPr>
      </p:pic>
      <p:sp>
        <p:nvSpPr>
          <p:cNvPr id="18" name="Text 14"/>
          <p:cNvSpPr txBox="1"/>
          <p:nvPr/>
        </p:nvSpPr>
        <p:spPr>
          <a:xfrm>
            <a:off x="4206240" y="2450592"/>
            <a:ext cx="1874520" cy="146304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Hi [nama], ada apa-apa yang awak nak tahu lagi pasal pakej Unifi? Tanya je ye.</a:t>
            </a:r>
            <a:endParaRPr lang="en-US" sz="1400" dirty="0"/>
          </a:p>
        </p:txBody>
      </p:sp>
      <p:sp>
        <p:nvSpPr>
          <p:cNvPr id="19" name="Shape 15"/>
          <p:cNvSpPr/>
          <p:nvPr/>
        </p:nvSpPr>
        <p:spPr>
          <a:xfrm>
            <a:off x="6629400" y="1691640"/>
            <a:ext cx="365760" cy="365760"/>
          </a:xfrm>
          <a:prstGeom prst="ellipse">
            <a:avLst/>
          </a:prstGeom>
          <a:solidFill>
            <a:srgbClr val="0B1F3A"/>
          </a:solidFill>
          <a:ln w="38100">
            <a:solidFill>
              <a:srgbClr val="F4F6F9"/>
            </a:solidFill>
            <a:prstDash val="solid"/>
          </a:ln>
        </p:spPr>
      </p:sp>
      <p:sp>
        <p:nvSpPr>
          <p:cNvPr id="20" name="Text 16"/>
          <p:cNvSpPr txBox="1"/>
          <p:nvPr/>
        </p:nvSpPr>
        <p:spPr>
          <a:xfrm>
            <a:off x="7132320" y="1645920"/>
            <a:ext cx="1828800" cy="45720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Hari 7</a:t>
            </a:r>
            <a:endParaRPr lang="en-US" sz="1800" dirty="0"/>
          </a:p>
        </p:txBody>
      </p:sp>
      <p:sp>
        <p:nvSpPr>
          <p:cNvPr id="21" name="Shape 17"/>
          <p:cNvSpPr/>
          <p:nvPr/>
        </p:nvSpPr>
        <p:spPr>
          <a:xfrm>
            <a:off x="6583680" y="2286000"/>
            <a:ext cx="27432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pic>
        <p:nvPicPr>
          <p:cNvPr id="22" name="Image 2" descr="preencoded.png">    </p:cNvPr>
          <p:cNvPicPr>
            <a:picLocks noChangeAspect="1"/>
          </p:cNvPicPr>
          <p:nvPr/>
        </p:nvPicPr>
        <p:blipFill>
          <a:blip r:embed="rId3"/>
          <a:stretch>
            <a:fillRect/>
          </a:stretch>
        </p:blipFill>
        <p:spPr>
          <a:xfrm>
            <a:off x="6812280" y="2487168"/>
            <a:ext cx="274320" cy="274320"/>
          </a:xfrm>
          <a:prstGeom prst="rect">
            <a:avLst/>
          </a:prstGeom>
        </p:spPr>
      </p:pic>
      <p:sp>
        <p:nvSpPr>
          <p:cNvPr id="23" name="Text 18"/>
          <p:cNvSpPr txBox="1"/>
          <p:nvPr/>
        </p:nvSpPr>
        <p:spPr>
          <a:xfrm>
            <a:off x="7223760" y="2450592"/>
            <a:ext cx="1874520" cy="146304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Saya tak nak ganggu awak. Kalau dah ready nak pasang, WhatsApp saya je ye.</a:t>
            </a:r>
            <a:endParaRPr lang="en-US" sz="1400" dirty="0"/>
          </a:p>
        </p:txBody>
      </p:sp>
      <p:sp>
        <p:nvSpPr>
          <p:cNvPr id="24" name="Shape 19"/>
          <p:cNvSpPr/>
          <p:nvPr/>
        </p:nvSpPr>
        <p:spPr>
          <a:xfrm>
            <a:off x="9646920" y="1691640"/>
            <a:ext cx="365760" cy="365760"/>
          </a:xfrm>
          <a:prstGeom prst="ellipse">
            <a:avLst/>
          </a:prstGeom>
          <a:solidFill>
            <a:srgbClr val="C8742B"/>
          </a:solidFill>
          <a:ln w="38100">
            <a:solidFill>
              <a:srgbClr val="F4F6F9"/>
            </a:solidFill>
            <a:prstDash val="solid"/>
          </a:ln>
        </p:spPr>
      </p:sp>
      <p:sp>
        <p:nvSpPr>
          <p:cNvPr id="25" name="Text 20"/>
          <p:cNvSpPr txBox="1"/>
          <p:nvPr/>
        </p:nvSpPr>
        <p:spPr>
          <a:xfrm>
            <a:off x="10149840" y="1645920"/>
            <a:ext cx="1280160" cy="457200"/>
          </a:xfrm>
          <a:prstGeom prst="rect">
            <a:avLst/>
          </a:prstGeom>
          <a:noFill/>
          <a:ln/>
        </p:spPr>
        <p:txBody>
          <a:bodyPr wrap="square" lIns="0" tIns="0" rIns="0" bIns="0" rtlCol="0" anchor="ctr"/>
          <a:lstStyle/>
          <a:p>
            <a:pPr indent="0" marL="0">
              <a:buNone/>
            </a:pPr>
            <a:r>
              <a:rPr lang="en-US" sz="1800" b="1" dirty="0">
                <a:solidFill>
                  <a:srgbClr val="C8742B"/>
                </a:solidFill>
                <a:latin typeface="Calibri" pitchFamily="34" charset="0"/>
                <a:ea typeface="Calibri" pitchFamily="34" charset="-122"/>
                <a:cs typeface="Calibri" pitchFamily="34" charset="-120"/>
              </a:rPr>
              <a:t>Berhenti</a:t>
            </a:r>
            <a:endParaRPr lang="en-US" sz="1800" dirty="0"/>
          </a:p>
        </p:txBody>
      </p:sp>
      <p:sp>
        <p:nvSpPr>
          <p:cNvPr id="26" name="Shape 21"/>
          <p:cNvSpPr/>
          <p:nvPr/>
        </p:nvSpPr>
        <p:spPr>
          <a:xfrm>
            <a:off x="9601200" y="2286000"/>
            <a:ext cx="2041855" cy="1783080"/>
          </a:xfrm>
          <a:prstGeom prst="roundRect">
            <a:avLst>
              <a:gd name="adj" fmla="val 4103"/>
            </a:avLst>
          </a:prstGeom>
          <a:solidFill>
            <a:srgbClr val="F7EADC"/>
          </a:solidFill>
          <a:ln w="12700">
            <a:solidFill>
              <a:srgbClr val="F7EADC"/>
            </a:solidFill>
            <a:prstDash val="solid"/>
          </a:ln>
        </p:spPr>
      </p:sp>
      <p:pic>
        <p:nvPicPr>
          <p:cNvPr id="27" name="Image 3" descr="preencoded.png">    </p:cNvPr>
          <p:cNvPicPr>
            <a:picLocks noChangeAspect="1"/>
          </p:cNvPicPr>
          <p:nvPr/>
        </p:nvPicPr>
        <p:blipFill>
          <a:blip r:embed="rId4"/>
          <a:stretch>
            <a:fillRect/>
          </a:stretch>
        </p:blipFill>
        <p:spPr>
          <a:xfrm>
            <a:off x="9829800" y="2487168"/>
            <a:ext cx="365760" cy="365760"/>
          </a:xfrm>
          <a:prstGeom prst="rect">
            <a:avLst/>
          </a:prstGeom>
        </p:spPr>
      </p:pic>
      <p:sp>
        <p:nvSpPr>
          <p:cNvPr id="28" name="Text 22"/>
          <p:cNvSpPr txBox="1"/>
          <p:nvPr/>
        </p:nvSpPr>
        <p:spPr>
          <a:xfrm>
            <a:off x="9829800" y="2971800"/>
            <a:ext cx="1630375" cy="91440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Selepas hari 7, rekod sebagai senyap.</a:t>
            </a:r>
            <a:endParaRPr lang="en-US" sz="1400" dirty="0"/>
          </a:p>
        </p:txBody>
      </p:sp>
      <p:sp>
        <p:nvSpPr>
          <p:cNvPr id="29" name="Shape 23"/>
          <p:cNvSpPr/>
          <p:nvPr/>
        </p:nvSpPr>
        <p:spPr>
          <a:xfrm>
            <a:off x="548640" y="4343400"/>
            <a:ext cx="11094415" cy="1783080"/>
          </a:xfrm>
          <a:prstGeom prst="roundRect">
            <a:avLst>
              <a:gd name="adj" fmla="val 4103"/>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30" name="Shape 24"/>
          <p:cNvSpPr/>
          <p:nvPr/>
        </p:nvSpPr>
        <p:spPr>
          <a:xfrm>
            <a:off x="914400" y="4709160"/>
            <a:ext cx="548640" cy="548640"/>
          </a:xfrm>
          <a:prstGeom prst="roundRect">
            <a:avLst>
              <a:gd name="adj" fmla="val 22000"/>
            </a:avLst>
          </a:prstGeom>
          <a:solidFill>
            <a:srgbClr val="C8742B"/>
          </a:solidFill>
          <a:ln w="12700">
            <a:solidFill>
              <a:srgbClr val="C8742B"/>
            </a:solidFill>
            <a:prstDash val="solid"/>
          </a:ln>
        </p:spPr>
      </p:sp>
      <p:pic>
        <p:nvPicPr>
          <p:cNvPr id="31" name="Image 4" descr="preencoded.png">    </p:cNvPr>
          <p:cNvPicPr>
            <a:picLocks noChangeAspect="1"/>
          </p:cNvPicPr>
          <p:nvPr/>
        </p:nvPicPr>
        <p:blipFill>
          <a:blip r:embed="rId5"/>
          <a:stretch>
            <a:fillRect/>
          </a:stretch>
        </p:blipFill>
        <p:spPr>
          <a:xfrm>
            <a:off x="1046074" y="4840834"/>
            <a:ext cx="285293" cy="285293"/>
          </a:xfrm>
          <a:prstGeom prst="rect">
            <a:avLst/>
          </a:prstGeom>
        </p:spPr>
      </p:pic>
      <p:sp>
        <p:nvSpPr>
          <p:cNvPr id="32" name="Text 25"/>
          <p:cNvSpPr txBox="1"/>
          <p:nvPr/>
        </p:nvSpPr>
        <p:spPr>
          <a:xfrm>
            <a:off x="914400" y="5394960"/>
            <a:ext cx="27432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ORDER TERSANGKUT</a:t>
            </a:r>
            <a:endParaRPr lang="en-US" sz="1100" dirty="0"/>
          </a:p>
        </p:txBody>
      </p:sp>
      <p:sp>
        <p:nvSpPr>
          <p:cNvPr id="33" name="Text 26"/>
          <p:cNvSpPr txBox="1"/>
          <p:nvPr/>
        </p:nvSpPr>
        <p:spPr>
          <a:xfrm>
            <a:off x="914400" y="5650992"/>
            <a:ext cx="292608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Update setiap minggu</a:t>
            </a:r>
            <a:endParaRPr lang="en-US" sz="1800" dirty="0"/>
          </a:p>
        </p:txBody>
      </p:sp>
      <p:sp>
        <p:nvSpPr>
          <p:cNvPr id="34" name="Shape 27"/>
          <p:cNvSpPr/>
          <p:nvPr/>
        </p:nvSpPr>
        <p:spPr>
          <a:xfrm>
            <a:off x="4023360" y="4617720"/>
            <a:ext cx="7299655" cy="1234440"/>
          </a:xfrm>
          <a:prstGeom prst="roundRect">
            <a:avLst>
              <a:gd name="adj" fmla="val 5926"/>
            </a:avLst>
          </a:prstGeom>
          <a:solidFill>
            <a:srgbClr val="17325A"/>
          </a:solidFill>
          <a:ln w="9525">
            <a:solidFill>
              <a:srgbClr val="23436F"/>
            </a:solidFill>
            <a:prstDash val="solid"/>
          </a:ln>
        </p:spPr>
      </p:sp>
      <p:sp>
        <p:nvSpPr>
          <p:cNvPr id="35" name="Text 28"/>
          <p:cNvSpPr txBox="1"/>
          <p:nvPr/>
        </p:nvSpPr>
        <p:spPr>
          <a:xfrm>
            <a:off x="4297680" y="4617720"/>
            <a:ext cx="6751015" cy="123444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“Hi [nama], update pemasangan awak: [status]. Saya masih follow up dan akan update lagi [hari].”</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Hubungi customer selepas pasang, jangan tunggu mereka bertanya</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15</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9" name="Shape 7"/>
          <p:cNvSpPr/>
          <p:nvPr/>
        </p:nvSpPr>
        <p:spPr>
          <a:xfrm>
            <a:off x="548640" y="1600200"/>
            <a:ext cx="5431536" cy="566928"/>
          </a:xfrm>
          <a:prstGeom prst="roundRect">
            <a:avLst>
              <a:gd name="adj" fmla="val 12903"/>
            </a:avLst>
          </a:prstGeom>
          <a:solidFill>
            <a:srgbClr val="0B1F3A"/>
          </a:solidFill>
          <a:ln w="12700">
            <a:solidFill>
              <a:srgbClr val="0B1F3A"/>
            </a:solidFill>
            <a:prstDash val="solid"/>
          </a:ln>
        </p:spPr>
      </p:sp>
      <p:sp>
        <p:nvSpPr>
          <p:cNvPr id="10" name="Shape 8"/>
          <p:cNvSpPr/>
          <p:nvPr/>
        </p:nvSpPr>
        <p:spPr>
          <a:xfrm>
            <a:off x="548640" y="1892808"/>
            <a:ext cx="5431536" cy="274320"/>
          </a:xfrm>
          <a:prstGeom prst="rect">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777240" y="1755648"/>
            <a:ext cx="256032" cy="256032"/>
          </a:xfrm>
          <a:prstGeom prst="rect">
            <a:avLst/>
          </a:prstGeom>
        </p:spPr>
      </p:pic>
      <p:sp>
        <p:nvSpPr>
          <p:cNvPr id="12" name="Text 9"/>
          <p:cNvSpPr txBox="1"/>
          <p:nvPr/>
        </p:nvSpPr>
        <p:spPr>
          <a:xfrm>
            <a:off x="1143000"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LANGKAH 8  ·  HARI PEMASANGAN SIAP</a:t>
            </a:r>
            <a:endParaRPr lang="en-US" sz="1100" dirty="0"/>
          </a:p>
        </p:txBody>
      </p:sp>
      <p:sp>
        <p:nvSpPr>
          <p:cNvPr id="13" name="Shape 10"/>
          <p:cNvSpPr/>
          <p:nvPr/>
        </p:nvSpPr>
        <p:spPr>
          <a:xfrm>
            <a:off x="1051560" y="2404872"/>
            <a:ext cx="4700016" cy="710946"/>
          </a:xfrm>
          <a:prstGeom prst="roundRect">
            <a:avLst>
              <a:gd name="adj" fmla="val 12862"/>
            </a:avLst>
          </a:prstGeom>
          <a:solidFill>
            <a:srgbClr val="FFFFFF"/>
          </a:solidFill>
          <a:ln w="6350">
            <a:solidFill>
              <a:srgbClr val="D8E0EA"/>
            </a:solidFill>
            <a:prstDash val="solid"/>
          </a:ln>
        </p:spPr>
      </p:sp>
      <p:sp>
        <p:nvSpPr>
          <p:cNvPr id="14" name="Text 11"/>
          <p:cNvSpPr txBox="1"/>
          <p:nvPr/>
        </p:nvSpPr>
        <p:spPr>
          <a:xfrm>
            <a:off x="1216152" y="2532888"/>
            <a:ext cx="4370832"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Tahniah, Unifi awak dah aktif! Ni 3 perkara penting:</a:t>
            </a:r>
            <a:endParaRPr lang="en-US" sz="1350" dirty="0"/>
          </a:p>
        </p:txBody>
      </p:sp>
      <p:sp>
        <p:nvSpPr>
          <p:cNvPr id="15" name="Shape 12"/>
          <p:cNvSpPr/>
          <p:nvPr/>
        </p:nvSpPr>
        <p:spPr>
          <a:xfrm>
            <a:off x="1051560" y="3280410"/>
            <a:ext cx="4700016" cy="1693926"/>
          </a:xfrm>
          <a:prstGeom prst="roundRect">
            <a:avLst>
              <a:gd name="adj" fmla="val 5398"/>
            </a:avLst>
          </a:prstGeom>
          <a:solidFill>
            <a:srgbClr val="FFFFFF"/>
          </a:solidFill>
          <a:ln w="6350">
            <a:solidFill>
              <a:srgbClr val="D8E0EA"/>
            </a:solidFill>
            <a:prstDash val="solid"/>
          </a:ln>
        </p:spPr>
      </p:sp>
      <p:sp>
        <p:nvSpPr>
          <p:cNvPr id="16" name="Text 13"/>
          <p:cNvSpPr txBox="1"/>
          <p:nvPr/>
        </p:nvSpPr>
        <p:spPr>
          <a:xfrm>
            <a:off x="1216152" y="3408426"/>
            <a:ext cx="4370832" cy="147447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1. Bayaran upfront RM100 perlu dibuat dalam [X] hari. Cara bayar ada dalam PDF ni.</a:t>
            </a:r>
            <a:endParaRPr lang="en-US" sz="1350" dirty="0"/>
          </a:p>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2. No akaun Unifi ada dalam SMS/email, bermula dengan 70…</a:t>
            </a:r>
            <a:endParaRPr lang="en-US" sz="1350" dirty="0"/>
          </a:p>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3. Download app Unifi Universe (bukan MyUnifi) untuk semak bil dan bayar.</a:t>
            </a:r>
            <a:endParaRPr lang="en-US" sz="1350" dirty="0"/>
          </a:p>
        </p:txBody>
      </p:sp>
      <p:sp>
        <p:nvSpPr>
          <p:cNvPr id="17" name="Shape 14"/>
          <p:cNvSpPr/>
          <p:nvPr/>
        </p:nvSpPr>
        <p:spPr>
          <a:xfrm>
            <a:off x="777240" y="5349240"/>
            <a:ext cx="4974336" cy="548640"/>
          </a:xfrm>
          <a:prstGeom prst="roundRect">
            <a:avLst>
              <a:gd name="adj" fmla="val 13333"/>
            </a:avLst>
          </a:prstGeom>
          <a:solidFill>
            <a:srgbClr val="F7EADC"/>
          </a:solidFill>
          <a:ln w="12700">
            <a:solidFill>
              <a:srgbClr val="F7EADC"/>
            </a:solidFill>
            <a:prstDash val="solid"/>
          </a:ln>
        </p:spPr>
      </p:sp>
      <p:pic>
        <p:nvPicPr>
          <p:cNvPr id="18" name="Image 1" descr="preencoded.png">    </p:cNvPr>
          <p:cNvPicPr>
            <a:picLocks noChangeAspect="1"/>
          </p:cNvPicPr>
          <p:nvPr/>
        </p:nvPicPr>
        <p:blipFill>
          <a:blip r:embed="rId2"/>
          <a:stretch>
            <a:fillRect/>
          </a:stretch>
        </p:blipFill>
        <p:spPr>
          <a:xfrm>
            <a:off x="932688" y="5495544"/>
            <a:ext cx="256032" cy="256032"/>
          </a:xfrm>
          <a:prstGeom prst="rect">
            <a:avLst/>
          </a:prstGeom>
        </p:spPr>
      </p:pic>
      <p:sp>
        <p:nvSpPr>
          <p:cNvPr id="19" name="Text 15"/>
          <p:cNvSpPr txBox="1"/>
          <p:nvPr/>
        </p:nvSpPr>
        <p:spPr>
          <a:xfrm>
            <a:off x="1325880"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Hantar hari yang sama, jangan tunggu customer tanya.</a:t>
            </a:r>
            <a:endParaRPr lang="en-US" sz="1300" dirty="0"/>
          </a:p>
        </p:txBody>
      </p:sp>
      <p:sp>
        <p:nvSpPr>
          <p:cNvPr id="20" name="Shape 16"/>
          <p:cNvSpPr/>
          <p:nvPr/>
        </p:nvSpPr>
        <p:spPr>
          <a:xfrm>
            <a:off x="6208776"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21" name="Shape 17"/>
          <p:cNvSpPr/>
          <p:nvPr/>
        </p:nvSpPr>
        <p:spPr>
          <a:xfrm>
            <a:off x="6208776" y="1600200"/>
            <a:ext cx="5431536" cy="566928"/>
          </a:xfrm>
          <a:prstGeom prst="roundRect">
            <a:avLst>
              <a:gd name="adj" fmla="val 12903"/>
            </a:avLst>
          </a:prstGeom>
          <a:solidFill>
            <a:srgbClr val="0B1F3A"/>
          </a:solidFill>
          <a:ln w="12700">
            <a:solidFill>
              <a:srgbClr val="0B1F3A"/>
            </a:solidFill>
            <a:prstDash val="solid"/>
          </a:ln>
        </p:spPr>
      </p:sp>
      <p:sp>
        <p:nvSpPr>
          <p:cNvPr id="22" name="Shape 18"/>
          <p:cNvSpPr/>
          <p:nvPr/>
        </p:nvSpPr>
        <p:spPr>
          <a:xfrm>
            <a:off x="6208776" y="1892808"/>
            <a:ext cx="5431536" cy="274320"/>
          </a:xfrm>
          <a:prstGeom prst="rect">
            <a:avLst/>
          </a:prstGeom>
          <a:solidFill>
            <a:srgbClr val="0B1F3A"/>
          </a:solidFill>
          <a:ln w="12700">
            <a:solidFill>
              <a:srgbClr val="0B1F3A"/>
            </a:solidFill>
            <a:prstDash val="solid"/>
          </a:ln>
        </p:spPr>
      </p:sp>
      <p:pic>
        <p:nvPicPr>
          <p:cNvPr id="23" name="Image 2" descr="preencoded.png">    </p:cNvPr>
          <p:cNvPicPr>
            <a:picLocks noChangeAspect="1"/>
          </p:cNvPicPr>
          <p:nvPr/>
        </p:nvPicPr>
        <p:blipFill>
          <a:blip r:embed="rId3"/>
          <a:stretch>
            <a:fillRect/>
          </a:stretch>
        </p:blipFill>
        <p:spPr>
          <a:xfrm>
            <a:off x="6437376" y="1755648"/>
            <a:ext cx="256032" cy="256032"/>
          </a:xfrm>
          <a:prstGeom prst="rect">
            <a:avLst/>
          </a:prstGeom>
        </p:spPr>
      </p:pic>
      <p:sp>
        <p:nvSpPr>
          <p:cNvPr id="24" name="Text 19"/>
          <p:cNvSpPr txBox="1"/>
          <p:nvPr/>
        </p:nvSpPr>
        <p:spPr>
          <a:xfrm>
            <a:off x="6803136"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LANGKAH 9  ·  3–5 HARI SELEPAS PASANG</a:t>
            </a:r>
            <a:endParaRPr lang="en-US" sz="1100" dirty="0"/>
          </a:p>
        </p:txBody>
      </p:sp>
      <p:sp>
        <p:nvSpPr>
          <p:cNvPr id="25" name="Shape 20"/>
          <p:cNvSpPr/>
          <p:nvPr/>
        </p:nvSpPr>
        <p:spPr>
          <a:xfrm>
            <a:off x="6711696" y="2404872"/>
            <a:ext cx="4700016" cy="710946"/>
          </a:xfrm>
          <a:prstGeom prst="roundRect">
            <a:avLst>
              <a:gd name="adj" fmla="val 12862"/>
            </a:avLst>
          </a:prstGeom>
          <a:solidFill>
            <a:srgbClr val="FFFFFF"/>
          </a:solidFill>
          <a:ln w="6350">
            <a:solidFill>
              <a:srgbClr val="D8E0EA"/>
            </a:solidFill>
            <a:prstDash val="solid"/>
          </a:ln>
        </p:spPr>
      </p:sp>
      <p:sp>
        <p:nvSpPr>
          <p:cNvPr id="26" name="Text 21"/>
          <p:cNvSpPr txBox="1"/>
          <p:nvPr/>
        </p:nvSpPr>
        <p:spPr>
          <a:xfrm>
            <a:off x="6876288" y="2532888"/>
            <a:ext cx="4370832"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Hi [nama], macam mana internet sekarang? Dah tak tersekat-sekat macam dulu?</a:t>
            </a:r>
            <a:endParaRPr lang="en-US" sz="1350" dirty="0"/>
          </a:p>
        </p:txBody>
      </p:sp>
      <p:sp>
        <p:nvSpPr>
          <p:cNvPr id="27" name="Shape 22"/>
          <p:cNvSpPr/>
          <p:nvPr/>
        </p:nvSpPr>
        <p:spPr>
          <a:xfrm>
            <a:off x="6711696" y="3280410"/>
            <a:ext cx="4700016" cy="710946"/>
          </a:xfrm>
          <a:prstGeom prst="roundRect">
            <a:avLst>
              <a:gd name="adj" fmla="val 12862"/>
            </a:avLst>
          </a:prstGeom>
          <a:solidFill>
            <a:srgbClr val="FFFFFF"/>
          </a:solidFill>
          <a:ln w="6350">
            <a:solidFill>
              <a:srgbClr val="D8E0EA"/>
            </a:solidFill>
            <a:prstDash val="solid"/>
          </a:ln>
        </p:spPr>
      </p:sp>
      <p:sp>
        <p:nvSpPr>
          <p:cNvPr id="28" name="Text 23"/>
          <p:cNvSpPr txBox="1"/>
          <p:nvPr/>
        </p:nvSpPr>
        <p:spPr>
          <a:xfrm>
            <a:off x="6876288" y="3408426"/>
            <a:ext cx="4370832"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Dah sempat bayar upfront RM100 tu? Kalau ada masalah nak bayar, beritahu saya ye.</a:t>
            </a:r>
            <a:endParaRPr lang="en-US" sz="1350" dirty="0"/>
          </a:p>
        </p:txBody>
      </p:sp>
      <p:sp>
        <p:nvSpPr>
          <p:cNvPr id="29" name="Shape 24"/>
          <p:cNvSpPr/>
          <p:nvPr/>
        </p:nvSpPr>
        <p:spPr>
          <a:xfrm>
            <a:off x="6437376" y="5349240"/>
            <a:ext cx="4974336" cy="548640"/>
          </a:xfrm>
          <a:prstGeom prst="roundRect">
            <a:avLst>
              <a:gd name="adj" fmla="val 13333"/>
            </a:avLst>
          </a:prstGeom>
          <a:solidFill>
            <a:srgbClr val="F7EADC"/>
          </a:solidFill>
          <a:ln w="12700">
            <a:solidFill>
              <a:srgbClr val="F7EADC"/>
            </a:solidFill>
            <a:prstDash val="solid"/>
          </a:ln>
        </p:spPr>
      </p:sp>
      <p:pic>
        <p:nvPicPr>
          <p:cNvPr id="30" name="Image 3" descr="preencoded.png">    </p:cNvPr>
          <p:cNvPicPr>
            <a:picLocks noChangeAspect="1"/>
          </p:cNvPicPr>
          <p:nvPr/>
        </p:nvPicPr>
        <p:blipFill>
          <a:blip r:embed="rId4"/>
          <a:stretch>
            <a:fillRect/>
          </a:stretch>
        </p:blipFill>
        <p:spPr>
          <a:xfrm>
            <a:off x="6592824" y="5495544"/>
            <a:ext cx="256032" cy="256032"/>
          </a:xfrm>
          <a:prstGeom prst="rect">
            <a:avLst/>
          </a:prstGeom>
        </p:spPr>
      </p:pic>
      <p:sp>
        <p:nvSpPr>
          <p:cNvPr id="31" name="Text 25"/>
          <p:cNvSpPr txBox="1"/>
          <p:nvPr/>
        </p:nvSpPr>
        <p:spPr>
          <a:xfrm>
            <a:off x="6986016"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Customer puas hati? Masa terbaik minta referral.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583680" y="-2011680"/>
            <a:ext cx="7772400" cy="7772400"/>
          </a:xfrm>
          <a:prstGeom prst="ellipse">
            <a:avLst/>
          </a:prstGeom>
          <a:solidFill>
            <a:srgbClr val="17325A"/>
          </a:solidFill>
          <a:ln w="12700">
            <a:solidFill>
              <a:srgbClr val="17325A"/>
            </a:solidFill>
            <a:prstDash val="solid"/>
          </a:ln>
        </p:spPr>
      </p:sp>
      <p:sp>
        <p:nvSpPr>
          <p:cNvPr id="3" name="Text 1"/>
          <p:cNvSpPr txBox="1"/>
          <p:nvPr/>
        </p:nvSpPr>
        <p:spPr>
          <a:xfrm>
            <a:off x="548640" y="1371600"/>
            <a:ext cx="4572000" cy="274320"/>
          </a:xfrm>
          <a:prstGeom prst="rect">
            <a:avLst/>
          </a:prstGeom>
          <a:noFill/>
          <a:ln/>
        </p:spPr>
        <p:txBody>
          <a:bodyPr wrap="square" lIns="0" tIns="0" rIns="0" bIns="0" rtlCol="0" anchor="t"/>
          <a:lstStyle/>
          <a:p>
            <a:pPr indent="0" marL="0">
              <a:buNone/>
            </a:pPr>
            <a:r>
              <a:rPr lang="en-US" sz="1200" b="1" spc="300" kern="0" dirty="0">
                <a:solidFill>
                  <a:srgbClr val="C8742B"/>
                </a:solidFill>
                <a:latin typeface="Calibri" pitchFamily="34" charset="0"/>
                <a:ea typeface="Calibri" pitchFamily="34" charset="-122"/>
                <a:cs typeface="Calibri" pitchFamily="34" charset="-120"/>
              </a:rPr>
              <a:t>REFERRAL</a:t>
            </a:r>
            <a:endParaRPr lang="en-US" sz="1200" dirty="0"/>
          </a:p>
        </p:txBody>
      </p:sp>
      <p:sp>
        <p:nvSpPr>
          <p:cNvPr id="4" name="Text 2"/>
          <p:cNvSpPr txBox="1"/>
          <p:nvPr/>
        </p:nvSpPr>
        <p:spPr>
          <a:xfrm>
            <a:off x="548640" y="1783080"/>
            <a:ext cx="5852160" cy="219456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Setiap customer yang puas hati = </a:t>
            </a:r>
            <a:pPr indent="0" marL="0">
              <a:buNone/>
            </a:pPr>
            <a:r>
              <a:rPr lang="en-US" sz="4200" b="1" dirty="0">
                <a:solidFill>
                  <a:srgbClr val="C8742B"/>
                </a:solidFill>
                <a:latin typeface="Calibri" pitchFamily="34" charset="0"/>
                <a:ea typeface="Calibri" pitchFamily="34" charset="-122"/>
                <a:cs typeface="Calibri" pitchFamily="34" charset="-120"/>
              </a:rPr>
              <a:t>satu lead baru.</a:t>
            </a:r>
            <a:endParaRPr lang="en-US" sz="4200" dirty="0"/>
          </a:p>
        </p:txBody>
      </p:sp>
      <p:sp>
        <p:nvSpPr>
          <p:cNvPr id="5" name="Text 3"/>
          <p:cNvSpPr txBox="1"/>
          <p:nvPr/>
        </p:nvSpPr>
        <p:spPr>
          <a:xfrm>
            <a:off x="548640" y="4114800"/>
            <a:ext cx="5486400" cy="731520"/>
          </a:xfrm>
          <a:prstGeom prst="rect">
            <a:avLst/>
          </a:prstGeom>
          <a:noFill/>
          <a:ln/>
        </p:spPr>
        <p:txBody>
          <a:bodyPr wrap="square" lIns="0" tIns="0" rIns="0" bIns="0" rtlCol="0" anchor="t"/>
          <a:lstStyle/>
          <a:p>
            <a:pPr indent="0" marL="0">
              <a:buNone/>
            </a:pPr>
            <a:r>
              <a:rPr lang="en-US" sz="1700" dirty="0">
                <a:solidFill>
                  <a:srgbClr val="C3CEDD"/>
                </a:solidFill>
                <a:latin typeface="Calibri" pitchFamily="34" charset="0"/>
                <a:ea typeface="Calibri" pitchFamily="34" charset="-122"/>
                <a:cs typeface="Calibri" pitchFamily="34" charset="-120"/>
              </a:rPr>
              <a:t>Bila customer gembira, minta referral dan izin guna maklum balas mereka sebagai testimoni.</a:t>
            </a:r>
            <a:endParaRPr lang="en-US" sz="1700" dirty="0"/>
          </a:p>
        </p:txBody>
      </p:sp>
      <p:sp>
        <p:nvSpPr>
          <p:cNvPr id="6" name="Shape 4"/>
          <p:cNvSpPr/>
          <p:nvPr/>
        </p:nvSpPr>
        <p:spPr>
          <a:xfrm>
            <a:off x="548640" y="5029200"/>
            <a:ext cx="4937760" cy="548640"/>
          </a:xfrm>
          <a:prstGeom prst="roundRect">
            <a:avLst>
              <a:gd name="adj" fmla="val 50000"/>
            </a:avLst>
          </a:prstGeom>
          <a:solidFill>
            <a:srgbClr val="23436F"/>
          </a:solidFill>
          <a:ln w="12700">
            <a:solidFill>
              <a:srgbClr val="23436F"/>
            </a:solidFill>
            <a:prstDash val="solid"/>
          </a:ln>
        </p:spPr>
      </p:sp>
      <p:pic>
        <p:nvPicPr>
          <p:cNvPr id="7" name="Image 0" descr="preencoded.png">    </p:cNvPr>
          <p:cNvPicPr>
            <a:picLocks noChangeAspect="1"/>
          </p:cNvPicPr>
          <p:nvPr/>
        </p:nvPicPr>
        <p:blipFill>
          <a:blip r:embed="rId1"/>
          <a:stretch>
            <a:fillRect/>
          </a:stretch>
        </p:blipFill>
        <p:spPr>
          <a:xfrm>
            <a:off x="777240" y="5166360"/>
            <a:ext cx="274320" cy="274320"/>
          </a:xfrm>
          <a:prstGeom prst="rect">
            <a:avLst/>
          </a:prstGeom>
        </p:spPr>
      </p:pic>
      <p:sp>
        <p:nvSpPr>
          <p:cNvPr id="8" name="Text 5"/>
          <p:cNvSpPr txBox="1"/>
          <p:nvPr/>
        </p:nvSpPr>
        <p:spPr>
          <a:xfrm>
            <a:off x="1188720" y="5029200"/>
            <a:ext cx="42062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Langkah ini yang paling kerap terlepas.</a:t>
            </a:r>
            <a:endParaRPr lang="en-US" sz="1500" dirty="0"/>
          </a:p>
        </p:txBody>
      </p:sp>
      <p:sp>
        <p:nvSpPr>
          <p:cNvPr id="9" name="Shape 6"/>
          <p:cNvSpPr/>
          <p:nvPr/>
        </p:nvSpPr>
        <p:spPr>
          <a:xfrm>
            <a:off x="7863840" y="1234440"/>
            <a:ext cx="914400" cy="914400"/>
          </a:xfrm>
          <a:prstGeom prst="ellipse">
            <a:avLst>
              <a:gd name="adj" fmla="val 22000"/>
            </a:avLst>
          </a:prstGeom>
          <a:solidFill>
            <a:srgbClr val="0B1F3A"/>
          </a:solidFill>
          <a:ln w="12700">
            <a:solidFill>
              <a:srgbClr val="0B1F3A"/>
            </a:solidFill>
            <a:prstDash val="solid"/>
          </a:ln>
        </p:spPr>
      </p:sp>
      <p:pic>
        <p:nvPicPr>
          <p:cNvPr id="10" name="Image 1" descr="preencoded.png">    </p:cNvPr>
          <p:cNvPicPr>
            <a:picLocks noChangeAspect="1"/>
          </p:cNvPicPr>
          <p:nvPr/>
        </p:nvPicPr>
        <p:blipFill>
          <a:blip r:embed="rId2"/>
          <a:stretch>
            <a:fillRect/>
          </a:stretch>
        </p:blipFill>
        <p:spPr>
          <a:xfrm>
            <a:off x="8083296" y="1453896"/>
            <a:ext cx="475488" cy="475488"/>
          </a:xfrm>
          <a:prstGeom prst="rect">
            <a:avLst/>
          </a:prstGeom>
        </p:spPr>
      </p:pic>
      <p:pic>
        <p:nvPicPr>
          <p:cNvPr id="11" name="Image 2" descr="preencoded.png">    </p:cNvPr>
          <p:cNvPicPr>
            <a:picLocks noChangeAspect="1"/>
          </p:cNvPicPr>
          <p:nvPr/>
        </p:nvPicPr>
        <p:blipFill>
          <a:blip r:embed="rId3"/>
          <a:stretch>
            <a:fillRect/>
          </a:stretch>
        </p:blipFill>
        <p:spPr>
          <a:xfrm rot="5400000">
            <a:off x="8156448" y="2304288"/>
            <a:ext cx="329184" cy="329184"/>
          </a:xfrm>
          <a:prstGeom prst="rect">
            <a:avLst/>
          </a:prstGeom>
        </p:spPr>
      </p:pic>
      <p:sp>
        <p:nvSpPr>
          <p:cNvPr id="12" name="Text 7"/>
          <p:cNvSpPr txBox="1"/>
          <p:nvPr/>
        </p:nvSpPr>
        <p:spPr>
          <a:xfrm>
            <a:off x="9006840" y="1234440"/>
            <a:ext cx="2743200" cy="9144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Customer puas hati</a:t>
            </a:r>
            <a:endParaRPr lang="en-US" sz="1800" dirty="0"/>
          </a:p>
        </p:txBody>
      </p:sp>
      <p:sp>
        <p:nvSpPr>
          <p:cNvPr id="13" name="Shape 8"/>
          <p:cNvSpPr/>
          <p:nvPr/>
        </p:nvSpPr>
        <p:spPr>
          <a:xfrm>
            <a:off x="7863840" y="2834640"/>
            <a:ext cx="914400" cy="914400"/>
          </a:xfrm>
          <a:prstGeom prst="ellipse">
            <a:avLst>
              <a:gd name="adj" fmla="val 22000"/>
            </a:avLst>
          </a:prstGeom>
          <a:solidFill>
            <a:srgbClr val="0B1F3A"/>
          </a:solidFill>
          <a:ln w="12700">
            <a:solidFill>
              <a:srgbClr val="0B1F3A"/>
            </a:solidFill>
            <a:prstDash val="solid"/>
          </a:ln>
        </p:spPr>
      </p:sp>
      <p:pic>
        <p:nvPicPr>
          <p:cNvPr id="14" name="Image 3" descr="preencoded.png">    </p:cNvPr>
          <p:cNvPicPr>
            <a:picLocks noChangeAspect="1"/>
          </p:cNvPicPr>
          <p:nvPr/>
        </p:nvPicPr>
        <p:blipFill>
          <a:blip r:embed="rId4"/>
          <a:stretch>
            <a:fillRect/>
          </a:stretch>
        </p:blipFill>
        <p:spPr>
          <a:xfrm>
            <a:off x="8083296" y="3054096"/>
            <a:ext cx="475488" cy="475488"/>
          </a:xfrm>
          <a:prstGeom prst="rect">
            <a:avLst/>
          </a:prstGeom>
        </p:spPr>
      </p:pic>
      <p:pic>
        <p:nvPicPr>
          <p:cNvPr id="15" name="Image 4" descr="preencoded.png">    </p:cNvPr>
          <p:cNvPicPr>
            <a:picLocks noChangeAspect="1"/>
          </p:cNvPicPr>
          <p:nvPr/>
        </p:nvPicPr>
        <p:blipFill>
          <a:blip r:embed="rId5"/>
          <a:stretch>
            <a:fillRect/>
          </a:stretch>
        </p:blipFill>
        <p:spPr>
          <a:xfrm rot="5400000">
            <a:off x="8156448" y="3904488"/>
            <a:ext cx="329184" cy="329184"/>
          </a:xfrm>
          <a:prstGeom prst="rect">
            <a:avLst/>
          </a:prstGeom>
        </p:spPr>
      </p:pic>
      <p:sp>
        <p:nvSpPr>
          <p:cNvPr id="16" name="Text 9"/>
          <p:cNvSpPr txBox="1"/>
          <p:nvPr/>
        </p:nvSpPr>
        <p:spPr>
          <a:xfrm>
            <a:off x="9006840" y="2834640"/>
            <a:ext cx="2743200" cy="9144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Minta referral dan testimoni</a:t>
            </a:r>
            <a:endParaRPr lang="en-US" sz="1800" dirty="0"/>
          </a:p>
        </p:txBody>
      </p:sp>
      <p:sp>
        <p:nvSpPr>
          <p:cNvPr id="17" name="Shape 10"/>
          <p:cNvSpPr/>
          <p:nvPr/>
        </p:nvSpPr>
        <p:spPr>
          <a:xfrm>
            <a:off x="7863840" y="4434840"/>
            <a:ext cx="914400" cy="914400"/>
          </a:xfrm>
          <a:prstGeom prst="ellipse">
            <a:avLst>
              <a:gd name="adj" fmla="val 22000"/>
            </a:avLst>
          </a:prstGeom>
          <a:solidFill>
            <a:srgbClr val="C8742B"/>
          </a:solidFill>
          <a:ln w="12700">
            <a:solidFill>
              <a:srgbClr val="C8742B"/>
            </a:solidFill>
            <a:prstDash val="solid"/>
          </a:ln>
        </p:spPr>
      </p:sp>
      <p:pic>
        <p:nvPicPr>
          <p:cNvPr id="18" name="Image 5" descr="preencoded.png">    </p:cNvPr>
          <p:cNvPicPr>
            <a:picLocks noChangeAspect="1"/>
          </p:cNvPicPr>
          <p:nvPr/>
        </p:nvPicPr>
        <p:blipFill>
          <a:blip r:embed="rId6"/>
          <a:stretch>
            <a:fillRect/>
          </a:stretch>
        </p:blipFill>
        <p:spPr>
          <a:xfrm>
            <a:off x="8083296" y="4654296"/>
            <a:ext cx="475488" cy="475488"/>
          </a:xfrm>
          <a:prstGeom prst="rect">
            <a:avLst/>
          </a:prstGeom>
        </p:spPr>
      </p:pic>
      <p:sp>
        <p:nvSpPr>
          <p:cNvPr id="19" name="Text 11"/>
          <p:cNvSpPr txBox="1"/>
          <p:nvPr/>
        </p:nvSpPr>
        <p:spPr>
          <a:xfrm>
            <a:off x="9006840" y="4434840"/>
            <a:ext cx="2743200" cy="9144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Lead baru</a:t>
            </a:r>
            <a:endParaRPr lang="en-US" sz="1800" dirty="0"/>
          </a:p>
        </p:txBody>
      </p:sp>
      <p:sp>
        <p:nvSpPr>
          <p:cNvPr id="20" name="Shape 12"/>
          <p:cNvSpPr/>
          <p:nvPr/>
        </p:nvSpPr>
        <p:spPr>
          <a:xfrm>
            <a:off x="548640" y="6382512"/>
            <a:ext cx="420624" cy="219456"/>
          </a:xfrm>
          <a:prstGeom prst="roundRect">
            <a:avLst>
              <a:gd name="adj" fmla="val 16667"/>
            </a:avLst>
          </a:prstGeom>
          <a:solidFill>
            <a:srgbClr val="C8742B"/>
          </a:solidFill>
          <a:ln w="12700">
            <a:solidFill>
              <a:srgbClr val="C8742B"/>
            </a:solidFill>
            <a:prstDash val="solid"/>
          </a:ln>
        </p:spPr>
      </p:sp>
      <p:sp>
        <p:nvSpPr>
          <p:cNvPr id="21" name="Text 1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22" name="Text 1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C3CEDD"/>
                </a:solidFill>
                <a:latin typeface="Calibri" pitchFamily="34" charset="0"/>
                <a:ea typeface="Calibri" pitchFamily="34" charset="-122"/>
                <a:cs typeface="Calibri" pitchFamily="34" charset="-120"/>
              </a:rPr>
              <a:t>Strategi Jualan Unifi Q4 2026</a:t>
            </a:r>
            <a:endParaRPr lang="en-US" sz="900" dirty="0"/>
          </a:p>
        </p:txBody>
      </p:sp>
      <p:sp>
        <p:nvSpPr>
          <p:cNvPr id="23" name="Text 1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16</a:t>
            </a:r>
            <a:pPr algn="r" indent="0" marL="0">
              <a:buNone/>
            </a:pPr>
            <a:r>
              <a:rPr lang="en-US" sz="900" dirty="0">
                <a:solidFill>
                  <a:srgbClr val="C3CEDD"/>
                </a:solidFill>
                <a:latin typeface="Calibri" pitchFamily="34" charset="0"/>
                <a:ea typeface="Calibri" pitchFamily="34" charset="-122"/>
                <a:cs typeface="Calibri" pitchFamily="34" charset="-120"/>
              </a:rPr>
              <a:t>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CARA KITA JUAL</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Contoh ayat: minta referral dan izin testimoni</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17</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9" name="Shape 7"/>
          <p:cNvSpPr/>
          <p:nvPr/>
        </p:nvSpPr>
        <p:spPr>
          <a:xfrm>
            <a:off x="548640" y="1600200"/>
            <a:ext cx="5431536" cy="566928"/>
          </a:xfrm>
          <a:prstGeom prst="roundRect">
            <a:avLst>
              <a:gd name="adj" fmla="val 12903"/>
            </a:avLst>
          </a:prstGeom>
          <a:solidFill>
            <a:srgbClr val="0B1F3A"/>
          </a:solidFill>
          <a:ln w="12700">
            <a:solidFill>
              <a:srgbClr val="0B1F3A"/>
            </a:solidFill>
            <a:prstDash val="solid"/>
          </a:ln>
        </p:spPr>
      </p:sp>
      <p:sp>
        <p:nvSpPr>
          <p:cNvPr id="10" name="Shape 8"/>
          <p:cNvSpPr/>
          <p:nvPr/>
        </p:nvSpPr>
        <p:spPr>
          <a:xfrm>
            <a:off x="548640" y="1892808"/>
            <a:ext cx="5431536" cy="274320"/>
          </a:xfrm>
          <a:prstGeom prst="rect">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777240" y="1755648"/>
            <a:ext cx="256032" cy="256032"/>
          </a:xfrm>
          <a:prstGeom prst="rect">
            <a:avLst/>
          </a:prstGeom>
        </p:spPr>
      </p:pic>
      <p:sp>
        <p:nvSpPr>
          <p:cNvPr id="12" name="Text 9"/>
          <p:cNvSpPr txBox="1"/>
          <p:nvPr/>
        </p:nvSpPr>
        <p:spPr>
          <a:xfrm>
            <a:off x="1143000"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BILA CUSTOMER KATA DIA PUAS HATI</a:t>
            </a:r>
            <a:endParaRPr lang="en-US" sz="1100" dirty="0"/>
          </a:p>
        </p:txBody>
      </p:sp>
      <p:sp>
        <p:nvSpPr>
          <p:cNvPr id="13" name="Shape 10"/>
          <p:cNvSpPr/>
          <p:nvPr/>
        </p:nvSpPr>
        <p:spPr>
          <a:xfrm>
            <a:off x="1051560" y="2404872"/>
            <a:ext cx="4700016" cy="501777"/>
          </a:xfrm>
          <a:prstGeom prst="roundRect">
            <a:avLst>
              <a:gd name="adj" fmla="val 18223"/>
            </a:avLst>
          </a:prstGeom>
          <a:solidFill>
            <a:srgbClr val="FFFFFF"/>
          </a:solidFill>
          <a:ln w="6350">
            <a:solidFill>
              <a:srgbClr val="D8E0EA"/>
            </a:solidFill>
            <a:prstDash val="solid"/>
          </a:ln>
        </p:spPr>
      </p:sp>
      <p:sp>
        <p:nvSpPr>
          <p:cNvPr id="14" name="Text 11"/>
          <p:cNvSpPr txBox="1"/>
          <p:nvPr/>
        </p:nvSpPr>
        <p:spPr>
          <a:xfrm>
            <a:off x="1216152" y="2532888"/>
            <a:ext cx="4370832" cy="282321"/>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Alhamdulillah, seronok dengar!</a:t>
            </a:r>
            <a:endParaRPr lang="en-US" sz="1350" dirty="0"/>
          </a:p>
        </p:txBody>
      </p:sp>
      <p:sp>
        <p:nvSpPr>
          <p:cNvPr id="15" name="Shape 12"/>
          <p:cNvSpPr/>
          <p:nvPr/>
        </p:nvSpPr>
        <p:spPr>
          <a:xfrm>
            <a:off x="1051560" y="3071241"/>
            <a:ext cx="4700016" cy="920115"/>
          </a:xfrm>
          <a:prstGeom prst="roundRect">
            <a:avLst>
              <a:gd name="adj" fmla="val 9938"/>
            </a:avLst>
          </a:prstGeom>
          <a:solidFill>
            <a:srgbClr val="FFFFFF"/>
          </a:solidFill>
          <a:ln w="6350">
            <a:solidFill>
              <a:srgbClr val="D8E0EA"/>
            </a:solidFill>
            <a:prstDash val="solid"/>
          </a:ln>
        </p:spPr>
      </p:sp>
      <p:sp>
        <p:nvSpPr>
          <p:cNvPr id="16" name="Text 13"/>
          <p:cNvSpPr txBox="1"/>
          <p:nvPr/>
        </p:nvSpPr>
        <p:spPr>
          <a:xfrm>
            <a:off x="1216152" y="3199257"/>
            <a:ext cx="4370832" cy="700659"/>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Kalau ada jiran atau kawan yang internet slow, boleh share nombor saya ye, saya tolong semakkan coverage untuk mereka juga.</a:t>
            </a:r>
            <a:endParaRPr lang="en-US" sz="1350" dirty="0"/>
          </a:p>
        </p:txBody>
      </p:sp>
      <p:sp>
        <p:nvSpPr>
          <p:cNvPr id="17" name="Shape 14"/>
          <p:cNvSpPr/>
          <p:nvPr/>
        </p:nvSpPr>
        <p:spPr>
          <a:xfrm>
            <a:off x="777240" y="5349240"/>
            <a:ext cx="4974336" cy="548640"/>
          </a:xfrm>
          <a:prstGeom prst="roundRect">
            <a:avLst>
              <a:gd name="adj" fmla="val 13333"/>
            </a:avLst>
          </a:prstGeom>
          <a:solidFill>
            <a:srgbClr val="F7EADC"/>
          </a:solidFill>
          <a:ln w="12700">
            <a:solidFill>
              <a:srgbClr val="F7EADC"/>
            </a:solidFill>
            <a:prstDash val="solid"/>
          </a:ln>
        </p:spPr>
      </p:sp>
      <p:pic>
        <p:nvPicPr>
          <p:cNvPr id="18" name="Image 1" descr="preencoded.png">    </p:cNvPr>
          <p:cNvPicPr>
            <a:picLocks noChangeAspect="1"/>
          </p:cNvPicPr>
          <p:nvPr/>
        </p:nvPicPr>
        <p:blipFill>
          <a:blip r:embed="rId2"/>
          <a:stretch>
            <a:fillRect/>
          </a:stretch>
        </p:blipFill>
        <p:spPr>
          <a:xfrm>
            <a:off x="932688" y="5495544"/>
            <a:ext cx="256032" cy="256032"/>
          </a:xfrm>
          <a:prstGeom prst="rect">
            <a:avLst/>
          </a:prstGeom>
        </p:spPr>
      </p:pic>
      <p:sp>
        <p:nvSpPr>
          <p:cNvPr id="19" name="Text 15"/>
          <p:cNvSpPr txBox="1"/>
          <p:nvPr/>
        </p:nvSpPr>
        <p:spPr>
          <a:xfrm>
            <a:off x="1325880"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Hantar bila customer tunjuk mereka gembira.</a:t>
            </a:r>
            <a:endParaRPr lang="en-US" sz="1300" dirty="0"/>
          </a:p>
        </p:txBody>
      </p:sp>
      <p:sp>
        <p:nvSpPr>
          <p:cNvPr id="20" name="Shape 16"/>
          <p:cNvSpPr/>
          <p:nvPr/>
        </p:nvSpPr>
        <p:spPr>
          <a:xfrm>
            <a:off x="6208776" y="1600200"/>
            <a:ext cx="5431536" cy="4526280"/>
          </a:xfrm>
          <a:prstGeom prst="roundRect">
            <a:avLst>
              <a:gd name="adj" fmla="val 1616"/>
            </a:avLst>
          </a:prstGeom>
          <a:solidFill>
            <a:srgbClr val="EBF0F6"/>
          </a:solidFill>
          <a:ln w="12700">
            <a:solidFill>
              <a:srgbClr val="EBF0F6"/>
            </a:solidFill>
            <a:prstDash val="solid"/>
          </a:ln>
          <a:effectLst>
            <a:outerShdw sx="100000" sy="100000" kx="0" ky="0" algn="bl" rotWithShape="0" blurRad="127000" dist="25400" dir="5400000">
              <a:srgbClr val="0B1F3A">
                <a:alpha val="8000"/>
              </a:srgbClr>
            </a:outerShdw>
          </a:effectLst>
        </p:spPr>
      </p:sp>
      <p:sp>
        <p:nvSpPr>
          <p:cNvPr id="21" name="Shape 17"/>
          <p:cNvSpPr/>
          <p:nvPr/>
        </p:nvSpPr>
        <p:spPr>
          <a:xfrm>
            <a:off x="6208776" y="1600200"/>
            <a:ext cx="5431536" cy="566928"/>
          </a:xfrm>
          <a:prstGeom prst="roundRect">
            <a:avLst>
              <a:gd name="adj" fmla="val 12903"/>
            </a:avLst>
          </a:prstGeom>
          <a:solidFill>
            <a:srgbClr val="0B1F3A"/>
          </a:solidFill>
          <a:ln w="12700">
            <a:solidFill>
              <a:srgbClr val="0B1F3A"/>
            </a:solidFill>
            <a:prstDash val="solid"/>
          </a:ln>
        </p:spPr>
      </p:sp>
      <p:sp>
        <p:nvSpPr>
          <p:cNvPr id="22" name="Shape 18"/>
          <p:cNvSpPr/>
          <p:nvPr/>
        </p:nvSpPr>
        <p:spPr>
          <a:xfrm>
            <a:off x="6208776" y="1892808"/>
            <a:ext cx="5431536" cy="274320"/>
          </a:xfrm>
          <a:prstGeom prst="rect">
            <a:avLst/>
          </a:prstGeom>
          <a:solidFill>
            <a:srgbClr val="0B1F3A"/>
          </a:solidFill>
          <a:ln w="12700">
            <a:solidFill>
              <a:srgbClr val="0B1F3A"/>
            </a:solidFill>
            <a:prstDash val="solid"/>
          </a:ln>
        </p:spPr>
      </p:sp>
      <p:pic>
        <p:nvPicPr>
          <p:cNvPr id="23" name="Image 2" descr="preencoded.png">    </p:cNvPr>
          <p:cNvPicPr>
            <a:picLocks noChangeAspect="1"/>
          </p:cNvPicPr>
          <p:nvPr/>
        </p:nvPicPr>
        <p:blipFill>
          <a:blip r:embed="rId3"/>
          <a:stretch>
            <a:fillRect/>
          </a:stretch>
        </p:blipFill>
        <p:spPr>
          <a:xfrm>
            <a:off x="6437376" y="1755648"/>
            <a:ext cx="256032" cy="256032"/>
          </a:xfrm>
          <a:prstGeom prst="rect">
            <a:avLst/>
          </a:prstGeom>
        </p:spPr>
      </p:pic>
      <p:sp>
        <p:nvSpPr>
          <p:cNvPr id="24" name="Text 19"/>
          <p:cNvSpPr txBox="1"/>
          <p:nvPr/>
        </p:nvSpPr>
        <p:spPr>
          <a:xfrm>
            <a:off x="6803136" y="1600200"/>
            <a:ext cx="4608576" cy="56692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MINTA IZIN TESTIMONI</a:t>
            </a:r>
            <a:endParaRPr lang="en-US" sz="1100" dirty="0"/>
          </a:p>
        </p:txBody>
      </p:sp>
      <p:sp>
        <p:nvSpPr>
          <p:cNvPr id="25" name="Shape 20"/>
          <p:cNvSpPr/>
          <p:nvPr/>
        </p:nvSpPr>
        <p:spPr>
          <a:xfrm>
            <a:off x="6711696" y="2404872"/>
            <a:ext cx="4700016" cy="710946"/>
          </a:xfrm>
          <a:prstGeom prst="roundRect">
            <a:avLst>
              <a:gd name="adj" fmla="val 12862"/>
            </a:avLst>
          </a:prstGeom>
          <a:solidFill>
            <a:srgbClr val="FFFFFF"/>
          </a:solidFill>
          <a:ln w="6350">
            <a:solidFill>
              <a:srgbClr val="D8E0EA"/>
            </a:solidFill>
            <a:prstDash val="solid"/>
          </a:ln>
        </p:spPr>
      </p:sp>
      <p:sp>
        <p:nvSpPr>
          <p:cNvPr id="26" name="Text 21"/>
          <p:cNvSpPr txBox="1"/>
          <p:nvPr/>
        </p:nvSpPr>
        <p:spPr>
          <a:xfrm>
            <a:off x="6876288" y="2532888"/>
            <a:ext cx="4370832" cy="491490"/>
          </a:xfrm>
          <a:prstGeom prst="rect">
            <a:avLst/>
          </a:prstGeom>
          <a:noFill/>
          <a:ln/>
        </p:spPr>
        <p:txBody>
          <a:bodyPr wrap="square" lIns="0" tIns="0" rIns="0" bIns="0" rtlCol="0" anchor="t"/>
          <a:lstStyle/>
          <a:p>
            <a:pPr indent="0" marL="0">
              <a:spcAft>
                <a:spcPts val="600"/>
              </a:spcAft>
              <a:buNone/>
            </a:pPr>
            <a:r>
              <a:rPr lang="en-US" sz="1350" dirty="0">
                <a:solidFill>
                  <a:srgbClr val="1B2A3D"/>
                </a:solidFill>
                <a:latin typeface="Calibri" pitchFamily="34" charset="0"/>
                <a:ea typeface="Calibri" pitchFamily="34" charset="-122"/>
                <a:cs typeface="Calibri" pitchFamily="34" charset="-120"/>
              </a:rPr>
              <a:t>Satu lagi, boleh tak saya guna mesej awak tadi sebagai testimoni? Nama dan nombor saya tutup.</a:t>
            </a:r>
            <a:endParaRPr lang="en-US" sz="1350" dirty="0"/>
          </a:p>
        </p:txBody>
      </p:sp>
      <p:sp>
        <p:nvSpPr>
          <p:cNvPr id="27" name="Shape 22"/>
          <p:cNvSpPr/>
          <p:nvPr/>
        </p:nvSpPr>
        <p:spPr>
          <a:xfrm>
            <a:off x="6437376" y="5349240"/>
            <a:ext cx="4974336" cy="548640"/>
          </a:xfrm>
          <a:prstGeom prst="roundRect">
            <a:avLst>
              <a:gd name="adj" fmla="val 13333"/>
            </a:avLst>
          </a:prstGeom>
          <a:solidFill>
            <a:srgbClr val="F7EADC"/>
          </a:solidFill>
          <a:ln w="12700">
            <a:solidFill>
              <a:srgbClr val="F7EADC"/>
            </a:solidFill>
            <a:prstDash val="solid"/>
          </a:ln>
        </p:spPr>
      </p:sp>
      <p:pic>
        <p:nvPicPr>
          <p:cNvPr id="28" name="Image 3" descr="preencoded.png">    </p:cNvPr>
          <p:cNvPicPr>
            <a:picLocks noChangeAspect="1"/>
          </p:cNvPicPr>
          <p:nvPr/>
        </p:nvPicPr>
        <p:blipFill>
          <a:blip r:embed="rId4"/>
          <a:stretch>
            <a:fillRect/>
          </a:stretch>
        </p:blipFill>
        <p:spPr>
          <a:xfrm>
            <a:off x="6592824" y="5495544"/>
            <a:ext cx="256032" cy="256032"/>
          </a:xfrm>
          <a:prstGeom prst="rect">
            <a:avLst/>
          </a:prstGeom>
        </p:spPr>
      </p:pic>
      <p:sp>
        <p:nvSpPr>
          <p:cNvPr id="29" name="Text 23"/>
          <p:cNvSpPr txBox="1"/>
          <p:nvPr/>
        </p:nvSpPr>
        <p:spPr>
          <a:xfrm>
            <a:off x="6986016" y="5349240"/>
            <a:ext cx="4334256" cy="5486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Jangan janji ganjaran referral yang belum disahkan.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TIKTOK DAN DATA</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20 video dalam 4 minggu, semuanya dengan satu CTA</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18</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2602154" cy="26974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Text 7"/>
          <p:cNvSpPr txBox="1"/>
          <p:nvPr/>
        </p:nvSpPr>
        <p:spPr>
          <a:xfrm>
            <a:off x="822960" y="1874520"/>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1</a:t>
            </a:r>
            <a:endParaRPr lang="en-US" sz="1100" dirty="0"/>
          </a:p>
        </p:txBody>
      </p:sp>
      <p:sp>
        <p:nvSpPr>
          <p:cNvPr id="10" name="Shape 8"/>
          <p:cNvSpPr/>
          <p:nvPr/>
        </p:nvSpPr>
        <p:spPr>
          <a:xfrm>
            <a:off x="2373554" y="1828800"/>
            <a:ext cx="502920" cy="502920"/>
          </a:xfrm>
          <a:prstGeom prst="roundRect">
            <a:avLst>
              <a:gd name="adj" fmla="val 22000"/>
            </a:avLst>
          </a:prstGeom>
          <a:solidFill>
            <a:srgbClr val="0B1F3A"/>
          </a:solidFill>
          <a:ln w="12700">
            <a:solidFill>
              <a:srgbClr val="0B1F3A"/>
            </a:solidFill>
            <a:prstDash val="solid"/>
          </a:ln>
        </p:spPr>
      </p:sp>
      <p:pic>
        <p:nvPicPr>
          <p:cNvPr id="11" name="Image 0" descr="preencoded.png">    </p:cNvPr>
          <p:cNvPicPr>
            <a:picLocks noChangeAspect="1"/>
          </p:cNvPicPr>
          <p:nvPr/>
        </p:nvPicPr>
        <p:blipFill>
          <a:blip r:embed="rId1"/>
          <a:stretch>
            <a:fillRect/>
          </a:stretch>
        </p:blipFill>
        <p:spPr>
          <a:xfrm>
            <a:off x="2494255" y="1949501"/>
            <a:ext cx="261518" cy="261518"/>
          </a:xfrm>
          <a:prstGeom prst="rect">
            <a:avLst/>
          </a:prstGeom>
        </p:spPr>
      </p:pic>
      <p:sp>
        <p:nvSpPr>
          <p:cNvPr id="12" name="Text 9"/>
          <p:cNvSpPr txBox="1"/>
          <p:nvPr/>
        </p:nvSpPr>
        <p:spPr>
          <a:xfrm>
            <a:off x="822960" y="2468880"/>
            <a:ext cx="2053514" cy="82296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Masalah dan offer</a:t>
            </a:r>
            <a:endParaRPr lang="en-US" sz="2100" dirty="0"/>
          </a:p>
        </p:txBody>
      </p:sp>
      <p:sp>
        <p:nvSpPr>
          <p:cNvPr id="13" name="Shape 10"/>
          <p:cNvSpPr/>
          <p:nvPr/>
        </p:nvSpPr>
        <p:spPr>
          <a:xfrm>
            <a:off x="822960" y="3520440"/>
            <a:ext cx="1417320" cy="457200"/>
          </a:xfrm>
          <a:prstGeom prst="roundRect">
            <a:avLst>
              <a:gd name="adj" fmla="val 50000"/>
            </a:avLst>
          </a:prstGeom>
          <a:solidFill>
            <a:srgbClr val="EBF0F6"/>
          </a:solidFill>
          <a:ln w="12700">
            <a:solidFill>
              <a:srgbClr val="EBF0F6"/>
            </a:solidFill>
            <a:prstDash val="solid"/>
          </a:ln>
        </p:spPr>
      </p:sp>
      <p:pic>
        <p:nvPicPr>
          <p:cNvPr id="14" name="Image 1" descr="preencoded.png">    </p:cNvPr>
          <p:cNvPicPr>
            <a:picLocks noChangeAspect="1"/>
          </p:cNvPicPr>
          <p:nvPr/>
        </p:nvPicPr>
        <p:blipFill>
          <a:blip r:embed="rId2"/>
          <a:stretch>
            <a:fillRect/>
          </a:stretch>
        </p:blipFill>
        <p:spPr>
          <a:xfrm>
            <a:off x="960120" y="3611880"/>
            <a:ext cx="274320" cy="274320"/>
          </a:xfrm>
          <a:prstGeom prst="rect">
            <a:avLst/>
          </a:prstGeom>
        </p:spPr>
      </p:pic>
      <p:sp>
        <p:nvSpPr>
          <p:cNvPr id="15" name="Text 11"/>
          <p:cNvSpPr txBox="1"/>
          <p:nvPr/>
        </p:nvSpPr>
        <p:spPr>
          <a:xfrm>
            <a:off x="1325880" y="3520440"/>
            <a:ext cx="9144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5 video</a:t>
            </a:r>
            <a:endParaRPr lang="en-US" sz="1400" dirty="0"/>
          </a:p>
        </p:txBody>
      </p:sp>
      <p:sp>
        <p:nvSpPr>
          <p:cNvPr id="16" name="Shape 12"/>
          <p:cNvSpPr/>
          <p:nvPr/>
        </p:nvSpPr>
        <p:spPr>
          <a:xfrm>
            <a:off x="3379394" y="1600200"/>
            <a:ext cx="2602154" cy="26974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7" name="Text 13"/>
          <p:cNvSpPr txBox="1"/>
          <p:nvPr/>
        </p:nvSpPr>
        <p:spPr>
          <a:xfrm>
            <a:off x="3653714" y="1874520"/>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2</a:t>
            </a:r>
            <a:endParaRPr lang="en-US" sz="1100" dirty="0"/>
          </a:p>
        </p:txBody>
      </p:sp>
      <p:sp>
        <p:nvSpPr>
          <p:cNvPr id="18" name="Shape 14"/>
          <p:cNvSpPr/>
          <p:nvPr/>
        </p:nvSpPr>
        <p:spPr>
          <a:xfrm>
            <a:off x="5204308" y="1828800"/>
            <a:ext cx="502920" cy="502920"/>
          </a:xfrm>
          <a:prstGeom prst="roundRect">
            <a:avLst>
              <a:gd name="adj" fmla="val 22000"/>
            </a:avLst>
          </a:prstGeom>
          <a:solidFill>
            <a:srgbClr val="0B1F3A"/>
          </a:solidFill>
          <a:ln w="12700">
            <a:solidFill>
              <a:srgbClr val="0B1F3A"/>
            </a:solidFill>
            <a:prstDash val="solid"/>
          </a:ln>
        </p:spPr>
      </p:sp>
      <p:pic>
        <p:nvPicPr>
          <p:cNvPr id="19" name="Image 2" descr="preencoded.png">    </p:cNvPr>
          <p:cNvPicPr>
            <a:picLocks noChangeAspect="1"/>
          </p:cNvPicPr>
          <p:nvPr/>
        </p:nvPicPr>
        <p:blipFill>
          <a:blip r:embed="rId3"/>
          <a:stretch>
            <a:fillRect/>
          </a:stretch>
        </p:blipFill>
        <p:spPr>
          <a:xfrm>
            <a:off x="5325008" y="1949501"/>
            <a:ext cx="261518" cy="261518"/>
          </a:xfrm>
          <a:prstGeom prst="rect">
            <a:avLst/>
          </a:prstGeom>
        </p:spPr>
      </p:pic>
      <p:sp>
        <p:nvSpPr>
          <p:cNvPr id="20" name="Text 15"/>
          <p:cNvSpPr txBox="1"/>
          <p:nvPr/>
        </p:nvSpPr>
        <p:spPr>
          <a:xfrm>
            <a:off x="3653714" y="2468880"/>
            <a:ext cx="2053514" cy="82296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Jawab keraguan</a:t>
            </a:r>
            <a:endParaRPr lang="en-US" sz="2100" dirty="0"/>
          </a:p>
        </p:txBody>
      </p:sp>
      <p:sp>
        <p:nvSpPr>
          <p:cNvPr id="21" name="Shape 16"/>
          <p:cNvSpPr/>
          <p:nvPr/>
        </p:nvSpPr>
        <p:spPr>
          <a:xfrm>
            <a:off x="3653714" y="3520440"/>
            <a:ext cx="1417320" cy="457200"/>
          </a:xfrm>
          <a:prstGeom prst="roundRect">
            <a:avLst>
              <a:gd name="adj" fmla="val 50000"/>
            </a:avLst>
          </a:prstGeom>
          <a:solidFill>
            <a:srgbClr val="EBF0F6"/>
          </a:solidFill>
          <a:ln w="12700">
            <a:solidFill>
              <a:srgbClr val="EBF0F6"/>
            </a:solidFill>
            <a:prstDash val="solid"/>
          </a:ln>
        </p:spPr>
      </p:sp>
      <p:pic>
        <p:nvPicPr>
          <p:cNvPr id="22" name="Image 3" descr="preencoded.png">    </p:cNvPr>
          <p:cNvPicPr>
            <a:picLocks noChangeAspect="1"/>
          </p:cNvPicPr>
          <p:nvPr/>
        </p:nvPicPr>
        <p:blipFill>
          <a:blip r:embed="rId4"/>
          <a:stretch>
            <a:fillRect/>
          </a:stretch>
        </p:blipFill>
        <p:spPr>
          <a:xfrm>
            <a:off x="3790874" y="3611880"/>
            <a:ext cx="274320" cy="274320"/>
          </a:xfrm>
          <a:prstGeom prst="rect">
            <a:avLst/>
          </a:prstGeom>
        </p:spPr>
      </p:pic>
      <p:sp>
        <p:nvSpPr>
          <p:cNvPr id="23" name="Text 17"/>
          <p:cNvSpPr txBox="1"/>
          <p:nvPr/>
        </p:nvSpPr>
        <p:spPr>
          <a:xfrm>
            <a:off x="4156634" y="3520440"/>
            <a:ext cx="9144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5 video</a:t>
            </a:r>
            <a:endParaRPr lang="en-US" sz="1400" dirty="0"/>
          </a:p>
        </p:txBody>
      </p:sp>
      <p:sp>
        <p:nvSpPr>
          <p:cNvPr id="24" name="Shape 18"/>
          <p:cNvSpPr/>
          <p:nvPr/>
        </p:nvSpPr>
        <p:spPr>
          <a:xfrm>
            <a:off x="6210148" y="1600200"/>
            <a:ext cx="2602154" cy="26974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5" name="Text 19"/>
          <p:cNvSpPr txBox="1"/>
          <p:nvPr/>
        </p:nvSpPr>
        <p:spPr>
          <a:xfrm>
            <a:off x="6484468" y="1874520"/>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3</a:t>
            </a:r>
            <a:endParaRPr lang="en-US" sz="1100" dirty="0"/>
          </a:p>
        </p:txBody>
      </p:sp>
      <p:sp>
        <p:nvSpPr>
          <p:cNvPr id="26" name="Shape 20"/>
          <p:cNvSpPr/>
          <p:nvPr/>
        </p:nvSpPr>
        <p:spPr>
          <a:xfrm>
            <a:off x="8035061" y="1828800"/>
            <a:ext cx="502920" cy="502920"/>
          </a:xfrm>
          <a:prstGeom prst="roundRect">
            <a:avLst>
              <a:gd name="adj" fmla="val 22000"/>
            </a:avLst>
          </a:prstGeom>
          <a:solidFill>
            <a:srgbClr val="0B1F3A"/>
          </a:solidFill>
          <a:ln w="12700">
            <a:solidFill>
              <a:srgbClr val="0B1F3A"/>
            </a:solidFill>
            <a:prstDash val="solid"/>
          </a:ln>
        </p:spPr>
      </p:sp>
      <p:pic>
        <p:nvPicPr>
          <p:cNvPr id="27" name="Image 4" descr="preencoded.png">    </p:cNvPr>
          <p:cNvPicPr>
            <a:picLocks noChangeAspect="1"/>
          </p:cNvPicPr>
          <p:nvPr/>
        </p:nvPicPr>
        <p:blipFill>
          <a:blip r:embed="rId5"/>
          <a:stretch>
            <a:fillRect/>
          </a:stretch>
        </p:blipFill>
        <p:spPr>
          <a:xfrm>
            <a:off x="8155762" y="1949501"/>
            <a:ext cx="261518" cy="261518"/>
          </a:xfrm>
          <a:prstGeom prst="rect">
            <a:avLst/>
          </a:prstGeom>
        </p:spPr>
      </p:pic>
      <p:sp>
        <p:nvSpPr>
          <p:cNvPr id="28" name="Text 21"/>
          <p:cNvSpPr txBox="1"/>
          <p:nvPr/>
        </p:nvSpPr>
        <p:spPr>
          <a:xfrm>
            <a:off x="6484468" y="2468880"/>
            <a:ext cx="2053514" cy="82296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Setiap jenis rumah</a:t>
            </a:r>
            <a:endParaRPr lang="en-US" sz="2100" dirty="0"/>
          </a:p>
        </p:txBody>
      </p:sp>
      <p:sp>
        <p:nvSpPr>
          <p:cNvPr id="29" name="Shape 22"/>
          <p:cNvSpPr/>
          <p:nvPr/>
        </p:nvSpPr>
        <p:spPr>
          <a:xfrm>
            <a:off x="6484468" y="3520440"/>
            <a:ext cx="1417320" cy="457200"/>
          </a:xfrm>
          <a:prstGeom prst="roundRect">
            <a:avLst>
              <a:gd name="adj" fmla="val 50000"/>
            </a:avLst>
          </a:prstGeom>
          <a:solidFill>
            <a:srgbClr val="EBF0F6"/>
          </a:solidFill>
          <a:ln w="12700">
            <a:solidFill>
              <a:srgbClr val="EBF0F6"/>
            </a:solidFill>
            <a:prstDash val="solid"/>
          </a:ln>
        </p:spPr>
      </p:sp>
      <p:pic>
        <p:nvPicPr>
          <p:cNvPr id="30" name="Image 5" descr="preencoded.png">    </p:cNvPr>
          <p:cNvPicPr>
            <a:picLocks noChangeAspect="1"/>
          </p:cNvPicPr>
          <p:nvPr/>
        </p:nvPicPr>
        <p:blipFill>
          <a:blip r:embed="rId6"/>
          <a:stretch>
            <a:fillRect/>
          </a:stretch>
        </p:blipFill>
        <p:spPr>
          <a:xfrm>
            <a:off x="6621628" y="3611880"/>
            <a:ext cx="274320" cy="274320"/>
          </a:xfrm>
          <a:prstGeom prst="rect">
            <a:avLst/>
          </a:prstGeom>
        </p:spPr>
      </p:pic>
      <p:sp>
        <p:nvSpPr>
          <p:cNvPr id="31" name="Text 23"/>
          <p:cNvSpPr txBox="1"/>
          <p:nvPr/>
        </p:nvSpPr>
        <p:spPr>
          <a:xfrm>
            <a:off x="6987388" y="3520440"/>
            <a:ext cx="9144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5 video</a:t>
            </a:r>
            <a:endParaRPr lang="en-US" sz="1400" dirty="0"/>
          </a:p>
        </p:txBody>
      </p:sp>
      <p:sp>
        <p:nvSpPr>
          <p:cNvPr id="32" name="Shape 24"/>
          <p:cNvSpPr/>
          <p:nvPr/>
        </p:nvSpPr>
        <p:spPr>
          <a:xfrm>
            <a:off x="9040901" y="1600200"/>
            <a:ext cx="2602154" cy="26974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3" name="Text 25"/>
          <p:cNvSpPr txBox="1"/>
          <p:nvPr/>
        </p:nvSpPr>
        <p:spPr>
          <a:xfrm>
            <a:off x="9315221" y="1874520"/>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4</a:t>
            </a:r>
            <a:endParaRPr lang="en-US" sz="1100" dirty="0"/>
          </a:p>
        </p:txBody>
      </p:sp>
      <p:sp>
        <p:nvSpPr>
          <p:cNvPr id="34" name="Shape 26"/>
          <p:cNvSpPr/>
          <p:nvPr/>
        </p:nvSpPr>
        <p:spPr>
          <a:xfrm>
            <a:off x="10865815" y="1828800"/>
            <a:ext cx="502920" cy="502920"/>
          </a:xfrm>
          <a:prstGeom prst="roundRect">
            <a:avLst>
              <a:gd name="adj" fmla="val 22000"/>
            </a:avLst>
          </a:prstGeom>
          <a:solidFill>
            <a:srgbClr val="0B1F3A"/>
          </a:solidFill>
          <a:ln w="12700">
            <a:solidFill>
              <a:srgbClr val="0B1F3A"/>
            </a:solidFill>
            <a:prstDash val="solid"/>
          </a:ln>
        </p:spPr>
      </p:sp>
      <p:pic>
        <p:nvPicPr>
          <p:cNvPr id="35" name="Image 6" descr="preencoded.png">    </p:cNvPr>
          <p:cNvPicPr>
            <a:picLocks noChangeAspect="1"/>
          </p:cNvPicPr>
          <p:nvPr/>
        </p:nvPicPr>
        <p:blipFill>
          <a:blip r:embed="rId7"/>
          <a:stretch>
            <a:fillRect/>
          </a:stretch>
        </p:blipFill>
        <p:spPr>
          <a:xfrm>
            <a:off x="10986516" y="1949501"/>
            <a:ext cx="261518" cy="261518"/>
          </a:xfrm>
          <a:prstGeom prst="rect">
            <a:avLst/>
          </a:prstGeom>
        </p:spPr>
      </p:pic>
      <p:sp>
        <p:nvSpPr>
          <p:cNvPr id="36" name="Text 27"/>
          <p:cNvSpPr txBox="1"/>
          <p:nvPr/>
        </p:nvSpPr>
        <p:spPr>
          <a:xfrm>
            <a:off x="9315221" y="2468880"/>
            <a:ext cx="2053514" cy="82296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Kepercayaan</a:t>
            </a:r>
            <a:endParaRPr lang="en-US" sz="2100" dirty="0"/>
          </a:p>
        </p:txBody>
      </p:sp>
      <p:sp>
        <p:nvSpPr>
          <p:cNvPr id="37" name="Shape 28"/>
          <p:cNvSpPr/>
          <p:nvPr/>
        </p:nvSpPr>
        <p:spPr>
          <a:xfrm>
            <a:off x="9315221" y="3520440"/>
            <a:ext cx="1417320" cy="457200"/>
          </a:xfrm>
          <a:prstGeom prst="roundRect">
            <a:avLst>
              <a:gd name="adj" fmla="val 50000"/>
            </a:avLst>
          </a:prstGeom>
          <a:solidFill>
            <a:srgbClr val="EBF0F6"/>
          </a:solidFill>
          <a:ln w="12700">
            <a:solidFill>
              <a:srgbClr val="EBF0F6"/>
            </a:solidFill>
            <a:prstDash val="solid"/>
          </a:ln>
        </p:spPr>
      </p:sp>
      <p:pic>
        <p:nvPicPr>
          <p:cNvPr id="38" name="Image 7" descr="preencoded.png">    </p:cNvPr>
          <p:cNvPicPr>
            <a:picLocks noChangeAspect="1"/>
          </p:cNvPicPr>
          <p:nvPr/>
        </p:nvPicPr>
        <p:blipFill>
          <a:blip r:embed="rId8"/>
          <a:stretch>
            <a:fillRect/>
          </a:stretch>
        </p:blipFill>
        <p:spPr>
          <a:xfrm>
            <a:off x="9452381" y="3611880"/>
            <a:ext cx="274320" cy="274320"/>
          </a:xfrm>
          <a:prstGeom prst="rect">
            <a:avLst/>
          </a:prstGeom>
        </p:spPr>
      </p:pic>
      <p:sp>
        <p:nvSpPr>
          <p:cNvPr id="39" name="Text 29"/>
          <p:cNvSpPr txBox="1"/>
          <p:nvPr/>
        </p:nvSpPr>
        <p:spPr>
          <a:xfrm>
            <a:off x="9818141" y="3520440"/>
            <a:ext cx="9144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5 video</a:t>
            </a:r>
            <a:endParaRPr lang="en-US" sz="1400" dirty="0"/>
          </a:p>
        </p:txBody>
      </p:sp>
      <p:sp>
        <p:nvSpPr>
          <p:cNvPr id="40" name="Shape 30"/>
          <p:cNvSpPr/>
          <p:nvPr/>
        </p:nvSpPr>
        <p:spPr>
          <a:xfrm>
            <a:off x="548640" y="4526280"/>
            <a:ext cx="11094415" cy="1600200"/>
          </a:xfrm>
          <a:prstGeom prst="roundRect">
            <a:avLst>
              <a:gd name="adj" fmla="val 4571"/>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41" name="Text 31"/>
          <p:cNvSpPr txBox="1"/>
          <p:nvPr/>
        </p:nvSpPr>
        <p:spPr>
          <a:xfrm>
            <a:off x="960120" y="4800600"/>
            <a:ext cx="45720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CTA DALAM SETIAP VIDEO</a:t>
            </a:r>
            <a:endParaRPr lang="en-US" sz="1100" dirty="0"/>
          </a:p>
        </p:txBody>
      </p:sp>
      <p:sp>
        <p:nvSpPr>
          <p:cNvPr id="42" name="Text 32"/>
          <p:cNvSpPr txBox="1"/>
          <p:nvPr/>
        </p:nvSpPr>
        <p:spPr>
          <a:xfrm>
            <a:off x="960120" y="5120640"/>
            <a:ext cx="7498080" cy="73152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“WhatsApp alamat anda, kami semak coverage.”</a:t>
            </a:r>
            <a:endParaRPr lang="en-US" sz="2700" dirty="0"/>
          </a:p>
        </p:txBody>
      </p:sp>
      <p:sp>
        <p:nvSpPr>
          <p:cNvPr id="43" name="Shape 33"/>
          <p:cNvSpPr/>
          <p:nvPr/>
        </p:nvSpPr>
        <p:spPr>
          <a:xfrm>
            <a:off x="8991295" y="4846320"/>
            <a:ext cx="0" cy="960120"/>
          </a:xfrm>
          <a:prstGeom prst="line">
            <a:avLst/>
          </a:prstGeom>
          <a:noFill/>
          <a:ln w="12700">
            <a:solidFill>
              <a:srgbClr val="23436F"/>
            </a:solidFill>
            <a:prstDash val="solid"/>
          </a:ln>
        </p:spPr>
      </p:sp>
      <p:sp>
        <p:nvSpPr>
          <p:cNvPr id="44" name="Text 34"/>
          <p:cNvSpPr txBox="1"/>
          <p:nvPr/>
        </p:nvSpPr>
        <p:spPr>
          <a:xfrm>
            <a:off x="9265615" y="4754880"/>
            <a:ext cx="2103120" cy="731520"/>
          </a:xfrm>
          <a:prstGeom prst="rect">
            <a:avLst/>
          </a:prstGeom>
          <a:noFill/>
          <a:ln/>
        </p:spPr>
        <p:txBody>
          <a:bodyPr wrap="square" lIns="0" tIns="0" rIns="0" bIns="0" rtlCol="0" anchor="ctr"/>
          <a:lstStyle/>
          <a:p>
            <a:pPr indent="0" marL="0">
              <a:buNone/>
            </a:pPr>
            <a:r>
              <a:rPr lang="en-US" sz="4800" b="1" dirty="0">
                <a:solidFill>
                  <a:srgbClr val="C8742B"/>
                </a:solidFill>
                <a:latin typeface="Calibri" pitchFamily="34" charset="0"/>
                <a:ea typeface="Calibri" pitchFamily="34" charset="-122"/>
                <a:cs typeface="Calibri" pitchFamily="34" charset="-120"/>
              </a:rPr>
              <a:t>20</a:t>
            </a:r>
            <a:endParaRPr lang="en-US" sz="4800" dirty="0"/>
          </a:p>
        </p:txBody>
      </p:sp>
      <p:sp>
        <p:nvSpPr>
          <p:cNvPr id="45" name="Text 35"/>
          <p:cNvSpPr txBox="1"/>
          <p:nvPr/>
        </p:nvSpPr>
        <p:spPr>
          <a:xfrm>
            <a:off x="9265615" y="5486400"/>
            <a:ext cx="2103120" cy="320040"/>
          </a:xfrm>
          <a:prstGeom prst="rect">
            <a:avLst/>
          </a:prstGeom>
          <a:noFill/>
          <a:ln/>
        </p:spPr>
        <p:txBody>
          <a:bodyPr wrap="square" lIns="0" tIns="0" rIns="0" bIns="0" rtlCol="0" anchor="t"/>
          <a:lstStyle/>
          <a:p>
            <a:pPr indent="0" marL="0">
              <a:buNone/>
            </a:pPr>
            <a:r>
              <a:rPr lang="en-US" sz="1400" dirty="0">
                <a:solidFill>
                  <a:srgbClr val="C3CEDD"/>
                </a:solidFill>
                <a:latin typeface="Calibri" pitchFamily="34" charset="0"/>
                <a:ea typeface="Calibri" pitchFamily="34" charset="-122"/>
                <a:cs typeface="Calibri" pitchFamily="34" charset="-120"/>
              </a:rPr>
              <a:t>video · 4 minggu</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TIKTOK DAN DATA</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Setiap staff ada tiga peranan dalam TikTok</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19</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3515258" cy="4526280"/>
          </a:xfrm>
          <a:prstGeom prst="roundRect">
            <a:avLst>
              <a:gd name="adj" fmla="val 208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868680" y="1920240"/>
            <a:ext cx="594360" cy="59436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1011326" y="2062886"/>
            <a:ext cx="309067" cy="309067"/>
          </a:xfrm>
          <a:prstGeom prst="rect">
            <a:avLst/>
          </a:prstGeom>
        </p:spPr>
      </p:pic>
      <p:sp>
        <p:nvSpPr>
          <p:cNvPr id="11" name="Text 8"/>
          <p:cNvSpPr txBox="1"/>
          <p:nvPr/>
        </p:nvSpPr>
        <p:spPr>
          <a:xfrm>
            <a:off x="2372258" y="1920240"/>
            <a:ext cx="1371600" cy="594360"/>
          </a:xfrm>
          <a:prstGeom prst="rect">
            <a:avLst/>
          </a:prstGeom>
          <a:noFill/>
          <a:ln/>
        </p:spPr>
        <p:txBody>
          <a:bodyPr wrap="square" lIns="0" tIns="0" rIns="0" bIns="0" rtlCol="0" anchor="ctr"/>
          <a:lstStyle/>
          <a:p>
            <a:pPr algn="r" indent="0" marL="0">
              <a:buNone/>
            </a:pPr>
            <a:r>
              <a:rPr lang="en-US" sz="1100" b="1" spc="200" kern="0" dirty="0">
                <a:solidFill>
                  <a:srgbClr val="C8742B"/>
                </a:solidFill>
                <a:latin typeface="Calibri" pitchFamily="34" charset="0"/>
                <a:ea typeface="Calibri" pitchFamily="34" charset="-122"/>
                <a:cs typeface="Calibri" pitchFamily="34" charset="-120"/>
              </a:rPr>
              <a:t>PERANAN 01</a:t>
            </a:r>
            <a:endParaRPr lang="en-US" sz="1100" dirty="0"/>
          </a:p>
        </p:txBody>
      </p:sp>
      <p:sp>
        <p:nvSpPr>
          <p:cNvPr id="12" name="Text 9"/>
          <p:cNvSpPr txBox="1"/>
          <p:nvPr/>
        </p:nvSpPr>
        <p:spPr>
          <a:xfrm>
            <a:off x="868680" y="2651760"/>
            <a:ext cx="2875178" cy="73152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Tanya selepas daftar</a:t>
            </a:r>
            <a:endParaRPr lang="en-US" sz="2100" dirty="0"/>
          </a:p>
        </p:txBody>
      </p:sp>
      <p:sp>
        <p:nvSpPr>
          <p:cNvPr id="13" name="Shape 10"/>
          <p:cNvSpPr/>
          <p:nvPr/>
        </p:nvSpPr>
        <p:spPr>
          <a:xfrm>
            <a:off x="4338218" y="1600200"/>
            <a:ext cx="3515258" cy="4526280"/>
          </a:xfrm>
          <a:prstGeom prst="roundRect">
            <a:avLst>
              <a:gd name="adj" fmla="val 208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4" name="Shape 11"/>
          <p:cNvSpPr/>
          <p:nvPr/>
        </p:nvSpPr>
        <p:spPr>
          <a:xfrm>
            <a:off x="4658258" y="1920240"/>
            <a:ext cx="594360" cy="594360"/>
          </a:xfrm>
          <a:prstGeom prst="roundRect">
            <a:avLst>
              <a:gd name="adj" fmla="val 22000"/>
            </a:avLst>
          </a:prstGeom>
          <a:solidFill>
            <a:srgbClr val="0B1F3A"/>
          </a:solidFill>
          <a:ln w="12700">
            <a:solidFill>
              <a:srgbClr val="0B1F3A"/>
            </a:solidFill>
            <a:prstDash val="solid"/>
          </a:ln>
        </p:spPr>
      </p:sp>
      <p:pic>
        <p:nvPicPr>
          <p:cNvPr id="15" name="Image 1" descr="preencoded.png">    </p:cNvPr>
          <p:cNvPicPr>
            <a:picLocks noChangeAspect="1"/>
          </p:cNvPicPr>
          <p:nvPr/>
        </p:nvPicPr>
        <p:blipFill>
          <a:blip r:embed="rId2"/>
          <a:stretch>
            <a:fillRect/>
          </a:stretch>
        </p:blipFill>
        <p:spPr>
          <a:xfrm>
            <a:off x="4800905" y="2062886"/>
            <a:ext cx="309067" cy="309067"/>
          </a:xfrm>
          <a:prstGeom prst="rect">
            <a:avLst/>
          </a:prstGeom>
        </p:spPr>
      </p:pic>
      <p:sp>
        <p:nvSpPr>
          <p:cNvPr id="16" name="Text 12"/>
          <p:cNvSpPr txBox="1"/>
          <p:nvPr/>
        </p:nvSpPr>
        <p:spPr>
          <a:xfrm>
            <a:off x="6161837" y="1920240"/>
            <a:ext cx="1371600" cy="594360"/>
          </a:xfrm>
          <a:prstGeom prst="rect">
            <a:avLst/>
          </a:prstGeom>
          <a:noFill/>
          <a:ln/>
        </p:spPr>
        <p:txBody>
          <a:bodyPr wrap="square" lIns="0" tIns="0" rIns="0" bIns="0" rtlCol="0" anchor="ctr"/>
          <a:lstStyle/>
          <a:p>
            <a:pPr algn="r" indent="0" marL="0">
              <a:buNone/>
            </a:pPr>
            <a:r>
              <a:rPr lang="en-US" sz="1100" b="1" spc="200" kern="0" dirty="0">
                <a:solidFill>
                  <a:srgbClr val="C8742B"/>
                </a:solidFill>
                <a:latin typeface="Calibri" pitchFamily="34" charset="0"/>
                <a:ea typeface="Calibri" pitchFamily="34" charset="-122"/>
                <a:cs typeface="Calibri" pitchFamily="34" charset="-120"/>
              </a:rPr>
              <a:t>PERANAN 02</a:t>
            </a:r>
            <a:endParaRPr lang="en-US" sz="1100" dirty="0"/>
          </a:p>
        </p:txBody>
      </p:sp>
      <p:sp>
        <p:nvSpPr>
          <p:cNvPr id="17" name="Text 13"/>
          <p:cNvSpPr txBox="1"/>
          <p:nvPr/>
        </p:nvSpPr>
        <p:spPr>
          <a:xfrm>
            <a:off x="4658258" y="2651760"/>
            <a:ext cx="2875178" cy="73152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Balas komen hari yang sama</a:t>
            </a:r>
            <a:endParaRPr lang="en-US" sz="2100" dirty="0"/>
          </a:p>
        </p:txBody>
      </p:sp>
      <p:sp>
        <p:nvSpPr>
          <p:cNvPr id="18" name="Shape 14"/>
          <p:cNvSpPr/>
          <p:nvPr/>
        </p:nvSpPr>
        <p:spPr>
          <a:xfrm>
            <a:off x="8127797" y="1600200"/>
            <a:ext cx="3515258" cy="4526280"/>
          </a:xfrm>
          <a:prstGeom prst="roundRect">
            <a:avLst>
              <a:gd name="adj" fmla="val 208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9" name="Shape 15"/>
          <p:cNvSpPr/>
          <p:nvPr/>
        </p:nvSpPr>
        <p:spPr>
          <a:xfrm>
            <a:off x="8447837" y="1920240"/>
            <a:ext cx="594360" cy="594360"/>
          </a:xfrm>
          <a:prstGeom prst="roundRect">
            <a:avLst>
              <a:gd name="adj" fmla="val 22000"/>
            </a:avLst>
          </a:prstGeom>
          <a:solidFill>
            <a:srgbClr val="0B1F3A"/>
          </a:solidFill>
          <a:ln w="12700">
            <a:solidFill>
              <a:srgbClr val="0B1F3A"/>
            </a:solidFill>
            <a:prstDash val="solid"/>
          </a:ln>
        </p:spPr>
      </p:sp>
      <p:pic>
        <p:nvPicPr>
          <p:cNvPr id="20" name="Image 2" descr="preencoded.png">    </p:cNvPr>
          <p:cNvPicPr>
            <a:picLocks noChangeAspect="1"/>
          </p:cNvPicPr>
          <p:nvPr/>
        </p:nvPicPr>
        <p:blipFill>
          <a:blip r:embed="rId3"/>
          <a:stretch>
            <a:fillRect/>
          </a:stretch>
        </p:blipFill>
        <p:spPr>
          <a:xfrm>
            <a:off x="8590483" y="2062886"/>
            <a:ext cx="309067" cy="309067"/>
          </a:xfrm>
          <a:prstGeom prst="rect">
            <a:avLst/>
          </a:prstGeom>
        </p:spPr>
      </p:pic>
      <p:sp>
        <p:nvSpPr>
          <p:cNvPr id="21" name="Text 16"/>
          <p:cNvSpPr txBox="1"/>
          <p:nvPr/>
        </p:nvSpPr>
        <p:spPr>
          <a:xfrm>
            <a:off x="9951415" y="1920240"/>
            <a:ext cx="1371600" cy="594360"/>
          </a:xfrm>
          <a:prstGeom prst="rect">
            <a:avLst/>
          </a:prstGeom>
          <a:noFill/>
          <a:ln/>
        </p:spPr>
        <p:txBody>
          <a:bodyPr wrap="square" lIns="0" tIns="0" rIns="0" bIns="0" rtlCol="0" anchor="ctr"/>
          <a:lstStyle/>
          <a:p>
            <a:pPr algn="r" indent="0" marL="0">
              <a:buNone/>
            </a:pPr>
            <a:r>
              <a:rPr lang="en-US" sz="1100" b="1" spc="200" kern="0" dirty="0">
                <a:solidFill>
                  <a:srgbClr val="C8742B"/>
                </a:solidFill>
                <a:latin typeface="Calibri" pitchFamily="34" charset="0"/>
                <a:ea typeface="Calibri" pitchFamily="34" charset="-122"/>
                <a:cs typeface="Calibri" pitchFamily="34" charset="-120"/>
              </a:rPr>
              <a:t>PERANAN 03</a:t>
            </a:r>
            <a:endParaRPr lang="en-US" sz="1100" dirty="0"/>
          </a:p>
        </p:txBody>
      </p:sp>
      <p:sp>
        <p:nvSpPr>
          <p:cNvPr id="22" name="Text 17"/>
          <p:cNvSpPr txBox="1"/>
          <p:nvPr/>
        </p:nvSpPr>
        <p:spPr>
          <a:xfrm>
            <a:off x="8447837" y="2651760"/>
            <a:ext cx="2875178" cy="73152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Muncul dalam video</a:t>
            </a:r>
            <a:endParaRPr lang="en-US" sz="2100" dirty="0"/>
          </a:p>
        </p:txBody>
      </p:sp>
      <p:sp>
        <p:nvSpPr>
          <p:cNvPr id="23" name="Shape 18"/>
          <p:cNvSpPr/>
          <p:nvPr/>
        </p:nvSpPr>
        <p:spPr>
          <a:xfrm>
            <a:off x="822960" y="3950208"/>
            <a:ext cx="2966618" cy="1947672"/>
          </a:xfrm>
          <a:prstGeom prst="roundRect">
            <a:avLst>
              <a:gd name="adj" fmla="val 3756"/>
            </a:avLst>
          </a:prstGeom>
          <a:solidFill>
            <a:srgbClr val="EBF0F6"/>
          </a:solidFill>
          <a:ln w="12700">
            <a:solidFill>
              <a:srgbClr val="EBF0F6"/>
            </a:solidFill>
            <a:prstDash val="solid"/>
          </a:ln>
        </p:spPr>
      </p:sp>
      <p:sp>
        <p:nvSpPr>
          <p:cNvPr id="24" name="Text 19"/>
          <p:cNvSpPr txBox="1"/>
          <p:nvPr/>
        </p:nvSpPr>
        <p:spPr>
          <a:xfrm>
            <a:off x="1005840" y="4069080"/>
            <a:ext cx="27432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CONTOH CHAT SEBENAR</a:t>
            </a:r>
            <a:endParaRPr lang="en-US" sz="950" dirty="0"/>
          </a:p>
        </p:txBody>
      </p:sp>
      <p:sp>
        <p:nvSpPr>
          <p:cNvPr id="25" name="Text 20"/>
          <p:cNvSpPr txBox="1"/>
          <p:nvPr/>
        </p:nvSpPr>
        <p:spPr>
          <a:xfrm>
            <a:off x="1005840" y="4343400"/>
            <a:ext cx="2600858" cy="1828800"/>
          </a:xfrm>
          <a:prstGeom prst="rect">
            <a:avLst/>
          </a:prstGeom>
          <a:noFill/>
          <a:ln/>
        </p:spPr>
        <p:txBody>
          <a:bodyPr wrap="square" lIns="0" tIns="0" rIns="0" bIns="0" rtlCol="0" anchor="t"/>
          <a:lstStyle/>
          <a:p>
            <a:pPr indent="0" marL="0">
              <a:buNone/>
            </a:pPr>
            <a:r>
              <a:rPr lang="en-US" sz="1250" i="1" dirty="0">
                <a:solidFill>
                  <a:srgbClr val="1B2A3D"/>
                </a:solidFill>
                <a:latin typeface="Calibri" pitchFamily="34" charset="0"/>
                <a:ea typeface="Calibri" pitchFamily="34" charset="-122"/>
                <a:cs typeface="Calibri" pitchFamily="34" charset="-120"/>
              </a:rPr>
              <a:t>“alrighttt thankyouuu so muchhh sbb sudi register unifi dgn sayaa! btw awakk, nak tanya sikit, awak jumpa saya dari mana yee? sbb saya tengah buat survey sikit utk platform marketing saya”</a:t>
            </a:r>
            <a:endParaRPr lang="en-US" sz="1250" dirty="0"/>
          </a:p>
        </p:txBody>
      </p:sp>
      <p:sp>
        <p:nvSpPr>
          <p:cNvPr id="26" name="Text 21"/>
          <p:cNvSpPr txBox="1"/>
          <p:nvPr/>
        </p:nvSpPr>
        <p:spPr>
          <a:xfrm>
            <a:off x="868680" y="3383280"/>
            <a:ext cx="2875178" cy="457200"/>
          </a:xfrm>
          <a:prstGeom prst="rect">
            <a:avLst/>
          </a:prstGeom>
          <a:noFill/>
          <a:ln/>
        </p:spPr>
        <p:txBody>
          <a:bodyPr wrap="square" lIns="0" tIns="0" rIns="0" bIns="0" rtlCol="0" anchor="t"/>
          <a:lstStyle/>
          <a:p>
            <a:pPr indent="0" marL="0">
              <a:buNone/>
            </a:pPr>
            <a:r>
              <a:rPr lang="en-US" sz="1350" dirty="0">
                <a:solidFill>
                  <a:srgbClr val="5B6B80"/>
                </a:solidFill>
                <a:latin typeface="Calibri" pitchFamily="34" charset="0"/>
                <a:ea typeface="Calibri" pitchFamily="34" charset="-122"/>
                <a:cs typeface="Calibri" pitchFamily="34" charset="-120"/>
              </a:rPr>
              <a:t>Rekod jawapan dalam kolum Sumber.</a:t>
            </a:r>
            <a:endParaRPr lang="en-US" sz="1350" dirty="0"/>
          </a:p>
        </p:txBody>
      </p:sp>
      <p:sp>
        <p:nvSpPr>
          <p:cNvPr id="27" name="Text 22"/>
          <p:cNvSpPr txBox="1"/>
          <p:nvPr/>
        </p:nvSpPr>
        <p:spPr>
          <a:xfrm>
            <a:off x="4658258" y="3383280"/>
            <a:ext cx="2875178" cy="457200"/>
          </a:xfrm>
          <a:prstGeom prst="rect">
            <a:avLst/>
          </a:prstGeom>
          <a:noFill/>
          <a:ln/>
        </p:spPr>
        <p:txBody>
          <a:bodyPr wrap="square" lIns="0" tIns="0" rIns="0" bIns="0" rtlCol="0" anchor="t"/>
          <a:lstStyle/>
          <a:p>
            <a:pPr indent="0" marL="0">
              <a:buNone/>
            </a:pPr>
            <a:r>
              <a:rPr lang="en-US" sz="1350" dirty="0">
                <a:solidFill>
                  <a:srgbClr val="5B6B80"/>
                </a:solidFill>
                <a:latin typeface="Calibri" pitchFamily="34" charset="0"/>
                <a:ea typeface="Calibri" pitchFamily="34" charset="-122"/>
                <a:cs typeface="Calibri" pitchFamily="34" charset="-120"/>
              </a:rPr>
              <a:t>Jangan minta alamat dalam komen.</a:t>
            </a:r>
            <a:endParaRPr lang="en-US" sz="1350" dirty="0"/>
          </a:p>
        </p:txBody>
      </p:sp>
      <p:sp>
        <p:nvSpPr>
          <p:cNvPr id="28" name="Shape 23"/>
          <p:cNvSpPr/>
          <p:nvPr/>
        </p:nvSpPr>
        <p:spPr>
          <a:xfrm>
            <a:off x="4612538" y="3950208"/>
            <a:ext cx="2966618" cy="1947672"/>
          </a:xfrm>
          <a:prstGeom prst="roundRect">
            <a:avLst>
              <a:gd name="adj" fmla="val 3756"/>
            </a:avLst>
          </a:prstGeom>
          <a:solidFill>
            <a:srgbClr val="EBF0F6"/>
          </a:solidFill>
          <a:ln w="12700">
            <a:solidFill>
              <a:srgbClr val="EBF0F6"/>
            </a:solidFill>
            <a:prstDash val="solid"/>
          </a:ln>
        </p:spPr>
      </p:sp>
      <p:sp>
        <p:nvSpPr>
          <p:cNvPr id="29" name="Text 24"/>
          <p:cNvSpPr txBox="1"/>
          <p:nvPr/>
        </p:nvSpPr>
        <p:spPr>
          <a:xfrm>
            <a:off x="4795418" y="4069080"/>
            <a:ext cx="27432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CONTOH BALASAN</a:t>
            </a:r>
            <a:endParaRPr lang="en-US" sz="950" dirty="0"/>
          </a:p>
        </p:txBody>
      </p:sp>
      <p:sp>
        <p:nvSpPr>
          <p:cNvPr id="30" name="Text 25"/>
          <p:cNvSpPr txBox="1"/>
          <p:nvPr/>
        </p:nvSpPr>
        <p:spPr>
          <a:xfrm>
            <a:off x="4795418" y="4343400"/>
            <a:ext cx="2600858" cy="173736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“Boleh semak! WhatsApp alamat penuh ke [nombor], kami check terus.”</a:t>
            </a:r>
            <a:endParaRPr lang="en-US" sz="1500" dirty="0"/>
          </a:p>
        </p:txBody>
      </p:sp>
      <p:sp>
        <p:nvSpPr>
          <p:cNvPr id="31" name="Text 26"/>
          <p:cNvSpPr txBox="1"/>
          <p:nvPr/>
        </p:nvSpPr>
        <p:spPr>
          <a:xfrm>
            <a:off x="8447837" y="3383280"/>
            <a:ext cx="2875178" cy="457200"/>
          </a:xfrm>
          <a:prstGeom prst="rect">
            <a:avLst/>
          </a:prstGeom>
          <a:noFill/>
          <a:ln/>
        </p:spPr>
        <p:txBody>
          <a:bodyPr wrap="square" lIns="0" tIns="0" rIns="0" bIns="0" rtlCol="0" anchor="t"/>
          <a:lstStyle/>
          <a:p>
            <a:pPr indent="0" marL="0">
              <a:buNone/>
            </a:pPr>
            <a:r>
              <a:rPr lang="en-US" sz="1350" dirty="0">
                <a:solidFill>
                  <a:srgbClr val="5B6B80"/>
                </a:solidFill>
                <a:latin typeface="Calibri" pitchFamily="34" charset="0"/>
                <a:ea typeface="Calibri" pitchFamily="34" charset="-122"/>
                <a:cs typeface="Calibri" pitchFamily="34" charset="-120"/>
              </a:rPr>
              <a:t>Walaupun 3 saat untuk perkenalkan diri.</a:t>
            </a:r>
            <a:endParaRPr lang="en-US" sz="1350" dirty="0"/>
          </a:p>
        </p:txBody>
      </p:sp>
      <p:sp>
        <p:nvSpPr>
          <p:cNvPr id="32" name="Shape 27"/>
          <p:cNvSpPr/>
          <p:nvPr/>
        </p:nvSpPr>
        <p:spPr>
          <a:xfrm>
            <a:off x="8402117" y="3950208"/>
            <a:ext cx="2966618" cy="1947672"/>
          </a:xfrm>
          <a:prstGeom prst="roundRect">
            <a:avLst>
              <a:gd name="adj" fmla="val 3756"/>
            </a:avLst>
          </a:prstGeom>
          <a:solidFill>
            <a:srgbClr val="0B1F3A"/>
          </a:solidFill>
          <a:ln w="12700">
            <a:solidFill>
              <a:srgbClr val="0B1F3A"/>
            </a:solidFill>
            <a:prstDash val="solid"/>
          </a:ln>
        </p:spPr>
      </p:sp>
      <p:pic>
        <p:nvPicPr>
          <p:cNvPr id="33" name="Image 3" descr="preencoded.png">    </p:cNvPr>
          <p:cNvPicPr>
            <a:picLocks noChangeAspect="1"/>
          </p:cNvPicPr>
          <p:nvPr/>
        </p:nvPicPr>
        <p:blipFill>
          <a:blip r:embed="rId4"/>
          <a:stretch>
            <a:fillRect/>
          </a:stretch>
        </p:blipFill>
        <p:spPr>
          <a:xfrm>
            <a:off x="8630717" y="4160520"/>
            <a:ext cx="411480" cy="411480"/>
          </a:xfrm>
          <a:prstGeom prst="rect">
            <a:avLst/>
          </a:prstGeom>
        </p:spPr>
      </p:pic>
      <p:sp>
        <p:nvSpPr>
          <p:cNvPr id="34" name="Text 28"/>
          <p:cNvSpPr txBox="1"/>
          <p:nvPr/>
        </p:nvSpPr>
        <p:spPr>
          <a:xfrm>
            <a:off x="8630717" y="4663440"/>
            <a:ext cx="2509418" cy="11430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Muka staff sebenar bina kepercayaan lebih dari iklan.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TIKTOK DAN DATA</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Rekod setiap lead untuk tahu di mana jualan tercicir</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20</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7452360" cy="4526280"/>
          </a:xfrm>
          <a:prstGeom prst="roundRect">
            <a:avLst>
              <a:gd name="adj" fmla="val 161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6903720" cy="914400"/>
        </p:xfrm>
        <a:graphic>
          <a:graphicData uri="http://schemas.openxmlformats.org/drawingml/2006/table">
            <a:tbl>
              <a:tblPr/>
              <a:tblGrid>
                <a:gridCol w="2331720"/>
                <a:gridCol w="4572000"/>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Kolum</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r>
              <a:tr h="658368">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Tarikh enquiry</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400" dirty="0">
                          <a:solidFill>
                            <a:srgbClr val="1B2A3D"/>
                          </a:solidFill>
                          <a:latin typeface="Calibri" pitchFamily="34" charset="0"/>
                          <a:ea typeface="Calibri" pitchFamily="34" charset="-122"/>
                          <a:cs typeface="Calibri" pitchFamily="34" charset="-120"/>
                        </a:rPr>
                        <a:t>Tarikh customer pertama WhatsApp</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C8742B"/>
                          </a:solidFill>
                          <a:latin typeface="Calibri" pitchFamily="34" charset="0"/>
                          <a:ea typeface="Calibri" pitchFamily="34" charset="-122"/>
                          <a:cs typeface="Calibri" pitchFamily="34" charset="-120"/>
                        </a:rPr>
                        <a:t>Sumber</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c>
                  <a:txBody>
                    <a:bodyPr/>
                    <a:lstStyle/>
                    <a:p>
                      <a:pPr indent="0" marL="0">
                        <a:buNone/>
                      </a:pPr>
                      <a:r>
                        <a:rPr lang="en-US" sz="1400" dirty="0">
                          <a:solidFill>
                            <a:srgbClr val="1B2A3D"/>
                          </a:solidFill>
                          <a:latin typeface="Calibri" pitchFamily="34" charset="0"/>
                          <a:ea typeface="Calibri" pitchFamily="34" charset="-122"/>
                          <a:cs typeface="Calibri" pitchFamily="34" charset="-120"/>
                        </a:rPr>
                        <a:t>TikTok (nama video), Facebook, Poster (lokasi), Referral</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r>
              <a:tr h="658368">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Pakej dicadang / didaftar</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400" dirty="0">
                          <a:solidFill>
                            <a:srgbClr val="1B2A3D"/>
                          </a:solidFill>
                          <a:latin typeface="Calibri" pitchFamily="34" charset="0"/>
                          <a:ea typeface="Calibri" pitchFamily="34" charset="-122"/>
                          <a:cs typeface="Calibri" pitchFamily="34" charset="-120"/>
                        </a:rPr>
                        <a:t>100, 300 atau 500</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c>
                  <a:txBody>
                    <a:bodyPr/>
                    <a:lstStyle/>
                    <a:p>
                      <a:pPr indent="0" marL="0">
                        <a:buNone/>
                      </a:pPr>
                      <a:r>
                        <a:rPr lang="en-US" sz="1400" dirty="0">
                          <a:solidFill>
                            <a:srgbClr val="1B2A3D"/>
                          </a:solidFill>
                          <a:latin typeface="Calibri" pitchFamily="34" charset="0"/>
                          <a:ea typeface="Calibri" pitchFamily="34" charset="-122"/>
                          <a:cs typeface="Calibri" pitchFamily="34" charset="-120"/>
                        </a:rPr>
                        <a:t>Baru, Coverage ok, Tiada coverage, Daftar, Pasang, Tersangkut, Senyap, Cancel</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7F9FB"/>
                    </a:solidFill>
                  </a:tcPr>
                </a:tc>
              </a:tr>
              <a:tr h="658368">
                <a:tc>
                  <a:txBody>
                    <a:bodyPr/>
                    <a:lstStyle/>
                    <a:p>
                      <a:pPr indent="0" marL="0">
                        <a:buNone/>
                      </a:pPr>
                      <a:r>
                        <a:rPr lang="en-US" sz="1400" b="1" dirty="0">
                          <a:solidFill>
                            <a:srgbClr val="C8742B"/>
                          </a:solidFill>
                          <a:latin typeface="Calibri" pitchFamily="34" charset="0"/>
                          <a:ea typeface="Calibri" pitchFamily="34" charset="-122"/>
                          <a:cs typeface="Calibri" pitchFamily="34" charset="-120"/>
                        </a:rPr>
                        <a:t>Sebab tak jadi</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400" dirty="0">
                          <a:solidFill>
                            <a:srgbClr val="1B2A3D"/>
                          </a:solidFill>
                          <a:latin typeface="Calibri" pitchFamily="34" charset="0"/>
                          <a:ea typeface="Calibri" pitchFamily="34" charset="-122"/>
                          <a:cs typeface="Calibri" pitchFamily="34" charset="-120"/>
                        </a:rPr>
                        <a:t>Harga, tiada coverage, provider lain, senyap</a:t>
                      </a:r>
                      <a:endParaRPr lang="en-US" sz="1400" dirty="0">
                        <a:latin typeface="Calibri" charset="0"/>
                        <a:ea typeface="Calibri" charset="0"/>
                        <a:cs typeface="Calibri" charset="0"/>
                      </a:endParaRPr>
                    </a:p>
                  </a:txBody>
                  <a:tcPr marL="164592" marR="164592" marT="36576" marB="36576"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r>
            </a:tbl>
          </a:graphicData>
        </a:graphic>
      </p:graphicFrame>
      <p:sp>
        <p:nvSpPr>
          <p:cNvPr id="10" name="Shape 7"/>
          <p:cNvSpPr/>
          <p:nvPr/>
        </p:nvSpPr>
        <p:spPr>
          <a:xfrm>
            <a:off x="8275320" y="1600200"/>
            <a:ext cx="3364992" cy="4526280"/>
          </a:xfrm>
          <a:prstGeom prst="roundRect">
            <a:avLst>
              <a:gd name="adj" fmla="val 2174"/>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11" name="Shape 8"/>
          <p:cNvSpPr/>
          <p:nvPr/>
        </p:nvSpPr>
        <p:spPr>
          <a:xfrm>
            <a:off x="8595360" y="1920240"/>
            <a:ext cx="594360" cy="594360"/>
          </a:xfrm>
          <a:prstGeom prst="roundRect">
            <a:avLst>
              <a:gd name="adj" fmla="val 22000"/>
            </a:avLst>
          </a:prstGeom>
          <a:solidFill>
            <a:srgbClr val="C8742B"/>
          </a:solidFill>
          <a:ln w="12700">
            <a:solidFill>
              <a:srgbClr val="C8742B"/>
            </a:solidFill>
            <a:prstDash val="solid"/>
          </a:ln>
        </p:spPr>
      </p:sp>
      <p:pic>
        <p:nvPicPr>
          <p:cNvPr id="12" name="Image 0" descr="preencoded.png">    </p:cNvPr>
          <p:cNvPicPr>
            <a:picLocks noChangeAspect="1"/>
          </p:cNvPicPr>
          <p:nvPr/>
        </p:nvPicPr>
        <p:blipFill>
          <a:blip r:embed="rId1"/>
          <a:stretch>
            <a:fillRect/>
          </a:stretch>
        </p:blipFill>
        <p:spPr>
          <a:xfrm>
            <a:off x="8738006" y="2062886"/>
            <a:ext cx="309067" cy="309067"/>
          </a:xfrm>
          <a:prstGeom prst="rect">
            <a:avLst/>
          </a:prstGeom>
        </p:spPr>
      </p:pic>
      <p:sp>
        <p:nvSpPr>
          <p:cNvPr id="13" name="Text 9"/>
          <p:cNvSpPr txBox="1"/>
          <p:nvPr/>
        </p:nvSpPr>
        <p:spPr>
          <a:xfrm>
            <a:off x="8595360" y="2697480"/>
            <a:ext cx="27432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KENAPA PENTING</a:t>
            </a:r>
            <a:endParaRPr lang="en-US" sz="1100" dirty="0"/>
          </a:p>
        </p:txBody>
      </p:sp>
      <p:sp>
        <p:nvSpPr>
          <p:cNvPr id="14" name="Text 10"/>
          <p:cNvSpPr txBox="1"/>
          <p:nvPr/>
        </p:nvSpPr>
        <p:spPr>
          <a:xfrm>
            <a:off x="8595360" y="3017520"/>
            <a:ext cx="2788920" cy="1828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Tanpa rekod enquiry, kita tak tahu sama ada masalahnya lead kurang atau closing lemah.</a:t>
            </a:r>
            <a:endParaRPr lang="en-US" sz="1800" dirty="0"/>
          </a:p>
        </p:txBody>
      </p:sp>
      <p:sp>
        <p:nvSpPr>
          <p:cNvPr id="15" name="Shape 11"/>
          <p:cNvSpPr/>
          <p:nvPr/>
        </p:nvSpPr>
        <p:spPr>
          <a:xfrm>
            <a:off x="8595360" y="4983480"/>
            <a:ext cx="2743200" cy="0"/>
          </a:xfrm>
          <a:prstGeom prst="line">
            <a:avLst/>
          </a:prstGeom>
          <a:noFill/>
          <a:ln w="9525">
            <a:solidFill>
              <a:srgbClr val="23436F"/>
            </a:solidFill>
            <a:prstDash val="solid"/>
          </a:ln>
        </p:spPr>
      </p:sp>
      <p:pic>
        <p:nvPicPr>
          <p:cNvPr id="16" name="Image 1" descr="preencoded.png">    </p:cNvPr>
          <p:cNvPicPr>
            <a:picLocks noChangeAspect="1"/>
          </p:cNvPicPr>
          <p:nvPr/>
        </p:nvPicPr>
        <p:blipFill>
          <a:blip r:embed="rId2"/>
          <a:stretch>
            <a:fillRect/>
          </a:stretch>
        </p:blipFill>
        <p:spPr>
          <a:xfrm>
            <a:off x="8595360" y="5212080"/>
            <a:ext cx="274320" cy="274320"/>
          </a:xfrm>
          <a:prstGeom prst="rect">
            <a:avLst/>
          </a:prstGeom>
        </p:spPr>
      </p:pic>
      <p:sp>
        <p:nvSpPr>
          <p:cNvPr id="17" name="Text 12"/>
          <p:cNvSpPr txBox="1"/>
          <p:nvPr/>
        </p:nvSpPr>
        <p:spPr>
          <a:xfrm>
            <a:off x="9006840" y="5138928"/>
            <a:ext cx="2377440" cy="457200"/>
          </a:xfrm>
          <a:prstGeom prst="rect">
            <a:avLst/>
          </a:prstGeom>
          <a:noFill/>
          <a:ln/>
        </p:spPr>
        <p:txBody>
          <a:bodyPr wrap="square" lIns="0" tIns="0" rIns="0" bIns="0" rtlCol="0" anchor="ctr"/>
          <a:lstStyle/>
          <a:p>
            <a:pPr indent="0" marL="0">
              <a:buNone/>
            </a:pPr>
            <a:r>
              <a:rPr lang="en-US" sz="1300" dirty="0">
                <a:solidFill>
                  <a:srgbClr val="C3CEDD"/>
                </a:solidFill>
                <a:latin typeface="Calibri" pitchFamily="34" charset="0"/>
                <a:ea typeface="Calibri" pitchFamily="34" charset="-122"/>
                <a:cs typeface="Calibri" pitchFamily="34" charset="-120"/>
              </a:rPr>
              <a:t>Isi sebelum habis kerja setiap hari.</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2286000" y="2743200"/>
            <a:ext cx="6400800" cy="6400800"/>
          </a:xfrm>
          <a:prstGeom prst="ellipse">
            <a:avLst/>
          </a:prstGeom>
          <a:solidFill>
            <a:srgbClr val="17325A"/>
          </a:solidFill>
          <a:ln w="12700">
            <a:solidFill>
              <a:srgbClr val="17325A"/>
            </a:solidFill>
            <a:prstDash val="solid"/>
          </a:ln>
        </p:spPr>
      </p:sp>
      <p:sp>
        <p:nvSpPr>
          <p:cNvPr id="3" name="Text 1"/>
          <p:cNvSpPr txBox="1"/>
          <p:nvPr/>
        </p:nvSpPr>
        <p:spPr>
          <a:xfrm>
            <a:off x="548640" y="411480"/>
            <a:ext cx="45720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MISI OKTOBER</a:t>
            </a:r>
            <a:endParaRPr lang="en-US" sz="1100" dirty="0"/>
          </a:p>
        </p:txBody>
      </p:sp>
      <p:sp>
        <p:nvSpPr>
          <p:cNvPr id="4" name="Text 2"/>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Sasaran kita: 100 pemasangan bulan ini</a:t>
            </a:r>
            <a:endParaRPr lang="en-US" sz="2800" dirty="0"/>
          </a:p>
        </p:txBody>
      </p:sp>
      <p:sp>
        <p:nvSpPr>
          <p:cNvPr id="5" name="Text 3"/>
          <p:cNvSpPr txBox="1"/>
          <p:nvPr/>
        </p:nvSpPr>
        <p:spPr>
          <a:xfrm>
            <a:off x="457200" y="1600200"/>
            <a:ext cx="5120640" cy="2377440"/>
          </a:xfrm>
          <a:prstGeom prst="rect">
            <a:avLst/>
          </a:prstGeom>
          <a:noFill/>
          <a:ln/>
        </p:spPr>
        <p:txBody>
          <a:bodyPr wrap="square" lIns="0" tIns="0" rIns="0" bIns="0" rtlCol="0" anchor="ctr"/>
          <a:lstStyle/>
          <a:p>
            <a:pPr indent="0" marL="0">
              <a:buNone/>
            </a:pPr>
            <a:r>
              <a:rPr lang="en-US" sz="17000" b="1" dirty="0">
                <a:solidFill>
                  <a:srgbClr val="C8742B"/>
                </a:solidFill>
                <a:latin typeface="Calibri" pitchFamily="34" charset="0"/>
                <a:ea typeface="Calibri" pitchFamily="34" charset="-122"/>
                <a:cs typeface="Calibri" pitchFamily="34" charset="-120"/>
              </a:rPr>
              <a:t>100</a:t>
            </a:r>
            <a:endParaRPr lang="en-US" sz="17000" dirty="0"/>
          </a:p>
        </p:txBody>
      </p:sp>
      <p:sp>
        <p:nvSpPr>
          <p:cNvPr id="6" name="Text 4"/>
          <p:cNvSpPr txBox="1"/>
          <p:nvPr/>
        </p:nvSpPr>
        <p:spPr>
          <a:xfrm>
            <a:off x="548640" y="3977640"/>
            <a:ext cx="4572000" cy="365760"/>
          </a:xfrm>
          <a:prstGeom prst="rect">
            <a:avLst/>
          </a:prstGeom>
          <a:noFill/>
          <a:ln/>
        </p:spPr>
        <p:txBody>
          <a:bodyPr wrap="square" lIns="0" tIns="0" rIns="0" bIns="0" rtlCol="0" anchor="t"/>
          <a:lstStyle/>
          <a:p>
            <a:pPr indent="0" marL="0">
              <a:buNone/>
            </a:pPr>
            <a:r>
              <a:rPr lang="en-US" sz="1700" dirty="0">
                <a:solidFill>
                  <a:srgbClr val="C3CEDD"/>
                </a:solidFill>
                <a:latin typeface="Calibri" pitchFamily="34" charset="0"/>
                <a:ea typeface="Calibri" pitchFamily="34" charset="-122"/>
                <a:cs typeface="Calibri" pitchFamily="34" charset="-120"/>
              </a:rPr>
              <a:t>pemasangan pada Oktober</a:t>
            </a:r>
            <a:endParaRPr lang="en-US" sz="1700" dirty="0"/>
          </a:p>
        </p:txBody>
      </p:sp>
      <p:sp>
        <p:nvSpPr>
          <p:cNvPr id="7" name="Text 5"/>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300" dirty="0">
                <a:solidFill>
                  <a:srgbClr val="C3CEDD"/>
                </a:solidFill>
                <a:latin typeface="Calibri" pitchFamily="34" charset="0"/>
                <a:ea typeface="Calibri" pitchFamily="34" charset="-122"/>
                <a:cs typeface="Calibri" pitchFamily="34" charset="-120"/>
              </a:rPr>
              <a:t>September  </a:t>
            </a:r>
            <a:pPr indent="0" marL="0">
              <a:buNone/>
            </a:pPr>
            <a:r>
              <a:rPr lang="en-US" sz="1300" b="1" dirty="0">
                <a:solidFill>
                  <a:srgbClr val="FFFFFF"/>
                </a:solidFill>
                <a:latin typeface="Calibri" pitchFamily="34" charset="0"/>
                <a:ea typeface="Calibri" pitchFamily="34" charset="-122"/>
                <a:cs typeface="Calibri" pitchFamily="34" charset="-120"/>
              </a:rPr>
              <a:t>71</a:t>
            </a:r>
            <a:endParaRPr lang="en-US" sz="1300" dirty="0"/>
          </a:p>
        </p:txBody>
      </p:sp>
      <p:sp>
        <p:nvSpPr>
          <p:cNvPr id="8" name="Text 6"/>
          <p:cNvSpPr txBox="1"/>
          <p:nvPr/>
        </p:nvSpPr>
        <p:spPr>
          <a:xfrm>
            <a:off x="2560320" y="4754880"/>
            <a:ext cx="2560320" cy="320040"/>
          </a:xfrm>
          <a:prstGeom prst="rect">
            <a:avLst/>
          </a:prstGeom>
          <a:noFill/>
          <a:ln/>
        </p:spPr>
        <p:txBody>
          <a:bodyPr wrap="square" lIns="0" tIns="0" rIns="0" bIns="0" rtlCol="0" anchor="t"/>
          <a:lstStyle/>
          <a:p>
            <a:pPr algn="r" indent="0" marL="0">
              <a:buNone/>
            </a:pPr>
            <a:r>
              <a:rPr lang="en-US" sz="1300" dirty="0">
                <a:solidFill>
                  <a:srgbClr val="C3CEDD"/>
                </a:solidFill>
                <a:latin typeface="Calibri" pitchFamily="34" charset="0"/>
                <a:ea typeface="Calibri" pitchFamily="34" charset="-122"/>
                <a:cs typeface="Calibri" pitchFamily="34" charset="-120"/>
              </a:rPr>
              <a:t>Sasaran  </a:t>
            </a:r>
            <a:pPr algn="r" indent="0" marL="0">
              <a:buNone/>
            </a:pPr>
            <a:r>
              <a:rPr lang="en-US" sz="1300" b="1" dirty="0">
                <a:solidFill>
                  <a:srgbClr val="C8742B"/>
                </a:solidFill>
                <a:latin typeface="Calibri" pitchFamily="34" charset="0"/>
                <a:ea typeface="Calibri" pitchFamily="34" charset="-122"/>
                <a:cs typeface="Calibri" pitchFamily="34" charset="-120"/>
              </a:rPr>
              <a:t>100</a:t>
            </a:r>
            <a:endParaRPr lang="en-US" sz="1300" dirty="0"/>
          </a:p>
        </p:txBody>
      </p:sp>
      <p:sp>
        <p:nvSpPr>
          <p:cNvPr id="9" name="Shape 7"/>
          <p:cNvSpPr/>
          <p:nvPr/>
        </p:nvSpPr>
        <p:spPr>
          <a:xfrm>
            <a:off x="548640" y="5166360"/>
            <a:ext cx="4572000" cy="237744"/>
          </a:xfrm>
          <a:prstGeom prst="roundRect">
            <a:avLst>
              <a:gd name="adj" fmla="val 50000"/>
            </a:avLst>
          </a:prstGeom>
          <a:solidFill>
            <a:srgbClr val="23436F"/>
          </a:solidFill>
          <a:ln w="12700">
            <a:solidFill>
              <a:srgbClr val="23436F"/>
            </a:solidFill>
            <a:prstDash val="solid"/>
          </a:ln>
        </p:spPr>
      </p:sp>
      <p:sp>
        <p:nvSpPr>
          <p:cNvPr id="10" name="Shape 8"/>
          <p:cNvSpPr/>
          <p:nvPr/>
        </p:nvSpPr>
        <p:spPr>
          <a:xfrm>
            <a:off x="548640" y="5166360"/>
            <a:ext cx="3246120" cy="237744"/>
          </a:xfrm>
          <a:prstGeom prst="roundRect">
            <a:avLst>
              <a:gd name="adj" fmla="val 50000"/>
            </a:avLst>
          </a:prstGeom>
          <a:solidFill>
            <a:srgbClr val="FFFFFF"/>
          </a:solidFill>
          <a:ln w="12700">
            <a:solidFill>
              <a:srgbClr val="FFFFFF"/>
            </a:solidFill>
            <a:prstDash val="solid"/>
          </a:ln>
        </p:spPr>
      </p:sp>
      <p:sp>
        <p:nvSpPr>
          <p:cNvPr id="11" name="Shape 9"/>
          <p:cNvSpPr/>
          <p:nvPr/>
        </p:nvSpPr>
        <p:spPr>
          <a:xfrm>
            <a:off x="5623560" y="1600200"/>
            <a:ext cx="3017520" cy="2011680"/>
          </a:xfrm>
          <a:prstGeom prst="roundRect">
            <a:avLst>
              <a:gd name="adj" fmla="val 3636"/>
            </a:avLst>
          </a:prstGeom>
          <a:solidFill>
            <a:srgbClr val="17325A"/>
          </a:solidFill>
          <a:ln w="9525">
            <a:solidFill>
              <a:srgbClr val="23436F"/>
            </a:solidFill>
            <a:prstDash val="solid"/>
          </a:ln>
        </p:spPr>
      </p:sp>
      <p:sp>
        <p:nvSpPr>
          <p:cNvPr id="12" name="Shape 10"/>
          <p:cNvSpPr/>
          <p:nvPr/>
        </p:nvSpPr>
        <p:spPr>
          <a:xfrm>
            <a:off x="5897880" y="1874520"/>
            <a:ext cx="457200" cy="457200"/>
          </a:xfrm>
          <a:prstGeom prst="roundRect">
            <a:avLst>
              <a:gd name="adj" fmla="val 22000"/>
            </a:avLst>
          </a:prstGeom>
          <a:solidFill>
            <a:srgbClr val="C8742B"/>
          </a:solidFill>
          <a:ln w="12700">
            <a:solidFill>
              <a:srgbClr val="C8742B"/>
            </a:solidFill>
            <a:prstDash val="solid"/>
          </a:ln>
        </p:spPr>
      </p:sp>
      <p:pic>
        <p:nvPicPr>
          <p:cNvPr id="13" name="Image 0" descr="preencoded.png">    </p:cNvPr>
          <p:cNvPicPr>
            <a:picLocks noChangeAspect="1"/>
          </p:cNvPicPr>
          <p:nvPr/>
        </p:nvPicPr>
        <p:blipFill>
          <a:blip r:embed="rId1"/>
          <a:stretch>
            <a:fillRect/>
          </a:stretch>
        </p:blipFill>
        <p:spPr>
          <a:xfrm>
            <a:off x="6007608" y="1984248"/>
            <a:ext cx="237744" cy="237744"/>
          </a:xfrm>
          <a:prstGeom prst="rect">
            <a:avLst/>
          </a:prstGeom>
        </p:spPr>
      </p:pic>
      <p:sp>
        <p:nvSpPr>
          <p:cNvPr id="14" name="Text 11"/>
          <p:cNvSpPr txBox="1"/>
          <p:nvPr/>
        </p:nvSpPr>
        <p:spPr>
          <a:xfrm>
            <a:off x="5897880" y="2423160"/>
            <a:ext cx="246888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71 → 100</a:t>
            </a:r>
            <a:endParaRPr lang="en-US" sz="3200" dirty="0"/>
          </a:p>
        </p:txBody>
      </p:sp>
      <p:sp>
        <p:nvSpPr>
          <p:cNvPr id="15" name="Text 12"/>
          <p:cNvSpPr txBox="1"/>
          <p:nvPr/>
        </p:nvSpPr>
        <p:spPr>
          <a:xfrm>
            <a:off x="5897880" y="3063240"/>
            <a:ext cx="2468880" cy="457200"/>
          </a:xfrm>
          <a:prstGeom prst="rect">
            <a:avLst/>
          </a:prstGeom>
          <a:noFill/>
          <a:ln/>
        </p:spPr>
        <p:txBody>
          <a:bodyPr wrap="square" lIns="0" tIns="0" rIns="0" bIns="0" rtlCol="0" anchor="t"/>
          <a:lstStyle/>
          <a:p>
            <a:pPr indent="0" marL="0">
              <a:buNone/>
            </a:pPr>
            <a:r>
              <a:rPr lang="en-US" sz="1300" dirty="0">
                <a:solidFill>
                  <a:srgbClr val="C3CEDD"/>
                </a:solidFill>
                <a:latin typeface="Calibri" pitchFamily="34" charset="0"/>
                <a:ea typeface="Calibri" pitchFamily="34" charset="-122"/>
                <a:cs typeface="Calibri" pitchFamily="34" charset="-120"/>
              </a:rPr>
              <a:t>+41% berbanding September</a:t>
            </a:r>
            <a:endParaRPr lang="en-US" sz="1300" dirty="0"/>
          </a:p>
        </p:txBody>
      </p:sp>
      <p:sp>
        <p:nvSpPr>
          <p:cNvPr id="16" name="Shape 13"/>
          <p:cNvSpPr/>
          <p:nvPr/>
        </p:nvSpPr>
        <p:spPr>
          <a:xfrm>
            <a:off x="8897112" y="1600200"/>
            <a:ext cx="3017520" cy="2011680"/>
          </a:xfrm>
          <a:prstGeom prst="roundRect">
            <a:avLst>
              <a:gd name="adj" fmla="val 3636"/>
            </a:avLst>
          </a:prstGeom>
          <a:solidFill>
            <a:srgbClr val="17325A"/>
          </a:solidFill>
          <a:ln w="9525">
            <a:solidFill>
              <a:srgbClr val="23436F"/>
            </a:solidFill>
            <a:prstDash val="solid"/>
          </a:ln>
        </p:spPr>
      </p:sp>
      <p:sp>
        <p:nvSpPr>
          <p:cNvPr id="17" name="Shape 14"/>
          <p:cNvSpPr/>
          <p:nvPr/>
        </p:nvSpPr>
        <p:spPr>
          <a:xfrm>
            <a:off x="9171432" y="1874520"/>
            <a:ext cx="457200" cy="457200"/>
          </a:xfrm>
          <a:prstGeom prst="roundRect">
            <a:avLst>
              <a:gd name="adj" fmla="val 22000"/>
            </a:avLst>
          </a:prstGeom>
          <a:solidFill>
            <a:srgbClr val="C8742B"/>
          </a:solidFill>
          <a:ln w="12700">
            <a:solidFill>
              <a:srgbClr val="C8742B"/>
            </a:solidFill>
            <a:prstDash val="solid"/>
          </a:ln>
        </p:spPr>
      </p:sp>
      <p:pic>
        <p:nvPicPr>
          <p:cNvPr id="18" name="Image 1" descr="preencoded.png">    </p:cNvPr>
          <p:cNvPicPr>
            <a:picLocks noChangeAspect="1"/>
          </p:cNvPicPr>
          <p:nvPr/>
        </p:nvPicPr>
        <p:blipFill>
          <a:blip r:embed="rId2"/>
          <a:stretch>
            <a:fillRect/>
          </a:stretch>
        </p:blipFill>
        <p:spPr>
          <a:xfrm>
            <a:off x="9281160" y="1984248"/>
            <a:ext cx="237744" cy="237744"/>
          </a:xfrm>
          <a:prstGeom prst="rect">
            <a:avLst/>
          </a:prstGeom>
        </p:spPr>
      </p:pic>
      <p:sp>
        <p:nvSpPr>
          <p:cNvPr id="19" name="Text 15"/>
          <p:cNvSpPr txBox="1"/>
          <p:nvPr/>
        </p:nvSpPr>
        <p:spPr>
          <a:xfrm>
            <a:off x="9171432" y="2423160"/>
            <a:ext cx="246888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25</a:t>
            </a:r>
            <a:endParaRPr lang="en-US" sz="3200" dirty="0"/>
          </a:p>
        </p:txBody>
      </p:sp>
      <p:sp>
        <p:nvSpPr>
          <p:cNvPr id="20" name="Text 16"/>
          <p:cNvSpPr txBox="1"/>
          <p:nvPr/>
        </p:nvSpPr>
        <p:spPr>
          <a:xfrm>
            <a:off x="9171432" y="3063240"/>
            <a:ext cx="2468880" cy="457200"/>
          </a:xfrm>
          <a:prstGeom prst="rect">
            <a:avLst/>
          </a:prstGeom>
          <a:noFill/>
          <a:ln/>
        </p:spPr>
        <p:txBody>
          <a:bodyPr wrap="square" lIns="0" tIns="0" rIns="0" bIns="0" rtlCol="0" anchor="t"/>
          <a:lstStyle/>
          <a:p>
            <a:pPr indent="0" marL="0">
              <a:buNone/>
            </a:pPr>
            <a:r>
              <a:rPr lang="en-US" sz="1300" dirty="0">
                <a:solidFill>
                  <a:srgbClr val="C3CEDD"/>
                </a:solidFill>
                <a:latin typeface="Calibri" pitchFamily="34" charset="0"/>
                <a:ea typeface="Calibri" pitchFamily="34" charset="-122"/>
                <a:cs typeface="Calibri" pitchFamily="34" charset="-120"/>
              </a:rPr>
              <a:t>pemasangan seminggu untuk team</a:t>
            </a:r>
            <a:endParaRPr lang="en-US" sz="1300" dirty="0"/>
          </a:p>
        </p:txBody>
      </p:sp>
      <p:sp>
        <p:nvSpPr>
          <p:cNvPr id="21" name="Shape 17"/>
          <p:cNvSpPr/>
          <p:nvPr/>
        </p:nvSpPr>
        <p:spPr>
          <a:xfrm>
            <a:off x="5623560" y="3886200"/>
            <a:ext cx="3017520" cy="2011680"/>
          </a:xfrm>
          <a:prstGeom prst="roundRect">
            <a:avLst>
              <a:gd name="adj" fmla="val 3636"/>
            </a:avLst>
          </a:prstGeom>
          <a:solidFill>
            <a:srgbClr val="17325A"/>
          </a:solidFill>
          <a:ln w="9525">
            <a:solidFill>
              <a:srgbClr val="23436F"/>
            </a:solidFill>
            <a:prstDash val="solid"/>
          </a:ln>
        </p:spPr>
      </p:sp>
      <p:sp>
        <p:nvSpPr>
          <p:cNvPr id="22" name="Shape 18"/>
          <p:cNvSpPr/>
          <p:nvPr/>
        </p:nvSpPr>
        <p:spPr>
          <a:xfrm>
            <a:off x="5897880" y="4160520"/>
            <a:ext cx="457200" cy="457200"/>
          </a:xfrm>
          <a:prstGeom prst="roundRect">
            <a:avLst>
              <a:gd name="adj" fmla="val 22000"/>
            </a:avLst>
          </a:prstGeom>
          <a:solidFill>
            <a:srgbClr val="C8742B"/>
          </a:solidFill>
          <a:ln w="12700">
            <a:solidFill>
              <a:srgbClr val="C8742B"/>
            </a:solidFill>
            <a:prstDash val="solid"/>
          </a:ln>
        </p:spPr>
      </p:sp>
      <p:pic>
        <p:nvPicPr>
          <p:cNvPr id="23" name="Image 2" descr="preencoded.png">    </p:cNvPr>
          <p:cNvPicPr>
            <a:picLocks noChangeAspect="1"/>
          </p:cNvPicPr>
          <p:nvPr/>
        </p:nvPicPr>
        <p:blipFill>
          <a:blip r:embed="rId3"/>
          <a:stretch>
            <a:fillRect/>
          </a:stretch>
        </p:blipFill>
        <p:spPr>
          <a:xfrm>
            <a:off x="6007608" y="4270248"/>
            <a:ext cx="237744" cy="237744"/>
          </a:xfrm>
          <a:prstGeom prst="rect">
            <a:avLst/>
          </a:prstGeom>
        </p:spPr>
      </p:pic>
      <p:sp>
        <p:nvSpPr>
          <p:cNvPr id="24" name="Text 19"/>
          <p:cNvSpPr txBox="1"/>
          <p:nvPr/>
        </p:nvSpPr>
        <p:spPr>
          <a:xfrm>
            <a:off x="5897880" y="4709160"/>
            <a:ext cx="246888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≈17</a:t>
            </a:r>
            <a:endParaRPr lang="en-US" sz="3200" dirty="0"/>
          </a:p>
        </p:txBody>
      </p:sp>
      <p:sp>
        <p:nvSpPr>
          <p:cNvPr id="25" name="Text 20"/>
          <p:cNvSpPr txBox="1"/>
          <p:nvPr/>
        </p:nvSpPr>
        <p:spPr>
          <a:xfrm>
            <a:off x="5897880" y="5349240"/>
            <a:ext cx="2468880" cy="457200"/>
          </a:xfrm>
          <a:prstGeom prst="rect">
            <a:avLst/>
          </a:prstGeom>
          <a:noFill/>
          <a:ln/>
        </p:spPr>
        <p:txBody>
          <a:bodyPr wrap="square" lIns="0" tIns="0" rIns="0" bIns="0" rtlCol="0" anchor="t"/>
          <a:lstStyle/>
          <a:p>
            <a:pPr indent="0" marL="0">
              <a:buNone/>
            </a:pPr>
            <a:r>
              <a:rPr lang="en-US" sz="1300" dirty="0">
                <a:solidFill>
                  <a:srgbClr val="C3CEDD"/>
                </a:solidFill>
                <a:latin typeface="Calibri" pitchFamily="34" charset="0"/>
                <a:ea typeface="Calibri" pitchFamily="34" charset="-122"/>
                <a:cs typeface="Calibri" pitchFamily="34" charset="-120"/>
              </a:rPr>
              <a:t>pemasangan setiap staff untuk sebulan</a:t>
            </a:r>
            <a:endParaRPr lang="en-US" sz="1300" dirty="0"/>
          </a:p>
        </p:txBody>
      </p:sp>
      <p:sp>
        <p:nvSpPr>
          <p:cNvPr id="26" name="Shape 21"/>
          <p:cNvSpPr/>
          <p:nvPr/>
        </p:nvSpPr>
        <p:spPr>
          <a:xfrm>
            <a:off x="8897112" y="3886200"/>
            <a:ext cx="3017520" cy="2011680"/>
          </a:xfrm>
          <a:prstGeom prst="roundRect">
            <a:avLst>
              <a:gd name="adj" fmla="val 3636"/>
            </a:avLst>
          </a:prstGeom>
          <a:solidFill>
            <a:srgbClr val="17325A"/>
          </a:solidFill>
          <a:ln w="9525">
            <a:solidFill>
              <a:srgbClr val="23436F"/>
            </a:solidFill>
            <a:prstDash val="solid"/>
          </a:ln>
        </p:spPr>
      </p:sp>
      <p:sp>
        <p:nvSpPr>
          <p:cNvPr id="27" name="Shape 22"/>
          <p:cNvSpPr/>
          <p:nvPr/>
        </p:nvSpPr>
        <p:spPr>
          <a:xfrm>
            <a:off x="9171432" y="4160520"/>
            <a:ext cx="457200" cy="457200"/>
          </a:xfrm>
          <a:prstGeom prst="roundRect">
            <a:avLst>
              <a:gd name="adj" fmla="val 22000"/>
            </a:avLst>
          </a:prstGeom>
          <a:solidFill>
            <a:srgbClr val="C8742B"/>
          </a:solidFill>
          <a:ln w="12700">
            <a:solidFill>
              <a:srgbClr val="C8742B"/>
            </a:solidFill>
            <a:prstDash val="solid"/>
          </a:ln>
        </p:spPr>
      </p:sp>
      <p:pic>
        <p:nvPicPr>
          <p:cNvPr id="28" name="Image 3" descr="preencoded.png">    </p:cNvPr>
          <p:cNvPicPr>
            <a:picLocks noChangeAspect="1"/>
          </p:cNvPicPr>
          <p:nvPr/>
        </p:nvPicPr>
        <p:blipFill>
          <a:blip r:embed="rId4"/>
          <a:stretch>
            <a:fillRect/>
          </a:stretch>
        </p:blipFill>
        <p:spPr>
          <a:xfrm>
            <a:off x="9281160" y="4270248"/>
            <a:ext cx="237744" cy="237744"/>
          </a:xfrm>
          <a:prstGeom prst="rect">
            <a:avLst/>
          </a:prstGeom>
        </p:spPr>
      </p:pic>
      <p:sp>
        <p:nvSpPr>
          <p:cNvPr id="29" name="Text 23"/>
          <p:cNvSpPr txBox="1"/>
          <p:nvPr/>
        </p:nvSpPr>
        <p:spPr>
          <a:xfrm>
            <a:off x="9171432" y="4709160"/>
            <a:ext cx="246888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Apr–Jun</a:t>
            </a:r>
            <a:endParaRPr lang="en-US" sz="3200" dirty="0"/>
          </a:p>
        </p:txBody>
      </p:sp>
      <p:sp>
        <p:nvSpPr>
          <p:cNvPr id="30" name="Text 24"/>
          <p:cNvSpPr txBox="1"/>
          <p:nvPr/>
        </p:nvSpPr>
        <p:spPr>
          <a:xfrm>
            <a:off x="9171432" y="5349240"/>
            <a:ext cx="2468880" cy="457200"/>
          </a:xfrm>
          <a:prstGeom prst="rect">
            <a:avLst/>
          </a:prstGeom>
          <a:noFill/>
          <a:ln/>
        </p:spPr>
        <p:txBody>
          <a:bodyPr wrap="square" lIns="0" tIns="0" rIns="0" bIns="0" rtlCol="0" anchor="t"/>
          <a:lstStyle/>
          <a:p>
            <a:pPr indent="0" marL="0">
              <a:buNone/>
            </a:pPr>
            <a:r>
              <a:rPr lang="en-US" sz="1300" dirty="0">
                <a:solidFill>
                  <a:srgbClr val="C3CEDD"/>
                </a:solidFill>
                <a:latin typeface="Calibri" pitchFamily="34" charset="0"/>
                <a:ea typeface="Calibri" pitchFamily="34" charset="-122"/>
                <a:cs typeface="Calibri" pitchFamily="34" charset="-120"/>
              </a:rPr>
              <a:t>kita pernah capai 100 sebulan</a:t>
            </a:r>
            <a:endParaRPr lang="en-US" sz="1300" dirty="0"/>
          </a:p>
        </p:txBody>
      </p:sp>
      <p:sp>
        <p:nvSpPr>
          <p:cNvPr id="31" name="Shape 25"/>
          <p:cNvSpPr/>
          <p:nvPr/>
        </p:nvSpPr>
        <p:spPr>
          <a:xfrm>
            <a:off x="548640" y="6382512"/>
            <a:ext cx="420624" cy="219456"/>
          </a:xfrm>
          <a:prstGeom prst="roundRect">
            <a:avLst>
              <a:gd name="adj" fmla="val 16667"/>
            </a:avLst>
          </a:prstGeom>
          <a:solidFill>
            <a:srgbClr val="C8742B"/>
          </a:solidFill>
          <a:ln w="12700">
            <a:solidFill>
              <a:srgbClr val="C8742B"/>
            </a:solidFill>
            <a:prstDash val="solid"/>
          </a:ln>
        </p:spPr>
      </p:sp>
      <p:sp>
        <p:nvSpPr>
          <p:cNvPr id="32" name="Text 26"/>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33" name="Text 27"/>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C3CEDD"/>
                </a:solidFill>
                <a:latin typeface="Calibri" pitchFamily="34" charset="0"/>
                <a:ea typeface="Calibri" pitchFamily="34" charset="-122"/>
                <a:cs typeface="Calibri" pitchFamily="34" charset="-120"/>
              </a:rPr>
              <a:t>Strategi Jualan Unifi Q4 2026</a:t>
            </a:r>
            <a:endParaRPr lang="en-US" sz="900" dirty="0"/>
          </a:p>
        </p:txBody>
      </p:sp>
      <p:sp>
        <p:nvSpPr>
          <p:cNvPr id="34" name="Text 28"/>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21</a:t>
            </a:r>
            <a:pPr algn="r" indent="0" marL="0">
              <a:buNone/>
            </a:pPr>
            <a:r>
              <a:rPr lang="en-US" sz="900" dirty="0">
                <a:solidFill>
                  <a:srgbClr val="C3CEDD"/>
                </a:solidFill>
                <a:latin typeface="Calibri" pitchFamily="34" charset="0"/>
                <a:ea typeface="Calibri" pitchFamily="34" charset="-122"/>
                <a:cs typeface="Calibri" pitchFamily="34" charset="-120"/>
              </a:rPr>
              <a:t>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MISI OKTOBER</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Setiap minggu ada cabaran baru, dan setiap minggu ada pemenang</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22</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2602154" cy="45262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548640" y="1600200"/>
            <a:ext cx="2602154" cy="868680"/>
          </a:xfrm>
          <a:prstGeom prst="roundRect">
            <a:avLst>
              <a:gd name="adj" fmla="val 8421"/>
            </a:avLst>
          </a:prstGeom>
          <a:solidFill>
            <a:srgbClr val="0B1F3A"/>
          </a:solidFill>
          <a:ln w="12700">
            <a:solidFill>
              <a:srgbClr val="0B1F3A"/>
            </a:solidFill>
            <a:prstDash val="solid"/>
          </a:ln>
        </p:spPr>
      </p:sp>
      <p:sp>
        <p:nvSpPr>
          <p:cNvPr id="10" name="Shape 8"/>
          <p:cNvSpPr/>
          <p:nvPr/>
        </p:nvSpPr>
        <p:spPr>
          <a:xfrm>
            <a:off x="548640" y="2148840"/>
            <a:ext cx="2602154" cy="320040"/>
          </a:xfrm>
          <a:prstGeom prst="rect">
            <a:avLst/>
          </a:prstGeom>
          <a:solidFill>
            <a:srgbClr val="0B1F3A"/>
          </a:solidFill>
          <a:ln w="12700">
            <a:solidFill>
              <a:srgbClr val="0B1F3A"/>
            </a:solidFill>
            <a:prstDash val="solid"/>
          </a:ln>
        </p:spPr>
      </p:sp>
      <p:sp>
        <p:nvSpPr>
          <p:cNvPr id="11" name="Text 9"/>
          <p:cNvSpPr txBox="1"/>
          <p:nvPr/>
        </p:nvSpPr>
        <p:spPr>
          <a:xfrm>
            <a:off x="822960" y="1755648"/>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1</a:t>
            </a:r>
            <a:endParaRPr lang="en-US" sz="1100" dirty="0"/>
          </a:p>
        </p:txBody>
      </p:sp>
      <p:sp>
        <p:nvSpPr>
          <p:cNvPr id="12" name="Text 10"/>
          <p:cNvSpPr txBox="1"/>
          <p:nvPr/>
        </p:nvSpPr>
        <p:spPr>
          <a:xfrm>
            <a:off x="822960" y="2029968"/>
            <a:ext cx="18288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1–7 Okt</a:t>
            </a:r>
            <a:endParaRPr lang="en-US" sz="1400" dirty="0"/>
          </a:p>
        </p:txBody>
      </p:sp>
      <p:sp>
        <p:nvSpPr>
          <p:cNvPr id="13" name="Shape 11"/>
          <p:cNvSpPr/>
          <p:nvPr/>
        </p:nvSpPr>
        <p:spPr>
          <a:xfrm>
            <a:off x="2373554" y="1783080"/>
            <a:ext cx="502920" cy="502920"/>
          </a:xfrm>
          <a:prstGeom prst="roundRect">
            <a:avLst>
              <a:gd name="adj" fmla="val 22000"/>
            </a:avLst>
          </a:prstGeom>
          <a:solidFill>
            <a:srgbClr val="C8742B"/>
          </a:solidFill>
          <a:ln w="12700">
            <a:solidFill>
              <a:srgbClr val="C8742B"/>
            </a:solidFill>
            <a:prstDash val="solid"/>
          </a:ln>
        </p:spPr>
      </p:sp>
      <p:pic>
        <p:nvPicPr>
          <p:cNvPr id="14" name="Image 0" descr="preencoded.png">    </p:cNvPr>
          <p:cNvPicPr>
            <a:picLocks noChangeAspect="1"/>
          </p:cNvPicPr>
          <p:nvPr/>
        </p:nvPicPr>
        <p:blipFill>
          <a:blip r:embed="rId1"/>
          <a:stretch>
            <a:fillRect/>
          </a:stretch>
        </p:blipFill>
        <p:spPr>
          <a:xfrm>
            <a:off x="2494255" y="1903781"/>
            <a:ext cx="261518" cy="261518"/>
          </a:xfrm>
          <a:prstGeom prst="rect">
            <a:avLst/>
          </a:prstGeom>
        </p:spPr>
      </p:pic>
      <p:sp>
        <p:nvSpPr>
          <p:cNvPr id="15" name="Text 12"/>
          <p:cNvSpPr txBox="1"/>
          <p:nvPr/>
        </p:nvSpPr>
        <p:spPr>
          <a:xfrm>
            <a:off x="822960" y="2743200"/>
            <a:ext cx="2053514" cy="50292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Raja Referral</a:t>
            </a:r>
            <a:endParaRPr lang="en-US" sz="2200" dirty="0"/>
          </a:p>
        </p:txBody>
      </p:sp>
      <p:sp>
        <p:nvSpPr>
          <p:cNvPr id="16" name="Text 13"/>
          <p:cNvSpPr txBox="1"/>
          <p:nvPr/>
        </p:nvSpPr>
        <p:spPr>
          <a:xfrm>
            <a:off x="822960" y="3337560"/>
            <a:ext cx="2053514" cy="128016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Paling banyak lead dari referral customer</a:t>
            </a:r>
            <a:endParaRPr lang="en-US" sz="1500" dirty="0"/>
          </a:p>
        </p:txBody>
      </p:sp>
      <p:sp>
        <p:nvSpPr>
          <p:cNvPr id="17" name="Shape 14"/>
          <p:cNvSpPr/>
          <p:nvPr/>
        </p:nvSpPr>
        <p:spPr>
          <a:xfrm>
            <a:off x="777240" y="5029200"/>
            <a:ext cx="2144954" cy="868680"/>
          </a:xfrm>
          <a:prstGeom prst="roundRect">
            <a:avLst>
              <a:gd name="adj" fmla="val 6316"/>
            </a:avLst>
          </a:prstGeom>
          <a:solidFill>
            <a:srgbClr val="F7EADC"/>
          </a:solidFill>
          <a:ln w="12700">
            <a:solidFill>
              <a:srgbClr val="F7EADC"/>
            </a:solidFill>
            <a:prstDash val="solid"/>
          </a:ln>
        </p:spPr>
      </p:sp>
      <p:sp>
        <p:nvSpPr>
          <p:cNvPr id="18" name="Text 15"/>
          <p:cNvSpPr txBox="1"/>
          <p:nvPr/>
        </p:nvSpPr>
        <p:spPr>
          <a:xfrm>
            <a:off x="960120" y="5138928"/>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GANJARAN</a:t>
            </a:r>
            <a:endParaRPr lang="en-US" sz="950" dirty="0"/>
          </a:p>
        </p:txBody>
      </p:sp>
      <p:sp>
        <p:nvSpPr>
          <p:cNvPr id="19" name="Text 16"/>
          <p:cNvSpPr txBox="1"/>
          <p:nvPr/>
        </p:nvSpPr>
        <p:spPr>
          <a:xfrm>
            <a:off x="960120" y="5394960"/>
            <a:ext cx="1779194"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[ditentukan pengurus]</a:t>
            </a:r>
            <a:endParaRPr lang="en-US" sz="1400" dirty="0"/>
          </a:p>
        </p:txBody>
      </p:sp>
      <p:sp>
        <p:nvSpPr>
          <p:cNvPr id="20" name="Shape 17"/>
          <p:cNvSpPr/>
          <p:nvPr/>
        </p:nvSpPr>
        <p:spPr>
          <a:xfrm>
            <a:off x="3379394" y="1600200"/>
            <a:ext cx="2602154" cy="45262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1" name="Shape 18"/>
          <p:cNvSpPr/>
          <p:nvPr/>
        </p:nvSpPr>
        <p:spPr>
          <a:xfrm>
            <a:off x="3379394" y="1600200"/>
            <a:ext cx="2602154" cy="868680"/>
          </a:xfrm>
          <a:prstGeom prst="roundRect">
            <a:avLst>
              <a:gd name="adj" fmla="val 8421"/>
            </a:avLst>
          </a:prstGeom>
          <a:solidFill>
            <a:srgbClr val="0B1F3A"/>
          </a:solidFill>
          <a:ln w="12700">
            <a:solidFill>
              <a:srgbClr val="0B1F3A"/>
            </a:solidFill>
            <a:prstDash val="solid"/>
          </a:ln>
        </p:spPr>
      </p:sp>
      <p:sp>
        <p:nvSpPr>
          <p:cNvPr id="22" name="Shape 19"/>
          <p:cNvSpPr/>
          <p:nvPr/>
        </p:nvSpPr>
        <p:spPr>
          <a:xfrm>
            <a:off x="3379394" y="2148840"/>
            <a:ext cx="2602154" cy="320040"/>
          </a:xfrm>
          <a:prstGeom prst="rect">
            <a:avLst/>
          </a:prstGeom>
          <a:solidFill>
            <a:srgbClr val="0B1F3A"/>
          </a:solidFill>
          <a:ln w="12700">
            <a:solidFill>
              <a:srgbClr val="0B1F3A"/>
            </a:solidFill>
            <a:prstDash val="solid"/>
          </a:ln>
        </p:spPr>
      </p:sp>
      <p:sp>
        <p:nvSpPr>
          <p:cNvPr id="23" name="Text 20"/>
          <p:cNvSpPr txBox="1"/>
          <p:nvPr/>
        </p:nvSpPr>
        <p:spPr>
          <a:xfrm>
            <a:off x="3653714" y="1755648"/>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2</a:t>
            </a:r>
            <a:endParaRPr lang="en-US" sz="1100" dirty="0"/>
          </a:p>
        </p:txBody>
      </p:sp>
      <p:sp>
        <p:nvSpPr>
          <p:cNvPr id="24" name="Text 21"/>
          <p:cNvSpPr txBox="1"/>
          <p:nvPr/>
        </p:nvSpPr>
        <p:spPr>
          <a:xfrm>
            <a:off x="3653714" y="2029968"/>
            <a:ext cx="18288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8–14 Okt</a:t>
            </a:r>
            <a:endParaRPr lang="en-US" sz="1400" dirty="0"/>
          </a:p>
        </p:txBody>
      </p:sp>
      <p:sp>
        <p:nvSpPr>
          <p:cNvPr id="25" name="Shape 22"/>
          <p:cNvSpPr/>
          <p:nvPr/>
        </p:nvSpPr>
        <p:spPr>
          <a:xfrm>
            <a:off x="5204308" y="1783080"/>
            <a:ext cx="502920" cy="502920"/>
          </a:xfrm>
          <a:prstGeom prst="roundRect">
            <a:avLst>
              <a:gd name="adj" fmla="val 22000"/>
            </a:avLst>
          </a:prstGeom>
          <a:solidFill>
            <a:srgbClr val="C8742B"/>
          </a:solidFill>
          <a:ln w="12700">
            <a:solidFill>
              <a:srgbClr val="C8742B"/>
            </a:solidFill>
            <a:prstDash val="solid"/>
          </a:ln>
        </p:spPr>
      </p:sp>
      <p:pic>
        <p:nvPicPr>
          <p:cNvPr id="26" name="Image 1" descr="preencoded.png">    </p:cNvPr>
          <p:cNvPicPr>
            <a:picLocks noChangeAspect="1"/>
          </p:cNvPicPr>
          <p:nvPr/>
        </p:nvPicPr>
        <p:blipFill>
          <a:blip r:embed="rId2"/>
          <a:stretch>
            <a:fillRect/>
          </a:stretch>
        </p:blipFill>
        <p:spPr>
          <a:xfrm>
            <a:off x="5325008" y="1903781"/>
            <a:ext cx="261518" cy="261518"/>
          </a:xfrm>
          <a:prstGeom prst="rect">
            <a:avLst/>
          </a:prstGeom>
        </p:spPr>
      </p:pic>
      <p:sp>
        <p:nvSpPr>
          <p:cNvPr id="27" name="Text 23"/>
          <p:cNvSpPr txBox="1"/>
          <p:nvPr/>
        </p:nvSpPr>
        <p:spPr>
          <a:xfrm>
            <a:off x="3653714" y="2743200"/>
            <a:ext cx="2053514" cy="50292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Raja Upsell</a:t>
            </a:r>
            <a:endParaRPr lang="en-US" sz="2200" dirty="0"/>
          </a:p>
        </p:txBody>
      </p:sp>
      <p:sp>
        <p:nvSpPr>
          <p:cNvPr id="28" name="Text 24"/>
          <p:cNvSpPr txBox="1"/>
          <p:nvPr/>
        </p:nvSpPr>
        <p:spPr>
          <a:xfrm>
            <a:off x="3653714" y="3337560"/>
            <a:ext cx="2053514" cy="128016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Paling banyak pendaftaran 300 atau 500Mbps</a:t>
            </a:r>
            <a:endParaRPr lang="en-US" sz="1500" dirty="0"/>
          </a:p>
        </p:txBody>
      </p:sp>
      <p:sp>
        <p:nvSpPr>
          <p:cNvPr id="29" name="Shape 25"/>
          <p:cNvSpPr/>
          <p:nvPr/>
        </p:nvSpPr>
        <p:spPr>
          <a:xfrm>
            <a:off x="3607994" y="5029200"/>
            <a:ext cx="2144954" cy="868680"/>
          </a:xfrm>
          <a:prstGeom prst="roundRect">
            <a:avLst>
              <a:gd name="adj" fmla="val 6316"/>
            </a:avLst>
          </a:prstGeom>
          <a:solidFill>
            <a:srgbClr val="F7EADC"/>
          </a:solidFill>
          <a:ln w="12700">
            <a:solidFill>
              <a:srgbClr val="F7EADC"/>
            </a:solidFill>
            <a:prstDash val="solid"/>
          </a:ln>
        </p:spPr>
      </p:sp>
      <p:sp>
        <p:nvSpPr>
          <p:cNvPr id="30" name="Text 26"/>
          <p:cNvSpPr txBox="1"/>
          <p:nvPr/>
        </p:nvSpPr>
        <p:spPr>
          <a:xfrm>
            <a:off x="3790874" y="5138928"/>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GANJARAN</a:t>
            </a:r>
            <a:endParaRPr lang="en-US" sz="950" dirty="0"/>
          </a:p>
        </p:txBody>
      </p:sp>
      <p:sp>
        <p:nvSpPr>
          <p:cNvPr id="31" name="Text 27"/>
          <p:cNvSpPr txBox="1"/>
          <p:nvPr/>
        </p:nvSpPr>
        <p:spPr>
          <a:xfrm>
            <a:off x="3790874" y="5394960"/>
            <a:ext cx="1779194"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[ditentukan pengurus]</a:t>
            </a:r>
            <a:endParaRPr lang="en-US" sz="1400" dirty="0"/>
          </a:p>
        </p:txBody>
      </p:sp>
      <p:sp>
        <p:nvSpPr>
          <p:cNvPr id="32" name="Shape 28"/>
          <p:cNvSpPr/>
          <p:nvPr/>
        </p:nvSpPr>
        <p:spPr>
          <a:xfrm>
            <a:off x="6210148" y="1600200"/>
            <a:ext cx="2602154" cy="45262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3" name="Shape 29"/>
          <p:cNvSpPr/>
          <p:nvPr/>
        </p:nvSpPr>
        <p:spPr>
          <a:xfrm>
            <a:off x="6210148" y="1600200"/>
            <a:ext cx="2602154" cy="868680"/>
          </a:xfrm>
          <a:prstGeom prst="roundRect">
            <a:avLst>
              <a:gd name="adj" fmla="val 8421"/>
            </a:avLst>
          </a:prstGeom>
          <a:solidFill>
            <a:srgbClr val="0B1F3A"/>
          </a:solidFill>
          <a:ln w="12700">
            <a:solidFill>
              <a:srgbClr val="0B1F3A"/>
            </a:solidFill>
            <a:prstDash val="solid"/>
          </a:ln>
        </p:spPr>
      </p:sp>
      <p:sp>
        <p:nvSpPr>
          <p:cNvPr id="34" name="Shape 30"/>
          <p:cNvSpPr/>
          <p:nvPr/>
        </p:nvSpPr>
        <p:spPr>
          <a:xfrm>
            <a:off x="6210148" y="2148840"/>
            <a:ext cx="2602154" cy="320040"/>
          </a:xfrm>
          <a:prstGeom prst="rect">
            <a:avLst/>
          </a:prstGeom>
          <a:solidFill>
            <a:srgbClr val="0B1F3A"/>
          </a:solidFill>
          <a:ln w="12700">
            <a:solidFill>
              <a:srgbClr val="0B1F3A"/>
            </a:solidFill>
            <a:prstDash val="solid"/>
          </a:ln>
        </p:spPr>
      </p:sp>
      <p:sp>
        <p:nvSpPr>
          <p:cNvPr id="35" name="Text 31"/>
          <p:cNvSpPr txBox="1"/>
          <p:nvPr/>
        </p:nvSpPr>
        <p:spPr>
          <a:xfrm>
            <a:off x="6484468" y="1755648"/>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3</a:t>
            </a:r>
            <a:endParaRPr lang="en-US" sz="1100" dirty="0"/>
          </a:p>
        </p:txBody>
      </p:sp>
      <p:sp>
        <p:nvSpPr>
          <p:cNvPr id="36" name="Text 32"/>
          <p:cNvSpPr txBox="1"/>
          <p:nvPr/>
        </p:nvSpPr>
        <p:spPr>
          <a:xfrm>
            <a:off x="6484468" y="2029968"/>
            <a:ext cx="18288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15–21 Okt</a:t>
            </a:r>
            <a:endParaRPr lang="en-US" sz="1400" dirty="0"/>
          </a:p>
        </p:txBody>
      </p:sp>
      <p:sp>
        <p:nvSpPr>
          <p:cNvPr id="37" name="Shape 33"/>
          <p:cNvSpPr/>
          <p:nvPr/>
        </p:nvSpPr>
        <p:spPr>
          <a:xfrm>
            <a:off x="8035061" y="1783080"/>
            <a:ext cx="502920" cy="502920"/>
          </a:xfrm>
          <a:prstGeom prst="roundRect">
            <a:avLst>
              <a:gd name="adj" fmla="val 22000"/>
            </a:avLst>
          </a:prstGeom>
          <a:solidFill>
            <a:srgbClr val="C8742B"/>
          </a:solidFill>
          <a:ln w="12700">
            <a:solidFill>
              <a:srgbClr val="C8742B"/>
            </a:solidFill>
            <a:prstDash val="solid"/>
          </a:ln>
        </p:spPr>
      </p:sp>
      <p:pic>
        <p:nvPicPr>
          <p:cNvPr id="38" name="Image 2" descr="preencoded.png">    </p:cNvPr>
          <p:cNvPicPr>
            <a:picLocks noChangeAspect="1"/>
          </p:cNvPicPr>
          <p:nvPr/>
        </p:nvPicPr>
        <p:blipFill>
          <a:blip r:embed="rId3"/>
          <a:stretch>
            <a:fillRect/>
          </a:stretch>
        </p:blipFill>
        <p:spPr>
          <a:xfrm>
            <a:off x="8155762" y="1903781"/>
            <a:ext cx="261518" cy="261518"/>
          </a:xfrm>
          <a:prstGeom prst="rect">
            <a:avLst/>
          </a:prstGeom>
        </p:spPr>
      </p:pic>
      <p:sp>
        <p:nvSpPr>
          <p:cNvPr id="39" name="Text 34"/>
          <p:cNvSpPr txBox="1"/>
          <p:nvPr/>
        </p:nvSpPr>
        <p:spPr>
          <a:xfrm>
            <a:off x="6484468" y="2743200"/>
            <a:ext cx="2053514" cy="50292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Raja Comeback</a:t>
            </a:r>
            <a:endParaRPr lang="en-US" sz="2200" dirty="0"/>
          </a:p>
        </p:txBody>
      </p:sp>
      <p:sp>
        <p:nvSpPr>
          <p:cNvPr id="40" name="Text 35"/>
          <p:cNvSpPr txBox="1"/>
          <p:nvPr/>
        </p:nvSpPr>
        <p:spPr>
          <a:xfrm>
            <a:off x="6484468" y="3337560"/>
            <a:ext cx="2053514" cy="128016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Paling banyak closing dari lead lama yang senyap</a:t>
            </a:r>
            <a:endParaRPr lang="en-US" sz="1500" dirty="0"/>
          </a:p>
        </p:txBody>
      </p:sp>
      <p:sp>
        <p:nvSpPr>
          <p:cNvPr id="41" name="Shape 36"/>
          <p:cNvSpPr/>
          <p:nvPr/>
        </p:nvSpPr>
        <p:spPr>
          <a:xfrm>
            <a:off x="6438748" y="5029200"/>
            <a:ext cx="2144954" cy="868680"/>
          </a:xfrm>
          <a:prstGeom prst="roundRect">
            <a:avLst>
              <a:gd name="adj" fmla="val 6316"/>
            </a:avLst>
          </a:prstGeom>
          <a:solidFill>
            <a:srgbClr val="F7EADC"/>
          </a:solidFill>
          <a:ln w="12700">
            <a:solidFill>
              <a:srgbClr val="F7EADC"/>
            </a:solidFill>
            <a:prstDash val="solid"/>
          </a:ln>
        </p:spPr>
      </p:sp>
      <p:sp>
        <p:nvSpPr>
          <p:cNvPr id="42" name="Text 37"/>
          <p:cNvSpPr txBox="1"/>
          <p:nvPr/>
        </p:nvSpPr>
        <p:spPr>
          <a:xfrm>
            <a:off x="6621628" y="5138928"/>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GANJARAN</a:t>
            </a:r>
            <a:endParaRPr lang="en-US" sz="950" dirty="0"/>
          </a:p>
        </p:txBody>
      </p:sp>
      <p:sp>
        <p:nvSpPr>
          <p:cNvPr id="43" name="Text 38"/>
          <p:cNvSpPr txBox="1"/>
          <p:nvPr/>
        </p:nvSpPr>
        <p:spPr>
          <a:xfrm>
            <a:off x="6621628" y="5394960"/>
            <a:ext cx="1779194"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[ditentukan pengurus]</a:t>
            </a:r>
            <a:endParaRPr lang="en-US" sz="1400" dirty="0"/>
          </a:p>
        </p:txBody>
      </p:sp>
      <p:sp>
        <p:nvSpPr>
          <p:cNvPr id="44" name="Shape 39"/>
          <p:cNvSpPr/>
          <p:nvPr/>
        </p:nvSpPr>
        <p:spPr>
          <a:xfrm>
            <a:off x="9040901" y="1600200"/>
            <a:ext cx="2602154" cy="4526280"/>
          </a:xfrm>
          <a:prstGeom prst="roundRect">
            <a:avLst>
              <a:gd name="adj" fmla="val 2811"/>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45" name="Shape 40"/>
          <p:cNvSpPr/>
          <p:nvPr/>
        </p:nvSpPr>
        <p:spPr>
          <a:xfrm>
            <a:off x="9040901" y="1600200"/>
            <a:ext cx="2602154" cy="868680"/>
          </a:xfrm>
          <a:prstGeom prst="roundRect">
            <a:avLst>
              <a:gd name="adj" fmla="val 8421"/>
            </a:avLst>
          </a:prstGeom>
          <a:solidFill>
            <a:srgbClr val="0B1F3A"/>
          </a:solidFill>
          <a:ln w="12700">
            <a:solidFill>
              <a:srgbClr val="0B1F3A"/>
            </a:solidFill>
            <a:prstDash val="solid"/>
          </a:ln>
        </p:spPr>
      </p:sp>
      <p:sp>
        <p:nvSpPr>
          <p:cNvPr id="46" name="Shape 41"/>
          <p:cNvSpPr/>
          <p:nvPr/>
        </p:nvSpPr>
        <p:spPr>
          <a:xfrm>
            <a:off x="9040901" y="2148840"/>
            <a:ext cx="2602154" cy="320040"/>
          </a:xfrm>
          <a:prstGeom prst="rect">
            <a:avLst/>
          </a:prstGeom>
          <a:solidFill>
            <a:srgbClr val="0B1F3A"/>
          </a:solidFill>
          <a:ln w="12700">
            <a:solidFill>
              <a:srgbClr val="0B1F3A"/>
            </a:solidFill>
            <a:prstDash val="solid"/>
          </a:ln>
        </p:spPr>
      </p:sp>
      <p:sp>
        <p:nvSpPr>
          <p:cNvPr id="47" name="Text 42"/>
          <p:cNvSpPr txBox="1"/>
          <p:nvPr/>
        </p:nvSpPr>
        <p:spPr>
          <a:xfrm>
            <a:off x="9315221" y="1755648"/>
            <a:ext cx="18288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MINGGU 4</a:t>
            </a:r>
            <a:endParaRPr lang="en-US" sz="1100" dirty="0"/>
          </a:p>
        </p:txBody>
      </p:sp>
      <p:sp>
        <p:nvSpPr>
          <p:cNvPr id="48" name="Text 43"/>
          <p:cNvSpPr txBox="1"/>
          <p:nvPr/>
        </p:nvSpPr>
        <p:spPr>
          <a:xfrm>
            <a:off x="9315221" y="2029968"/>
            <a:ext cx="18288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22–31 Okt</a:t>
            </a:r>
            <a:endParaRPr lang="en-US" sz="1400" dirty="0"/>
          </a:p>
        </p:txBody>
      </p:sp>
      <p:sp>
        <p:nvSpPr>
          <p:cNvPr id="49" name="Shape 44"/>
          <p:cNvSpPr/>
          <p:nvPr/>
        </p:nvSpPr>
        <p:spPr>
          <a:xfrm>
            <a:off x="10865815" y="1783080"/>
            <a:ext cx="502920" cy="502920"/>
          </a:xfrm>
          <a:prstGeom prst="roundRect">
            <a:avLst>
              <a:gd name="adj" fmla="val 22000"/>
            </a:avLst>
          </a:prstGeom>
          <a:solidFill>
            <a:srgbClr val="C8742B"/>
          </a:solidFill>
          <a:ln w="12700">
            <a:solidFill>
              <a:srgbClr val="C8742B"/>
            </a:solidFill>
            <a:prstDash val="solid"/>
          </a:ln>
        </p:spPr>
      </p:sp>
      <p:pic>
        <p:nvPicPr>
          <p:cNvPr id="50" name="Image 3" descr="preencoded.png">    </p:cNvPr>
          <p:cNvPicPr>
            <a:picLocks noChangeAspect="1"/>
          </p:cNvPicPr>
          <p:nvPr/>
        </p:nvPicPr>
        <p:blipFill>
          <a:blip r:embed="rId4"/>
          <a:stretch>
            <a:fillRect/>
          </a:stretch>
        </p:blipFill>
        <p:spPr>
          <a:xfrm>
            <a:off x="10986516" y="1903781"/>
            <a:ext cx="261518" cy="261518"/>
          </a:xfrm>
          <a:prstGeom prst="rect">
            <a:avLst/>
          </a:prstGeom>
        </p:spPr>
      </p:pic>
      <p:sp>
        <p:nvSpPr>
          <p:cNvPr id="51" name="Text 45"/>
          <p:cNvSpPr txBox="1"/>
          <p:nvPr/>
        </p:nvSpPr>
        <p:spPr>
          <a:xfrm>
            <a:off x="9315221" y="2743200"/>
            <a:ext cx="2053514" cy="50292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Raja Closing</a:t>
            </a:r>
            <a:endParaRPr lang="en-US" sz="2200" dirty="0"/>
          </a:p>
        </p:txBody>
      </p:sp>
      <p:sp>
        <p:nvSpPr>
          <p:cNvPr id="52" name="Text 46"/>
          <p:cNvSpPr txBox="1"/>
          <p:nvPr/>
        </p:nvSpPr>
        <p:spPr>
          <a:xfrm>
            <a:off x="9315221" y="3337560"/>
            <a:ext cx="2053514" cy="128016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Paling banyak pemasangan siap minggu ini</a:t>
            </a:r>
            <a:endParaRPr lang="en-US" sz="1500" dirty="0"/>
          </a:p>
        </p:txBody>
      </p:sp>
      <p:sp>
        <p:nvSpPr>
          <p:cNvPr id="53" name="Shape 47"/>
          <p:cNvSpPr/>
          <p:nvPr/>
        </p:nvSpPr>
        <p:spPr>
          <a:xfrm>
            <a:off x="9269501" y="5029200"/>
            <a:ext cx="2144954" cy="868680"/>
          </a:xfrm>
          <a:prstGeom prst="roundRect">
            <a:avLst>
              <a:gd name="adj" fmla="val 6316"/>
            </a:avLst>
          </a:prstGeom>
          <a:solidFill>
            <a:srgbClr val="F7EADC"/>
          </a:solidFill>
          <a:ln w="12700">
            <a:solidFill>
              <a:srgbClr val="F7EADC"/>
            </a:solidFill>
            <a:prstDash val="solid"/>
          </a:ln>
        </p:spPr>
      </p:sp>
      <p:sp>
        <p:nvSpPr>
          <p:cNvPr id="54" name="Text 48"/>
          <p:cNvSpPr txBox="1"/>
          <p:nvPr/>
        </p:nvSpPr>
        <p:spPr>
          <a:xfrm>
            <a:off x="9452381" y="5138928"/>
            <a:ext cx="1828800" cy="228600"/>
          </a:xfrm>
          <a:prstGeom prst="rect">
            <a:avLst/>
          </a:prstGeom>
          <a:noFill/>
          <a:ln/>
        </p:spPr>
        <p:txBody>
          <a:bodyPr wrap="square" lIns="0" tIns="0" rIns="0" bIns="0" rtlCol="0" anchor="t"/>
          <a:lstStyle/>
          <a:p>
            <a:pPr indent="0" marL="0">
              <a:buNone/>
            </a:pPr>
            <a:r>
              <a:rPr lang="en-US" sz="950" b="1" spc="200" kern="0" dirty="0">
                <a:solidFill>
                  <a:srgbClr val="C8742B"/>
                </a:solidFill>
                <a:latin typeface="Calibri" pitchFamily="34" charset="0"/>
                <a:ea typeface="Calibri" pitchFamily="34" charset="-122"/>
                <a:cs typeface="Calibri" pitchFamily="34" charset="-120"/>
              </a:rPr>
              <a:t>GANJARAN</a:t>
            </a:r>
            <a:endParaRPr lang="en-US" sz="950" dirty="0"/>
          </a:p>
        </p:txBody>
      </p:sp>
      <p:sp>
        <p:nvSpPr>
          <p:cNvPr id="55" name="Text 49"/>
          <p:cNvSpPr txBox="1"/>
          <p:nvPr/>
        </p:nvSpPr>
        <p:spPr>
          <a:xfrm>
            <a:off x="9452381" y="5394960"/>
            <a:ext cx="1779194"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[ditentukan pengurus]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MISI OKTOBER</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Empat rutin untuk kekalkan momentum sepanjang Oktober</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23</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914400" y="2011680"/>
            <a:ext cx="914400" cy="914400"/>
          </a:xfrm>
          <a:prstGeom prst="roundRect">
            <a:avLst>
              <a:gd name="adj" fmla="val 22000"/>
            </a:avLst>
          </a:prstGeom>
          <a:solidFill>
            <a:srgbClr val="0B1F3A"/>
          </a:solidFill>
          <a:ln w="12700">
            <a:solidFill>
              <a:srgbClr val="0B1F3A"/>
            </a:solidFill>
            <a:prstDash val="solid"/>
          </a:ln>
        </p:spPr>
      </p:sp>
      <p:pic>
        <p:nvPicPr>
          <p:cNvPr id="10" name="Image 0" descr="preencoded.png">    </p:cNvPr>
          <p:cNvPicPr>
            <a:picLocks noChangeAspect="1"/>
          </p:cNvPicPr>
          <p:nvPr/>
        </p:nvPicPr>
        <p:blipFill>
          <a:blip r:embed="rId1"/>
          <a:stretch>
            <a:fillRect/>
          </a:stretch>
        </p:blipFill>
        <p:spPr>
          <a:xfrm>
            <a:off x="1133856" y="2231136"/>
            <a:ext cx="475488" cy="475488"/>
          </a:xfrm>
          <a:prstGeom prst="rect">
            <a:avLst/>
          </a:prstGeom>
        </p:spPr>
      </p:pic>
      <p:sp>
        <p:nvSpPr>
          <p:cNvPr id="11" name="Shape 8"/>
          <p:cNvSpPr/>
          <p:nvPr/>
        </p:nvSpPr>
        <p:spPr>
          <a:xfrm>
            <a:off x="2148840" y="1984248"/>
            <a:ext cx="2377440" cy="329184"/>
          </a:xfrm>
          <a:prstGeom prst="roundRect">
            <a:avLst>
              <a:gd name="adj" fmla="val 50000"/>
            </a:avLst>
          </a:prstGeom>
          <a:solidFill>
            <a:srgbClr val="F7EADC"/>
          </a:solidFill>
          <a:ln w="12700">
            <a:solidFill>
              <a:srgbClr val="F7EADC"/>
            </a:solidFill>
            <a:prstDash val="solid"/>
          </a:ln>
        </p:spPr>
      </p:sp>
      <p:sp>
        <p:nvSpPr>
          <p:cNvPr id="12" name="Text 9"/>
          <p:cNvSpPr txBox="1"/>
          <p:nvPr/>
        </p:nvSpPr>
        <p:spPr>
          <a:xfrm>
            <a:off x="2148840" y="1984248"/>
            <a:ext cx="2377440" cy="329184"/>
          </a:xfrm>
          <a:prstGeom prst="rect">
            <a:avLst/>
          </a:prstGeom>
          <a:noFill/>
          <a:ln/>
        </p:spPr>
        <p:txBody>
          <a:bodyPr wrap="square" lIns="0" tIns="0" rIns="0" bIns="0" rtlCol="0" anchor="ctr"/>
          <a:lstStyle/>
          <a:p>
            <a:pPr algn="ctr" indent="0" marL="0">
              <a:buNone/>
            </a:pPr>
            <a:r>
              <a:rPr lang="en-US" sz="1000" b="1" spc="150" kern="0" dirty="0">
                <a:solidFill>
                  <a:srgbClr val="C8742B"/>
                </a:solidFill>
                <a:latin typeface="Calibri" pitchFamily="34" charset="0"/>
                <a:ea typeface="Calibri" pitchFamily="34" charset="-122"/>
                <a:cs typeface="Calibri" pitchFamily="34" charset="-120"/>
              </a:rPr>
              <a:t>SETIAP PAGI · 10 MINIT</a:t>
            </a:r>
            <a:endParaRPr lang="en-US" sz="1000" dirty="0"/>
          </a:p>
        </p:txBody>
      </p:sp>
      <p:sp>
        <p:nvSpPr>
          <p:cNvPr id="13" name="Text 10"/>
          <p:cNvSpPr txBox="1"/>
          <p:nvPr/>
        </p:nvSpPr>
        <p:spPr>
          <a:xfrm>
            <a:off x="2148840" y="2423160"/>
            <a:ext cx="3489808" cy="45720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Huddle pagi</a:t>
            </a:r>
            <a:endParaRPr lang="en-US" sz="2200" dirty="0"/>
          </a:p>
        </p:txBody>
      </p:sp>
      <p:sp>
        <p:nvSpPr>
          <p:cNvPr id="14" name="Text 11"/>
          <p:cNvSpPr txBox="1"/>
          <p:nvPr/>
        </p:nvSpPr>
        <p:spPr>
          <a:xfrm>
            <a:off x="2148840" y="2926080"/>
            <a:ext cx="3489808" cy="64008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Kongsi sasaran hari ini dan satu tip closing.</a:t>
            </a:r>
            <a:endParaRPr lang="en-US" sz="1500" dirty="0"/>
          </a:p>
        </p:txBody>
      </p:sp>
      <p:sp>
        <p:nvSpPr>
          <p:cNvPr id="15" name="Shape 12"/>
          <p:cNvSpPr/>
          <p:nvPr/>
        </p:nvSpPr>
        <p:spPr>
          <a:xfrm>
            <a:off x="6233008" y="160020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6" name="Shape 13"/>
          <p:cNvSpPr/>
          <p:nvPr/>
        </p:nvSpPr>
        <p:spPr>
          <a:xfrm>
            <a:off x="6598768" y="2011680"/>
            <a:ext cx="914400" cy="914400"/>
          </a:xfrm>
          <a:prstGeom prst="roundRect">
            <a:avLst>
              <a:gd name="adj" fmla="val 22000"/>
            </a:avLst>
          </a:prstGeom>
          <a:solidFill>
            <a:srgbClr val="0B1F3A"/>
          </a:solidFill>
          <a:ln w="12700">
            <a:solidFill>
              <a:srgbClr val="0B1F3A"/>
            </a:solidFill>
            <a:prstDash val="solid"/>
          </a:ln>
        </p:spPr>
      </p:sp>
      <p:pic>
        <p:nvPicPr>
          <p:cNvPr id="17" name="Image 1" descr="preencoded.png">    </p:cNvPr>
          <p:cNvPicPr>
            <a:picLocks noChangeAspect="1"/>
          </p:cNvPicPr>
          <p:nvPr/>
        </p:nvPicPr>
        <p:blipFill>
          <a:blip r:embed="rId2"/>
          <a:stretch>
            <a:fillRect/>
          </a:stretch>
        </p:blipFill>
        <p:spPr>
          <a:xfrm>
            <a:off x="6818224" y="2231136"/>
            <a:ext cx="475488" cy="475488"/>
          </a:xfrm>
          <a:prstGeom prst="rect">
            <a:avLst/>
          </a:prstGeom>
        </p:spPr>
      </p:pic>
      <p:sp>
        <p:nvSpPr>
          <p:cNvPr id="18" name="Shape 14"/>
          <p:cNvSpPr/>
          <p:nvPr/>
        </p:nvSpPr>
        <p:spPr>
          <a:xfrm>
            <a:off x="7833208" y="1984248"/>
            <a:ext cx="2377440" cy="329184"/>
          </a:xfrm>
          <a:prstGeom prst="roundRect">
            <a:avLst>
              <a:gd name="adj" fmla="val 50000"/>
            </a:avLst>
          </a:prstGeom>
          <a:solidFill>
            <a:srgbClr val="F7EADC"/>
          </a:solidFill>
          <a:ln w="12700">
            <a:solidFill>
              <a:srgbClr val="F7EADC"/>
            </a:solidFill>
            <a:prstDash val="solid"/>
          </a:ln>
        </p:spPr>
      </p:sp>
      <p:sp>
        <p:nvSpPr>
          <p:cNvPr id="19" name="Text 15"/>
          <p:cNvSpPr txBox="1"/>
          <p:nvPr/>
        </p:nvSpPr>
        <p:spPr>
          <a:xfrm>
            <a:off x="7833208" y="1984248"/>
            <a:ext cx="2377440" cy="329184"/>
          </a:xfrm>
          <a:prstGeom prst="rect">
            <a:avLst/>
          </a:prstGeom>
          <a:noFill/>
          <a:ln/>
        </p:spPr>
        <p:txBody>
          <a:bodyPr wrap="square" lIns="0" tIns="0" rIns="0" bIns="0" rtlCol="0" anchor="ctr"/>
          <a:lstStyle/>
          <a:p>
            <a:pPr algn="ctr" indent="0" marL="0">
              <a:buNone/>
            </a:pPr>
            <a:r>
              <a:rPr lang="en-US" sz="1000" b="1" spc="150" kern="0" dirty="0">
                <a:solidFill>
                  <a:srgbClr val="C8742B"/>
                </a:solidFill>
                <a:latin typeface="Calibri" pitchFamily="34" charset="0"/>
                <a:ea typeface="Calibri" pitchFamily="34" charset="-122"/>
                <a:cs typeface="Calibri" pitchFamily="34" charset="-120"/>
              </a:rPr>
              <a:t>SETIAP MALAM · 1 JAM</a:t>
            </a:r>
            <a:endParaRPr lang="en-US" sz="1000" dirty="0"/>
          </a:p>
        </p:txBody>
      </p:sp>
      <p:sp>
        <p:nvSpPr>
          <p:cNvPr id="20" name="Text 16"/>
          <p:cNvSpPr txBox="1"/>
          <p:nvPr/>
        </p:nvSpPr>
        <p:spPr>
          <a:xfrm>
            <a:off x="7833208" y="2423160"/>
            <a:ext cx="3489808" cy="45720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Power hour follow-up</a:t>
            </a:r>
            <a:endParaRPr lang="en-US" sz="2200" dirty="0"/>
          </a:p>
        </p:txBody>
      </p:sp>
      <p:sp>
        <p:nvSpPr>
          <p:cNvPr id="21" name="Text 17"/>
          <p:cNvSpPr txBox="1"/>
          <p:nvPr/>
        </p:nvSpPr>
        <p:spPr>
          <a:xfrm>
            <a:off x="7833208" y="2926080"/>
            <a:ext cx="3489808" cy="64008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Semua staff follow up lead senyap pada masa yang sama.</a:t>
            </a:r>
            <a:endParaRPr lang="en-US" sz="1500" dirty="0"/>
          </a:p>
        </p:txBody>
      </p:sp>
      <p:sp>
        <p:nvSpPr>
          <p:cNvPr id="22" name="Shape 18"/>
          <p:cNvSpPr/>
          <p:nvPr/>
        </p:nvSpPr>
        <p:spPr>
          <a:xfrm>
            <a:off x="548640" y="393192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3" name="Shape 19"/>
          <p:cNvSpPr/>
          <p:nvPr/>
        </p:nvSpPr>
        <p:spPr>
          <a:xfrm>
            <a:off x="914400" y="4343400"/>
            <a:ext cx="914400" cy="914400"/>
          </a:xfrm>
          <a:prstGeom prst="roundRect">
            <a:avLst>
              <a:gd name="adj" fmla="val 22000"/>
            </a:avLst>
          </a:prstGeom>
          <a:solidFill>
            <a:srgbClr val="0B1F3A"/>
          </a:solidFill>
          <a:ln w="12700">
            <a:solidFill>
              <a:srgbClr val="0B1F3A"/>
            </a:solidFill>
            <a:prstDash val="solid"/>
          </a:ln>
        </p:spPr>
      </p:sp>
      <p:pic>
        <p:nvPicPr>
          <p:cNvPr id="24" name="Image 2" descr="preencoded.png">    </p:cNvPr>
          <p:cNvPicPr>
            <a:picLocks noChangeAspect="1"/>
          </p:cNvPicPr>
          <p:nvPr/>
        </p:nvPicPr>
        <p:blipFill>
          <a:blip r:embed="rId3"/>
          <a:stretch>
            <a:fillRect/>
          </a:stretch>
        </p:blipFill>
        <p:spPr>
          <a:xfrm>
            <a:off x="1133856" y="4562856"/>
            <a:ext cx="475488" cy="475488"/>
          </a:xfrm>
          <a:prstGeom prst="rect">
            <a:avLst/>
          </a:prstGeom>
        </p:spPr>
      </p:pic>
      <p:sp>
        <p:nvSpPr>
          <p:cNvPr id="25" name="Shape 20"/>
          <p:cNvSpPr/>
          <p:nvPr/>
        </p:nvSpPr>
        <p:spPr>
          <a:xfrm>
            <a:off x="2148840" y="4315968"/>
            <a:ext cx="2377440" cy="329184"/>
          </a:xfrm>
          <a:prstGeom prst="roundRect">
            <a:avLst>
              <a:gd name="adj" fmla="val 50000"/>
            </a:avLst>
          </a:prstGeom>
          <a:solidFill>
            <a:srgbClr val="F7EADC"/>
          </a:solidFill>
          <a:ln w="12700">
            <a:solidFill>
              <a:srgbClr val="F7EADC"/>
            </a:solidFill>
            <a:prstDash val="solid"/>
          </a:ln>
        </p:spPr>
      </p:sp>
      <p:sp>
        <p:nvSpPr>
          <p:cNvPr id="26" name="Text 21"/>
          <p:cNvSpPr txBox="1"/>
          <p:nvPr/>
        </p:nvSpPr>
        <p:spPr>
          <a:xfrm>
            <a:off x="2148840" y="4315968"/>
            <a:ext cx="2377440" cy="329184"/>
          </a:xfrm>
          <a:prstGeom prst="rect">
            <a:avLst/>
          </a:prstGeom>
          <a:noFill/>
          <a:ln/>
        </p:spPr>
        <p:txBody>
          <a:bodyPr wrap="square" lIns="0" tIns="0" rIns="0" bIns="0" rtlCol="0" anchor="ctr"/>
          <a:lstStyle/>
          <a:p>
            <a:pPr algn="ctr" indent="0" marL="0">
              <a:buNone/>
            </a:pPr>
            <a:r>
              <a:rPr lang="en-US" sz="1000" b="1" spc="150" kern="0" dirty="0">
                <a:solidFill>
                  <a:srgbClr val="C8742B"/>
                </a:solidFill>
                <a:latin typeface="Calibri" pitchFamily="34" charset="0"/>
                <a:ea typeface="Calibri" pitchFamily="34" charset="-122"/>
                <a:cs typeface="Calibri" pitchFamily="34" charset="-120"/>
              </a:rPr>
              <a:t>SETIAP HARI</a:t>
            </a:r>
            <a:endParaRPr lang="en-US" sz="1000" dirty="0"/>
          </a:p>
        </p:txBody>
      </p:sp>
      <p:sp>
        <p:nvSpPr>
          <p:cNvPr id="27" name="Text 22"/>
          <p:cNvSpPr txBox="1"/>
          <p:nvPr/>
        </p:nvSpPr>
        <p:spPr>
          <a:xfrm>
            <a:off x="2148840" y="4754880"/>
            <a:ext cx="3489808" cy="45720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Win of the day</a:t>
            </a:r>
            <a:endParaRPr lang="en-US" sz="2200" dirty="0"/>
          </a:p>
        </p:txBody>
      </p:sp>
      <p:sp>
        <p:nvSpPr>
          <p:cNvPr id="28" name="Text 23"/>
          <p:cNvSpPr txBox="1"/>
          <p:nvPr/>
        </p:nvSpPr>
        <p:spPr>
          <a:xfrm>
            <a:off x="2148840" y="5257800"/>
            <a:ext cx="3489808" cy="64008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Kongsi satu closing dalam group. Maklumat customer ditutup.</a:t>
            </a:r>
            <a:endParaRPr lang="en-US" sz="1500" dirty="0"/>
          </a:p>
        </p:txBody>
      </p:sp>
      <p:sp>
        <p:nvSpPr>
          <p:cNvPr id="29" name="Shape 24"/>
          <p:cNvSpPr/>
          <p:nvPr/>
        </p:nvSpPr>
        <p:spPr>
          <a:xfrm>
            <a:off x="6233008" y="3931920"/>
            <a:ext cx="5410048"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30" name="Shape 25"/>
          <p:cNvSpPr/>
          <p:nvPr/>
        </p:nvSpPr>
        <p:spPr>
          <a:xfrm>
            <a:off x="6598768" y="4343400"/>
            <a:ext cx="914400" cy="914400"/>
          </a:xfrm>
          <a:prstGeom prst="roundRect">
            <a:avLst>
              <a:gd name="adj" fmla="val 22000"/>
            </a:avLst>
          </a:prstGeom>
          <a:solidFill>
            <a:srgbClr val="0B1F3A"/>
          </a:solidFill>
          <a:ln w="12700">
            <a:solidFill>
              <a:srgbClr val="0B1F3A"/>
            </a:solidFill>
            <a:prstDash val="solid"/>
          </a:ln>
        </p:spPr>
      </p:sp>
      <p:pic>
        <p:nvPicPr>
          <p:cNvPr id="31" name="Image 3" descr="preencoded.png">    </p:cNvPr>
          <p:cNvPicPr>
            <a:picLocks noChangeAspect="1"/>
          </p:cNvPicPr>
          <p:nvPr/>
        </p:nvPicPr>
        <p:blipFill>
          <a:blip r:embed="rId4"/>
          <a:stretch>
            <a:fillRect/>
          </a:stretch>
        </p:blipFill>
        <p:spPr>
          <a:xfrm>
            <a:off x="6818224" y="4562856"/>
            <a:ext cx="475488" cy="475488"/>
          </a:xfrm>
          <a:prstGeom prst="rect">
            <a:avLst/>
          </a:prstGeom>
        </p:spPr>
      </p:pic>
      <p:sp>
        <p:nvSpPr>
          <p:cNvPr id="32" name="Shape 26"/>
          <p:cNvSpPr/>
          <p:nvPr/>
        </p:nvSpPr>
        <p:spPr>
          <a:xfrm>
            <a:off x="7833208" y="4315968"/>
            <a:ext cx="2377440" cy="329184"/>
          </a:xfrm>
          <a:prstGeom prst="roundRect">
            <a:avLst>
              <a:gd name="adj" fmla="val 50000"/>
            </a:avLst>
          </a:prstGeom>
          <a:solidFill>
            <a:srgbClr val="F7EADC"/>
          </a:solidFill>
          <a:ln w="12700">
            <a:solidFill>
              <a:srgbClr val="F7EADC"/>
            </a:solidFill>
            <a:prstDash val="solid"/>
          </a:ln>
        </p:spPr>
      </p:sp>
      <p:sp>
        <p:nvSpPr>
          <p:cNvPr id="33" name="Text 27"/>
          <p:cNvSpPr txBox="1"/>
          <p:nvPr/>
        </p:nvSpPr>
        <p:spPr>
          <a:xfrm>
            <a:off x="7833208" y="4315968"/>
            <a:ext cx="2377440" cy="329184"/>
          </a:xfrm>
          <a:prstGeom prst="rect">
            <a:avLst/>
          </a:prstGeom>
          <a:noFill/>
          <a:ln/>
        </p:spPr>
        <p:txBody>
          <a:bodyPr wrap="square" lIns="0" tIns="0" rIns="0" bIns="0" rtlCol="0" anchor="ctr"/>
          <a:lstStyle/>
          <a:p>
            <a:pPr algn="ctr" indent="0" marL="0">
              <a:buNone/>
            </a:pPr>
            <a:r>
              <a:rPr lang="en-US" sz="1000" b="1" spc="150" kern="0" dirty="0">
                <a:solidFill>
                  <a:srgbClr val="C8742B"/>
                </a:solidFill>
                <a:latin typeface="Calibri" pitchFamily="34" charset="0"/>
                <a:ea typeface="Calibri" pitchFamily="34" charset="-122"/>
                <a:cs typeface="Calibri" pitchFamily="34" charset="-120"/>
              </a:rPr>
              <a:t>HUJUNG MINGGU</a:t>
            </a:r>
            <a:endParaRPr lang="en-US" sz="1000" dirty="0"/>
          </a:p>
        </p:txBody>
      </p:sp>
      <p:sp>
        <p:nvSpPr>
          <p:cNvPr id="34" name="Text 28"/>
          <p:cNvSpPr txBox="1"/>
          <p:nvPr/>
        </p:nvSpPr>
        <p:spPr>
          <a:xfrm>
            <a:off x="7833208" y="4754880"/>
            <a:ext cx="3489808" cy="45720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Poster blitz</a:t>
            </a:r>
            <a:endParaRPr lang="en-US" sz="2200" dirty="0"/>
          </a:p>
        </p:txBody>
      </p:sp>
      <p:sp>
        <p:nvSpPr>
          <p:cNvPr id="35" name="Text 29"/>
          <p:cNvSpPr txBox="1"/>
          <p:nvPr/>
        </p:nvSpPr>
        <p:spPr>
          <a:xfrm>
            <a:off x="7833208" y="5257800"/>
            <a:ext cx="3489808" cy="64008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Pasang poster di pangsapuri dan taman baru, dengan nombor sendiri.</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37744"/>
          </a:xfrm>
          <a:prstGeom prst="rect">
            <a:avLst/>
          </a:prstGeom>
          <a:noFill/>
          <a:ln/>
        </p:spPr>
        <p:txBody>
          <a:bodyPr wrap="square" lIns="0" tIns="0" rIns="0" bIns="0" rtlCol="0" anchor="t"/>
          <a:lstStyle/>
          <a:p>
            <a:pPr indent="0" marL="0">
              <a:buNone/>
            </a:pPr>
            <a:r>
              <a:rPr lang="en-US" sz="1100" b="1" spc="300" kern="0" dirty="0">
                <a:solidFill>
                  <a:srgbClr val="C8742B"/>
                </a:solidFill>
                <a:latin typeface="Calibri" pitchFamily="34" charset="0"/>
                <a:ea typeface="Calibri" pitchFamily="34" charset="-122"/>
                <a:cs typeface="Calibri" pitchFamily="34" charset="-120"/>
              </a:rPr>
              <a:t>TINDAKAN</a:t>
            </a:r>
            <a:endParaRPr lang="en-US" sz="11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Lima tindakan bermula minggu ini</a:t>
            </a:r>
            <a:endParaRPr lang="en-US" sz="2800" dirty="0"/>
          </a:p>
        </p:txBody>
      </p:sp>
      <p:sp>
        <p:nvSpPr>
          <p:cNvPr id="4" name="Shape 2"/>
          <p:cNvSpPr/>
          <p:nvPr/>
        </p:nvSpPr>
        <p:spPr>
          <a:xfrm>
            <a:off x="548640" y="6382512"/>
            <a:ext cx="420624" cy="219456"/>
          </a:xfrm>
          <a:prstGeom prst="roundRect">
            <a:avLst>
              <a:gd name="adj" fmla="val 16667"/>
            </a:avLst>
          </a:prstGeom>
          <a:solidFill>
            <a:srgbClr val="0B1F3A"/>
          </a:solidFill>
          <a:ln w="12700">
            <a:solidFill>
              <a:srgbClr val="0B1F3A"/>
            </a:solidFill>
            <a:prstDash val="solid"/>
          </a:ln>
        </p:spPr>
      </p:sp>
      <p:sp>
        <p:nvSpPr>
          <p:cNvPr id="5" name="Text 3"/>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6" name="Text 4"/>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Strategi Jualan Unifi Q4 2026</a:t>
            </a:r>
            <a:endParaRPr lang="en-US" sz="900" dirty="0"/>
          </a:p>
        </p:txBody>
      </p:sp>
      <p:sp>
        <p:nvSpPr>
          <p:cNvPr id="7" name="Text 5"/>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0B1F3A"/>
                </a:solidFill>
                <a:latin typeface="Calibri" pitchFamily="34" charset="0"/>
                <a:ea typeface="Calibri" pitchFamily="34" charset="-122"/>
                <a:cs typeface="Calibri" pitchFamily="34" charset="-120"/>
              </a:rPr>
              <a:t>24</a:t>
            </a:r>
            <a:pPr algn="r" indent="0" marL="0">
              <a:buNone/>
            </a:pPr>
            <a:r>
              <a:rPr lang="en-US" sz="900" dirty="0">
                <a:solidFill>
                  <a:srgbClr val="5B6B80"/>
                </a:solidFill>
                <a:latin typeface="Calibri" pitchFamily="34" charset="0"/>
                <a:ea typeface="Calibri" pitchFamily="34" charset="-122"/>
                <a:cs typeface="Calibri" pitchFamily="34" charset="-120"/>
              </a:rPr>
              <a:t>  /  25</a:t>
            </a:r>
            <a:endParaRPr lang="en-US" sz="900" dirty="0"/>
          </a:p>
        </p:txBody>
      </p:sp>
      <p:sp>
        <p:nvSpPr>
          <p:cNvPr id="8" name="Shape 6"/>
          <p:cNvSpPr/>
          <p:nvPr/>
        </p:nvSpPr>
        <p:spPr>
          <a:xfrm>
            <a:off x="548640" y="1600200"/>
            <a:ext cx="7086600" cy="749808"/>
          </a:xfrm>
          <a:prstGeom prst="roundRect">
            <a:avLst>
              <a:gd name="adj" fmla="val 975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9" name="Shape 7"/>
          <p:cNvSpPr/>
          <p:nvPr/>
        </p:nvSpPr>
        <p:spPr>
          <a:xfrm>
            <a:off x="749808" y="1746504"/>
            <a:ext cx="457200" cy="457200"/>
          </a:xfrm>
          <a:prstGeom prst="ellipse">
            <a:avLst/>
          </a:prstGeom>
          <a:solidFill>
            <a:srgbClr val="0B1F3A"/>
          </a:solidFill>
          <a:ln w="12700">
            <a:solidFill>
              <a:srgbClr val="0B1F3A"/>
            </a:solidFill>
            <a:prstDash val="solid"/>
          </a:ln>
        </p:spPr>
      </p:sp>
      <p:sp>
        <p:nvSpPr>
          <p:cNvPr id="10" name="Text 8"/>
          <p:cNvSpPr txBox="1"/>
          <p:nvPr/>
        </p:nvSpPr>
        <p:spPr>
          <a:xfrm>
            <a:off x="749808" y="17465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1417320" y="1600200"/>
            <a:ext cx="5532120" cy="749808"/>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Guna skrip dari Playbook Jualan</a:t>
            </a:r>
            <a:endParaRPr lang="en-US" sz="1700" dirty="0"/>
          </a:p>
        </p:txBody>
      </p:sp>
      <p:pic>
        <p:nvPicPr>
          <p:cNvPr id="12" name="Image 0" descr="preencoded.png">    </p:cNvPr>
          <p:cNvPicPr>
            <a:picLocks noChangeAspect="1"/>
          </p:cNvPicPr>
          <p:nvPr/>
        </p:nvPicPr>
        <p:blipFill>
          <a:blip r:embed="rId1"/>
          <a:stretch>
            <a:fillRect/>
          </a:stretch>
        </p:blipFill>
        <p:spPr>
          <a:xfrm>
            <a:off x="7086600" y="1819656"/>
            <a:ext cx="310896" cy="310896"/>
          </a:xfrm>
          <a:prstGeom prst="rect">
            <a:avLst/>
          </a:prstGeom>
        </p:spPr>
      </p:pic>
      <p:sp>
        <p:nvSpPr>
          <p:cNvPr id="13" name="Shape 10"/>
          <p:cNvSpPr/>
          <p:nvPr/>
        </p:nvSpPr>
        <p:spPr>
          <a:xfrm>
            <a:off x="548640" y="2514600"/>
            <a:ext cx="7086600" cy="749808"/>
          </a:xfrm>
          <a:prstGeom prst="roundRect">
            <a:avLst>
              <a:gd name="adj" fmla="val 975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4" name="Shape 11"/>
          <p:cNvSpPr/>
          <p:nvPr/>
        </p:nvSpPr>
        <p:spPr>
          <a:xfrm>
            <a:off x="749808" y="2660904"/>
            <a:ext cx="457200" cy="457200"/>
          </a:xfrm>
          <a:prstGeom prst="ellipse">
            <a:avLst/>
          </a:prstGeom>
          <a:solidFill>
            <a:srgbClr val="0B1F3A"/>
          </a:solidFill>
          <a:ln w="12700">
            <a:solidFill>
              <a:srgbClr val="0B1F3A"/>
            </a:solidFill>
            <a:prstDash val="solid"/>
          </a:ln>
        </p:spPr>
      </p:sp>
      <p:sp>
        <p:nvSpPr>
          <p:cNvPr id="15" name="Text 12"/>
          <p:cNvSpPr txBox="1"/>
          <p:nvPr/>
        </p:nvSpPr>
        <p:spPr>
          <a:xfrm>
            <a:off x="749808" y="2660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1417320" y="2514600"/>
            <a:ext cx="5532120" cy="749808"/>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Minta alamat dan semak coverage sebelum terangkan pakej</a:t>
            </a:r>
            <a:endParaRPr lang="en-US" sz="1700" dirty="0"/>
          </a:p>
        </p:txBody>
      </p:sp>
      <p:pic>
        <p:nvPicPr>
          <p:cNvPr id="17" name="Image 1" descr="preencoded.png">    </p:cNvPr>
          <p:cNvPicPr>
            <a:picLocks noChangeAspect="1"/>
          </p:cNvPicPr>
          <p:nvPr/>
        </p:nvPicPr>
        <p:blipFill>
          <a:blip r:embed="rId2"/>
          <a:stretch>
            <a:fillRect/>
          </a:stretch>
        </p:blipFill>
        <p:spPr>
          <a:xfrm>
            <a:off x="7086600" y="2734056"/>
            <a:ext cx="310896" cy="310896"/>
          </a:xfrm>
          <a:prstGeom prst="rect">
            <a:avLst/>
          </a:prstGeom>
        </p:spPr>
      </p:pic>
      <p:sp>
        <p:nvSpPr>
          <p:cNvPr id="18" name="Shape 14"/>
          <p:cNvSpPr/>
          <p:nvPr/>
        </p:nvSpPr>
        <p:spPr>
          <a:xfrm>
            <a:off x="548640" y="3429000"/>
            <a:ext cx="7086600" cy="749808"/>
          </a:xfrm>
          <a:prstGeom prst="roundRect">
            <a:avLst>
              <a:gd name="adj" fmla="val 975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19" name="Shape 15"/>
          <p:cNvSpPr/>
          <p:nvPr/>
        </p:nvSpPr>
        <p:spPr>
          <a:xfrm>
            <a:off x="749808" y="3575304"/>
            <a:ext cx="457200" cy="457200"/>
          </a:xfrm>
          <a:prstGeom prst="ellipse">
            <a:avLst/>
          </a:prstGeom>
          <a:solidFill>
            <a:srgbClr val="0B1F3A"/>
          </a:solidFill>
          <a:ln w="12700">
            <a:solidFill>
              <a:srgbClr val="0B1F3A"/>
            </a:solidFill>
            <a:prstDash val="solid"/>
          </a:ln>
        </p:spPr>
      </p:sp>
      <p:sp>
        <p:nvSpPr>
          <p:cNvPr id="20" name="Text 16"/>
          <p:cNvSpPr txBox="1"/>
          <p:nvPr/>
        </p:nvSpPr>
        <p:spPr>
          <a:xfrm>
            <a:off x="749808" y="35753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7"/>
          <p:cNvSpPr txBox="1"/>
          <p:nvPr/>
        </p:nvSpPr>
        <p:spPr>
          <a:xfrm>
            <a:off x="1417320" y="3429000"/>
            <a:ext cx="5532120" cy="749808"/>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Beritahu SST dan upfront RM100 sebelum daftar</a:t>
            </a:r>
            <a:endParaRPr lang="en-US" sz="1700" dirty="0"/>
          </a:p>
        </p:txBody>
      </p:sp>
      <p:pic>
        <p:nvPicPr>
          <p:cNvPr id="22" name="Image 2" descr="preencoded.png">    </p:cNvPr>
          <p:cNvPicPr>
            <a:picLocks noChangeAspect="1"/>
          </p:cNvPicPr>
          <p:nvPr/>
        </p:nvPicPr>
        <p:blipFill>
          <a:blip r:embed="rId3"/>
          <a:stretch>
            <a:fillRect/>
          </a:stretch>
        </p:blipFill>
        <p:spPr>
          <a:xfrm>
            <a:off x="7086600" y="3648456"/>
            <a:ext cx="310896" cy="310896"/>
          </a:xfrm>
          <a:prstGeom prst="rect">
            <a:avLst/>
          </a:prstGeom>
        </p:spPr>
      </p:pic>
      <p:sp>
        <p:nvSpPr>
          <p:cNvPr id="23" name="Shape 18"/>
          <p:cNvSpPr/>
          <p:nvPr/>
        </p:nvSpPr>
        <p:spPr>
          <a:xfrm>
            <a:off x="548640" y="4343400"/>
            <a:ext cx="7086600" cy="749808"/>
          </a:xfrm>
          <a:prstGeom prst="roundRect">
            <a:avLst>
              <a:gd name="adj" fmla="val 975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4" name="Shape 19"/>
          <p:cNvSpPr/>
          <p:nvPr/>
        </p:nvSpPr>
        <p:spPr>
          <a:xfrm>
            <a:off x="749808" y="4489704"/>
            <a:ext cx="457200" cy="457200"/>
          </a:xfrm>
          <a:prstGeom prst="ellipse">
            <a:avLst/>
          </a:prstGeom>
          <a:solidFill>
            <a:srgbClr val="0B1F3A"/>
          </a:solidFill>
          <a:ln w="12700">
            <a:solidFill>
              <a:srgbClr val="0B1F3A"/>
            </a:solidFill>
            <a:prstDash val="solid"/>
          </a:ln>
        </p:spPr>
      </p:sp>
      <p:sp>
        <p:nvSpPr>
          <p:cNvPr id="25" name="Text 20"/>
          <p:cNvSpPr txBox="1"/>
          <p:nvPr/>
        </p:nvSpPr>
        <p:spPr>
          <a:xfrm>
            <a:off x="749808" y="44897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1"/>
          <p:cNvSpPr txBox="1"/>
          <p:nvPr/>
        </p:nvSpPr>
        <p:spPr>
          <a:xfrm>
            <a:off x="1417320" y="4343400"/>
            <a:ext cx="5532120" cy="749808"/>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Rekod sumber setiap lead</a:t>
            </a:r>
            <a:endParaRPr lang="en-US" sz="1700" dirty="0"/>
          </a:p>
        </p:txBody>
      </p:sp>
      <p:pic>
        <p:nvPicPr>
          <p:cNvPr id="27" name="Image 3" descr="preencoded.png">    </p:cNvPr>
          <p:cNvPicPr>
            <a:picLocks noChangeAspect="1"/>
          </p:cNvPicPr>
          <p:nvPr/>
        </p:nvPicPr>
        <p:blipFill>
          <a:blip r:embed="rId4"/>
          <a:stretch>
            <a:fillRect/>
          </a:stretch>
        </p:blipFill>
        <p:spPr>
          <a:xfrm>
            <a:off x="7086600" y="4562856"/>
            <a:ext cx="310896" cy="310896"/>
          </a:xfrm>
          <a:prstGeom prst="rect">
            <a:avLst/>
          </a:prstGeom>
        </p:spPr>
      </p:pic>
      <p:sp>
        <p:nvSpPr>
          <p:cNvPr id="28" name="Shape 22"/>
          <p:cNvSpPr/>
          <p:nvPr/>
        </p:nvSpPr>
        <p:spPr>
          <a:xfrm>
            <a:off x="548640" y="5257800"/>
            <a:ext cx="7086600" cy="749808"/>
          </a:xfrm>
          <a:prstGeom prst="roundRect">
            <a:avLst>
              <a:gd name="adj" fmla="val 9756"/>
            </a:avLst>
          </a:prstGeom>
          <a:solidFill>
            <a:srgbClr val="FFFFFF"/>
          </a:solidFill>
          <a:ln w="12700">
            <a:solidFill>
              <a:srgbClr val="FFFFFF"/>
            </a:solidFill>
            <a:prstDash val="solid"/>
          </a:ln>
          <a:effectLst>
            <a:outerShdw sx="100000" sy="100000" kx="0" ky="0" algn="bl" rotWithShape="0" blurRad="127000" dist="25400" dir="5400000">
              <a:srgbClr val="0B1F3A">
                <a:alpha val="10000"/>
              </a:srgbClr>
            </a:outerShdw>
          </a:effectLst>
        </p:spPr>
      </p:sp>
      <p:sp>
        <p:nvSpPr>
          <p:cNvPr id="29" name="Shape 23"/>
          <p:cNvSpPr/>
          <p:nvPr/>
        </p:nvSpPr>
        <p:spPr>
          <a:xfrm>
            <a:off x="749808" y="5404104"/>
            <a:ext cx="457200" cy="457200"/>
          </a:xfrm>
          <a:prstGeom prst="ellipse">
            <a:avLst/>
          </a:prstGeom>
          <a:solidFill>
            <a:srgbClr val="0B1F3A"/>
          </a:solidFill>
          <a:ln w="12700">
            <a:solidFill>
              <a:srgbClr val="0B1F3A"/>
            </a:solidFill>
            <a:prstDash val="solid"/>
          </a:ln>
        </p:spPr>
      </p:sp>
      <p:sp>
        <p:nvSpPr>
          <p:cNvPr id="30" name="Text 24"/>
          <p:cNvSpPr txBox="1"/>
          <p:nvPr/>
        </p:nvSpPr>
        <p:spPr>
          <a:xfrm>
            <a:off x="749808" y="54041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5"/>
          <p:cNvSpPr txBox="1"/>
          <p:nvPr/>
        </p:nvSpPr>
        <p:spPr>
          <a:xfrm>
            <a:off x="1417320" y="5257800"/>
            <a:ext cx="5532120" cy="749808"/>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Minta referral dari setiap customer yang puas hati</a:t>
            </a:r>
            <a:endParaRPr lang="en-US" sz="1700" dirty="0"/>
          </a:p>
        </p:txBody>
      </p:sp>
      <p:pic>
        <p:nvPicPr>
          <p:cNvPr id="32" name="Image 4" descr="preencoded.png">    </p:cNvPr>
          <p:cNvPicPr>
            <a:picLocks noChangeAspect="1"/>
          </p:cNvPicPr>
          <p:nvPr/>
        </p:nvPicPr>
        <p:blipFill>
          <a:blip r:embed="rId5"/>
          <a:stretch>
            <a:fillRect/>
          </a:stretch>
        </p:blipFill>
        <p:spPr>
          <a:xfrm>
            <a:off x="7086600" y="5477256"/>
            <a:ext cx="310896" cy="310896"/>
          </a:xfrm>
          <a:prstGeom prst="rect">
            <a:avLst/>
          </a:prstGeom>
        </p:spPr>
      </p:pic>
      <p:sp>
        <p:nvSpPr>
          <p:cNvPr id="33" name="Shape 26"/>
          <p:cNvSpPr/>
          <p:nvPr/>
        </p:nvSpPr>
        <p:spPr>
          <a:xfrm>
            <a:off x="7909560" y="1600200"/>
            <a:ext cx="3730752" cy="4407408"/>
          </a:xfrm>
          <a:prstGeom prst="roundRect">
            <a:avLst>
              <a:gd name="adj" fmla="val 1961"/>
            </a:avLst>
          </a:prstGeom>
          <a:solidFill>
            <a:srgbClr val="0B1F3A"/>
          </a:solidFill>
          <a:ln w="12700">
            <a:solidFill>
              <a:srgbClr val="0B1F3A"/>
            </a:solidFill>
            <a:prstDash val="solid"/>
          </a:ln>
          <a:effectLst>
            <a:outerShdw sx="100000" sy="100000" kx="0" ky="0" algn="bl" rotWithShape="0" blurRad="127000" dist="25400" dir="5400000">
              <a:srgbClr val="0B1F3A">
                <a:alpha val="10000"/>
              </a:srgbClr>
            </a:outerShdw>
          </a:effectLst>
        </p:spPr>
      </p:sp>
      <p:sp>
        <p:nvSpPr>
          <p:cNvPr id="34" name="Shape 27"/>
          <p:cNvSpPr/>
          <p:nvPr/>
        </p:nvSpPr>
        <p:spPr>
          <a:xfrm>
            <a:off x="8229600" y="1920240"/>
            <a:ext cx="594360" cy="594360"/>
          </a:xfrm>
          <a:prstGeom prst="roundRect">
            <a:avLst>
              <a:gd name="adj" fmla="val 22000"/>
            </a:avLst>
          </a:prstGeom>
          <a:solidFill>
            <a:srgbClr val="C8742B"/>
          </a:solidFill>
          <a:ln w="12700">
            <a:solidFill>
              <a:srgbClr val="C8742B"/>
            </a:solidFill>
            <a:prstDash val="solid"/>
          </a:ln>
        </p:spPr>
      </p:sp>
      <p:pic>
        <p:nvPicPr>
          <p:cNvPr id="35" name="Image 5" descr="preencoded.png">    </p:cNvPr>
          <p:cNvPicPr>
            <a:picLocks noChangeAspect="1"/>
          </p:cNvPicPr>
          <p:nvPr/>
        </p:nvPicPr>
        <p:blipFill>
          <a:blip r:embed="rId6"/>
          <a:stretch>
            <a:fillRect/>
          </a:stretch>
        </p:blipFill>
        <p:spPr>
          <a:xfrm>
            <a:off x="8372246" y="2062886"/>
            <a:ext cx="309067" cy="309067"/>
          </a:xfrm>
          <a:prstGeom prst="rect">
            <a:avLst/>
          </a:prstGeom>
        </p:spPr>
      </p:pic>
      <p:sp>
        <p:nvSpPr>
          <p:cNvPr id="36" name="Text 28"/>
          <p:cNvSpPr txBox="1"/>
          <p:nvPr/>
        </p:nvSpPr>
        <p:spPr>
          <a:xfrm>
            <a:off x="8229600" y="2697480"/>
            <a:ext cx="3200400" cy="274320"/>
          </a:xfrm>
          <a:prstGeom prst="rect">
            <a:avLst/>
          </a:prstGeom>
          <a:noFill/>
          <a:ln/>
        </p:spPr>
        <p:txBody>
          <a:bodyPr wrap="square" lIns="0" tIns="0" rIns="0" bIns="0" rtlCol="0" anchor="t"/>
          <a:lstStyle/>
          <a:p>
            <a:pPr indent="0" marL="0">
              <a:buNone/>
            </a:pPr>
            <a:r>
              <a:rPr lang="en-US" sz="1100" b="1" spc="200" kern="0" dirty="0">
                <a:solidFill>
                  <a:srgbClr val="C8742B"/>
                </a:solidFill>
                <a:latin typeface="Calibri" pitchFamily="34" charset="0"/>
                <a:ea typeface="Calibri" pitchFamily="34" charset="-122"/>
                <a:cs typeface="Calibri" pitchFamily="34" charset="-120"/>
              </a:rPr>
              <a:t>SEMAKAN DALAM 4 MINGGU</a:t>
            </a:r>
            <a:endParaRPr lang="en-US" sz="1100" dirty="0"/>
          </a:p>
        </p:txBody>
      </p:sp>
      <p:sp>
        <p:nvSpPr>
          <p:cNvPr id="37" name="Text 29"/>
          <p:cNvSpPr txBox="1"/>
          <p:nvPr/>
        </p:nvSpPr>
        <p:spPr>
          <a:xfrm>
            <a:off x="8229600" y="3017520"/>
            <a:ext cx="320040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Kita semak semula nombor:</a:t>
            </a:r>
            <a:endParaRPr lang="en-US" sz="1800" dirty="0"/>
          </a:p>
        </p:txBody>
      </p:sp>
      <p:pic>
        <p:nvPicPr>
          <p:cNvPr id="38" name="Image 6" descr="preencoded.png">    </p:cNvPr>
          <p:cNvPicPr>
            <a:picLocks noChangeAspect="1"/>
          </p:cNvPicPr>
          <p:nvPr/>
        </p:nvPicPr>
        <p:blipFill>
          <a:blip r:embed="rId7"/>
          <a:stretch>
            <a:fillRect/>
          </a:stretch>
        </p:blipFill>
        <p:spPr>
          <a:xfrm>
            <a:off x="8229600" y="3767328"/>
            <a:ext cx="274320" cy="274320"/>
          </a:xfrm>
          <a:prstGeom prst="rect">
            <a:avLst/>
          </a:prstGeom>
        </p:spPr>
      </p:pic>
      <p:sp>
        <p:nvSpPr>
          <p:cNvPr id="39" name="Text 30"/>
          <p:cNvSpPr txBox="1"/>
          <p:nvPr/>
        </p:nvSpPr>
        <p:spPr>
          <a:xfrm>
            <a:off x="8641080" y="3703320"/>
            <a:ext cx="27432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Enquiry</a:t>
            </a:r>
            <a:endParaRPr lang="en-US" sz="1600" dirty="0"/>
          </a:p>
        </p:txBody>
      </p:sp>
      <p:pic>
        <p:nvPicPr>
          <p:cNvPr id="40" name="Image 7" descr="preencoded.png">    </p:cNvPr>
          <p:cNvPicPr>
            <a:picLocks noChangeAspect="1"/>
          </p:cNvPicPr>
          <p:nvPr/>
        </p:nvPicPr>
        <p:blipFill>
          <a:blip r:embed="rId8"/>
          <a:stretch>
            <a:fillRect/>
          </a:stretch>
        </p:blipFill>
        <p:spPr>
          <a:xfrm>
            <a:off x="8229600" y="4315968"/>
            <a:ext cx="274320" cy="274320"/>
          </a:xfrm>
          <a:prstGeom prst="rect">
            <a:avLst/>
          </a:prstGeom>
        </p:spPr>
      </p:pic>
      <p:sp>
        <p:nvSpPr>
          <p:cNvPr id="41" name="Text 31"/>
          <p:cNvSpPr txBox="1"/>
          <p:nvPr/>
        </p:nvSpPr>
        <p:spPr>
          <a:xfrm>
            <a:off x="8641080" y="4251960"/>
            <a:ext cx="27432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Kadar daftar</a:t>
            </a:r>
            <a:endParaRPr lang="en-US" sz="1600" dirty="0"/>
          </a:p>
        </p:txBody>
      </p:sp>
      <p:pic>
        <p:nvPicPr>
          <p:cNvPr id="42" name="Image 8" descr="preencoded.png">    </p:cNvPr>
          <p:cNvPicPr>
            <a:picLocks noChangeAspect="1"/>
          </p:cNvPicPr>
          <p:nvPr/>
        </p:nvPicPr>
        <p:blipFill>
          <a:blip r:embed="rId9"/>
          <a:stretch>
            <a:fillRect/>
          </a:stretch>
        </p:blipFill>
        <p:spPr>
          <a:xfrm>
            <a:off x="8229600" y="4864608"/>
            <a:ext cx="274320" cy="274320"/>
          </a:xfrm>
          <a:prstGeom prst="rect">
            <a:avLst/>
          </a:prstGeom>
        </p:spPr>
      </p:pic>
      <p:sp>
        <p:nvSpPr>
          <p:cNvPr id="43" name="Text 32"/>
          <p:cNvSpPr txBox="1"/>
          <p:nvPr/>
        </p:nvSpPr>
        <p:spPr>
          <a:xfrm>
            <a:off x="8641080" y="4800600"/>
            <a:ext cx="27432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Campuran pakej</a:t>
            </a:r>
            <a:endParaRPr lang="en-US" sz="1600" dirty="0"/>
          </a:p>
        </p:txBody>
      </p:sp>
      <p:pic>
        <p:nvPicPr>
          <p:cNvPr id="44" name="Image 9" descr="preencoded.png">    </p:cNvPr>
          <p:cNvPicPr>
            <a:picLocks noChangeAspect="1"/>
          </p:cNvPicPr>
          <p:nvPr/>
        </p:nvPicPr>
        <p:blipFill>
          <a:blip r:embed="rId10"/>
          <a:stretch>
            <a:fillRect/>
          </a:stretch>
        </p:blipFill>
        <p:spPr>
          <a:xfrm>
            <a:off x="8229600" y="5413248"/>
            <a:ext cx="274320" cy="274320"/>
          </a:xfrm>
          <a:prstGeom prst="rect">
            <a:avLst/>
          </a:prstGeom>
        </p:spPr>
      </p:pic>
      <p:sp>
        <p:nvSpPr>
          <p:cNvPr id="45" name="Text 33"/>
          <p:cNvSpPr txBox="1"/>
          <p:nvPr/>
        </p:nvSpPr>
        <p:spPr>
          <a:xfrm>
            <a:off x="8641080" y="5349240"/>
            <a:ext cx="27432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Sumber lead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463040"/>
            <a:ext cx="6949440" cy="6949440"/>
          </a:xfrm>
          <a:prstGeom prst="ellipse">
            <a:avLst/>
          </a:prstGeom>
          <a:solidFill>
            <a:srgbClr val="17325A"/>
          </a:solidFill>
          <a:ln w="12700">
            <a:solidFill>
              <a:srgbClr val="17325A"/>
            </a:solidFill>
            <a:prstDash val="solid"/>
          </a:ln>
        </p:spPr>
      </p:sp>
      <p:sp>
        <p:nvSpPr>
          <p:cNvPr id="3" name="Shape 1"/>
          <p:cNvSpPr/>
          <p:nvPr/>
        </p:nvSpPr>
        <p:spPr>
          <a:xfrm>
            <a:off x="8778240" y="-274320"/>
            <a:ext cx="4572000" cy="4572000"/>
          </a:xfrm>
          <a:prstGeom prst="ellipse">
            <a:avLst/>
          </a:prstGeom>
          <a:solidFill>
            <a:srgbClr val="0B1F3A"/>
          </a:solidFill>
          <a:ln w="12700">
            <a:solidFill>
              <a:srgbClr val="23436F"/>
            </a:solidFill>
            <a:prstDash val="solid"/>
          </a:ln>
        </p:spPr>
      </p:sp>
      <p:sp>
        <p:nvSpPr>
          <p:cNvPr id="4" name="Shape 2"/>
          <p:cNvSpPr/>
          <p:nvPr/>
        </p:nvSpPr>
        <p:spPr>
          <a:xfrm>
            <a:off x="5852160" y="4206240"/>
            <a:ext cx="3840480" cy="3840480"/>
          </a:xfrm>
          <a:prstGeom prst="ellipse">
            <a:avLst/>
          </a:prstGeom>
          <a:solidFill>
            <a:srgbClr val="0B1F3A">
              <a:alpha val="0"/>
            </a:srgbClr>
          </a:solidFill>
          <a:ln w="12700">
            <a:solidFill>
              <a:srgbClr val="23436F"/>
            </a:solidFill>
            <a:prstDash val="solid"/>
          </a:ln>
        </p:spPr>
      </p:sp>
      <p:sp>
        <p:nvSpPr>
          <p:cNvPr id="5" name="Shape 3"/>
          <p:cNvSpPr/>
          <p:nvPr/>
        </p:nvSpPr>
        <p:spPr>
          <a:xfrm>
            <a:off x="548640" y="548640"/>
            <a:ext cx="685800" cy="365760"/>
          </a:xfrm>
          <a:prstGeom prst="roundRect">
            <a:avLst>
              <a:gd name="adj" fmla="val 12500"/>
            </a:avLst>
          </a:prstGeom>
          <a:solidFill>
            <a:srgbClr val="C8742B"/>
          </a:solidFill>
          <a:ln w="12700">
            <a:solidFill>
              <a:srgbClr val="C8742B"/>
            </a:solidFill>
            <a:prstDash val="solid"/>
          </a:ln>
        </p:spPr>
      </p:sp>
      <p:sp>
        <p:nvSpPr>
          <p:cNvPr id="6" name="Text 4"/>
          <p:cNvSpPr txBox="1"/>
          <p:nvPr/>
        </p:nvSpPr>
        <p:spPr>
          <a:xfrm>
            <a:off x="548640" y="548640"/>
            <a:ext cx="6858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HFS</a:t>
            </a:r>
            <a:endParaRPr lang="en-US" sz="1400" dirty="0"/>
          </a:p>
        </p:txBody>
      </p:sp>
      <p:sp>
        <p:nvSpPr>
          <p:cNvPr id="7" name="Text 5"/>
          <p:cNvSpPr txBox="1"/>
          <p:nvPr/>
        </p:nvSpPr>
        <p:spPr>
          <a:xfrm>
            <a:off x="548640" y="1554480"/>
            <a:ext cx="8229600" cy="210312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Kita pernah capai 100.</a:t>
            </a:r>
            <a:endParaRPr lang="en-US" sz="5600" dirty="0"/>
          </a:p>
          <a:p>
            <a:pPr indent="0" marL="0">
              <a:buNone/>
            </a:pPr>
            <a:r>
              <a:rPr lang="en-US" sz="5600" b="1" dirty="0">
                <a:solidFill>
                  <a:srgbClr val="C8742B"/>
                </a:solidFill>
                <a:latin typeface="Calibri" pitchFamily="34" charset="0"/>
                <a:ea typeface="Calibri" pitchFamily="34" charset="-122"/>
                <a:cs typeface="Calibri" pitchFamily="34" charset="-120"/>
              </a:rPr>
              <a:t>Jom buat lagi.</a:t>
            </a:r>
            <a:endParaRPr lang="en-US" sz="5600" dirty="0"/>
          </a:p>
        </p:txBody>
      </p:sp>
      <p:sp>
        <p:nvSpPr>
          <p:cNvPr id="8" name="Text 6"/>
          <p:cNvSpPr txBox="1"/>
          <p:nvPr/>
        </p:nvSpPr>
        <p:spPr>
          <a:xfrm>
            <a:off x="548640" y="3931920"/>
            <a:ext cx="6400800" cy="54864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Terima kasih. Soalan?</a:t>
            </a:r>
            <a:endParaRPr lang="en-US" sz="2400" dirty="0"/>
          </a:p>
        </p:txBody>
      </p:sp>
      <p:sp>
        <p:nvSpPr>
          <p:cNvPr id="9" name="Shape 7"/>
          <p:cNvSpPr/>
          <p:nvPr/>
        </p:nvSpPr>
        <p:spPr>
          <a:xfrm>
            <a:off x="548640" y="4800600"/>
            <a:ext cx="6949440" cy="960120"/>
          </a:xfrm>
          <a:prstGeom prst="roundRect">
            <a:avLst>
              <a:gd name="adj" fmla="val 7619"/>
            </a:avLst>
          </a:prstGeom>
          <a:solidFill>
            <a:srgbClr val="17325A"/>
          </a:solidFill>
          <a:ln w="9525">
            <a:solidFill>
              <a:srgbClr val="23436F"/>
            </a:solidFill>
            <a:prstDash val="solid"/>
          </a:ln>
        </p:spPr>
      </p:sp>
      <p:sp>
        <p:nvSpPr>
          <p:cNvPr id="10" name="Shape 8"/>
          <p:cNvSpPr/>
          <p:nvPr/>
        </p:nvSpPr>
        <p:spPr>
          <a:xfrm>
            <a:off x="777240" y="5001768"/>
            <a:ext cx="548640" cy="548640"/>
          </a:xfrm>
          <a:prstGeom prst="roundRect">
            <a:avLst>
              <a:gd name="adj" fmla="val 22000"/>
            </a:avLst>
          </a:prstGeom>
          <a:solidFill>
            <a:srgbClr val="C8742B"/>
          </a:solidFill>
          <a:ln w="12700">
            <a:solidFill>
              <a:srgbClr val="C8742B"/>
            </a:solidFill>
            <a:prstDash val="solid"/>
          </a:ln>
        </p:spPr>
      </p:sp>
      <p:pic>
        <p:nvPicPr>
          <p:cNvPr id="11" name="Image 0" descr="preencoded.png">    </p:cNvPr>
          <p:cNvPicPr>
            <a:picLocks noChangeAspect="1"/>
          </p:cNvPicPr>
          <p:nvPr/>
        </p:nvPicPr>
        <p:blipFill>
          <a:blip r:embed="rId1"/>
          <a:stretch>
            <a:fillRect/>
          </a:stretch>
        </p:blipFill>
        <p:spPr>
          <a:xfrm>
            <a:off x="908914" y="5133442"/>
            <a:ext cx="285293" cy="285293"/>
          </a:xfrm>
          <a:prstGeom prst="rect">
            <a:avLst/>
          </a:prstGeom>
        </p:spPr>
      </p:pic>
      <p:sp>
        <p:nvSpPr>
          <p:cNvPr id="12" name="Text 9"/>
          <p:cNvSpPr txBox="1"/>
          <p:nvPr/>
        </p:nvSpPr>
        <p:spPr>
          <a:xfrm>
            <a:off x="1554480" y="4800600"/>
            <a:ext cx="5760720" cy="9601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Playbook Jualan dan Pelan Jualan TikTok akan dikongsi dalam group selepas mesyuarat.</a:t>
            </a:r>
            <a:endParaRPr lang="en-US" sz="1500" dirty="0"/>
          </a:p>
        </p:txBody>
      </p:sp>
      <p:sp>
        <p:nvSpPr>
          <p:cNvPr id="13" name="Shape 10"/>
          <p:cNvSpPr/>
          <p:nvPr/>
        </p:nvSpPr>
        <p:spPr>
          <a:xfrm>
            <a:off x="548640" y="6382512"/>
            <a:ext cx="420624" cy="219456"/>
          </a:xfrm>
          <a:prstGeom prst="roundRect">
            <a:avLst>
              <a:gd name="adj" fmla="val 16667"/>
            </a:avLst>
          </a:prstGeom>
          <a:solidFill>
            <a:srgbClr val="C8742B"/>
          </a:solidFill>
          <a:ln w="12700">
            <a:solidFill>
              <a:srgbClr val="C8742B"/>
            </a:solidFill>
            <a:prstDash val="solid"/>
          </a:ln>
        </p:spPr>
      </p:sp>
      <p:sp>
        <p:nvSpPr>
          <p:cNvPr id="14" name="Text 11"/>
          <p:cNvSpPr txBox="1"/>
          <p:nvPr/>
        </p:nvSpPr>
        <p:spPr>
          <a:xfrm>
            <a:off x="548640" y="6382512"/>
            <a:ext cx="42062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HFS</a:t>
            </a:r>
            <a:endParaRPr lang="en-US" sz="800" dirty="0"/>
          </a:p>
        </p:txBody>
      </p:sp>
      <p:sp>
        <p:nvSpPr>
          <p:cNvPr id="15" name="Text 12"/>
          <p:cNvSpPr txBox="1"/>
          <p:nvPr/>
        </p:nvSpPr>
        <p:spPr>
          <a:xfrm>
            <a:off x="1078992" y="6382512"/>
            <a:ext cx="3657600" cy="219456"/>
          </a:xfrm>
          <a:prstGeom prst="rect">
            <a:avLst/>
          </a:prstGeom>
          <a:noFill/>
          <a:ln/>
        </p:spPr>
        <p:txBody>
          <a:bodyPr wrap="square" lIns="0" tIns="0" rIns="0" bIns="0" rtlCol="0" anchor="ctr"/>
          <a:lstStyle/>
          <a:p>
            <a:pPr indent="0" marL="0">
              <a:buNone/>
            </a:pPr>
            <a:r>
              <a:rPr lang="en-US" sz="900" dirty="0">
                <a:solidFill>
                  <a:srgbClr val="C3CEDD"/>
                </a:solidFill>
                <a:latin typeface="Calibri" pitchFamily="34" charset="0"/>
                <a:ea typeface="Calibri" pitchFamily="34" charset="-122"/>
                <a:cs typeface="Calibri" pitchFamily="34" charset="-120"/>
              </a:rPr>
              <a:t>Strategi Jualan Unifi Q4 2026</a:t>
            </a:r>
            <a:endParaRPr lang="en-US" sz="900" dirty="0"/>
          </a:p>
        </p:txBody>
      </p:sp>
      <p:sp>
        <p:nvSpPr>
          <p:cNvPr id="16" name="Text 13"/>
          <p:cNvSpPr txBox="1"/>
          <p:nvPr/>
        </p:nvSpPr>
        <p:spPr>
          <a:xfrm>
            <a:off x="10271455" y="6382512"/>
            <a:ext cx="137160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25</a:t>
            </a:r>
            <a:pPr algn="r" indent="0" marL="0">
              <a:buNone/>
            </a:pPr>
            <a:r>
              <a:rPr lang="en-US" sz="900" dirty="0">
                <a:solidFill>
                  <a:srgbClr val="C3CEDD"/>
                </a:solidFill>
                <a:latin typeface="Calibri" pitchFamily="34" charset="0"/>
                <a:ea typeface="Calibri" pitchFamily="34" charset="-122"/>
                <a:cs typeface="Calibri" pitchFamily="34" charset="-120"/>
              </a:rPr>
              <a:t>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HFS Strategi Jualan Unifi Q4 2026</dc:title>
  <dc:subject>PptxGenJS Presentation</dc:subject>
  <dc:creator>HFS</dc:creator>
  <cp:lastModifiedBy>HFS</cp:lastModifiedBy>
  <cp:revision>1</cp:revision>
  <dcterms:created xsi:type="dcterms:W3CDTF">2026-10-01T10:24:30Z</dcterms:created>
  <dcterms:modified xsi:type="dcterms:W3CDTF">2026-10-01T10:24:30Z</dcterms:modified>
</cp:coreProperties>
</file>